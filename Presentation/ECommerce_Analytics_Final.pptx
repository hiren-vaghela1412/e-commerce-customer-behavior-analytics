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charts/chart5.xml" ContentType="application/vnd.openxmlformats-officedocument.drawingml.chart+xml"/>
  <Override PartName="/ppt/notesSlides/notesSlide9.xml" ContentType="application/vnd.openxmlformats-officedocument.presentationml.notesSlide+xml"/>
  <Override PartName="/ppt/charts/chart6.xml" ContentType="application/vnd.openxmlformats-officedocument.drawingml.chart+xml"/>
  <Override PartName="/ppt/notesSlides/notesSlide10.xml" ContentType="application/vnd.openxmlformats-officedocument.presentationml.notesSlide+xml"/>
  <Override PartName="/ppt/charts/chart7.xml" ContentType="application/vnd.openxmlformats-officedocument.drawingml.chart+xml"/>
  <Override PartName="/ppt/notesSlides/notesSlide11.xml" ContentType="application/vnd.openxmlformats-officedocument.presentationml.notesSlide+xml"/>
  <Override PartName="/ppt/charts/chart8.xml" ContentType="application/vnd.openxmlformats-officedocument.drawingml.chart+xml"/>
  <Override PartName="/ppt/notesSlides/notesSlide12.xml" ContentType="application/vnd.openxmlformats-officedocument.presentationml.notesSlide+xml"/>
  <Override PartName="/ppt/charts/chart9.xml" ContentType="application/vnd.openxmlformats-officedocument.drawingml.chart+xml"/>
  <Override PartName="/ppt/notesSlides/notesSlide13.xml" ContentType="application/vnd.openxmlformats-officedocument.presentationml.notesSlide+xml"/>
  <Override PartName="/ppt/charts/chart10.xml" ContentType="application/vnd.openxmlformats-officedocument.drawingml.chart+xml"/>
  <Override PartName="/ppt/notesSlides/notesSlide14.xml" ContentType="application/vnd.openxmlformats-officedocument.presentationml.notesSlide+xml"/>
  <Override PartName="/ppt/charts/chart11.xml" ContentType="application/vnd.openxmlformats-officedocument.drawingml.chart+xml"/>
  <Override PartName="/ppt/notesSlides/notesSlide15.xml" ContentType="application/vnd.openxmlformats-officedocument.presentationml.notesSlide+xml"/>
  <Override PartName="/ppt/charts/chart12.xml" ContentType="application/vnd.openxmlformats-officedocument.drawingml.chart+xml"/>
  <Override PartName="/ppt/charts/chart13.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5"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400" b="0" i="0" u="none" strike="noStrike">
                <a:solidFill>
                  <a:srgbClr val="2C3E50"/>
                </a:solidFill>
                <a:latin typeface="Arial"/>
              </a:defRPr>
            </a:pPr>
            <a:r>
              <a:rPr lang="en-US" sz="1400" b="0" i="0" u="none" strike="noStrike" dirty="0">
                <a:solidFill>
                  <a:srgbClr val="2C3E50"/>
                </a:solidFill>
                <a:latin typeface="Arial"/>
              </a:rPr>
              <a:t>Customer Segment Split</a:t>
            </a:r>
          </a:p>
        </c:rich>
      </c:tx>
      <c:overlay val="0"/>
    </c:title>
    <c:autoTitleDeleted val="0"/>
    <c:plotArea>
      <c:layout/>
      <c:doughnutChart>
        <c:varyColors val="1"/>
        <c:ser>
          <c:idx val="0"/>
          <c:order val="0"/>
          <c:tx>
            <c:strRef>
              <c:f>Sheet1!$B$1</c:f>
              <c:strCache>
                <c:ptCount val="1"/>
                <c:pt idx="0">
                  <c:v>Segments</c:v>
                </c:pt>
              </c:strCache>
            </c:strRef>
          </c:tx>
          <c:spPr>
            <a:solidFill>
              <a:schemeClr val="accent1"/>
            </a:solidFill>
            <a:ln w="9525" cap="flat">
              <a:solidFill>
                <a:srgbClr val="F9F9F9"/>
              </a:solidFill>
              <a:prstDash val="solid"/>
              <a:round/>
            </a:ln>
            <a:effectLst/>
          </c:spPr>
          <c:dPt>
            <c:idx val="0"/>
            <c:bubble3D val="0"/>
            <c:spPr>
              <a:solidFill>
                <a:srgbClr val="1ABC9C"/>
              </a:solidFill>
              <a:effectLst/>
            </c:spPr>
            <c:extLst>
              <c:ext xmlns:c16="http://schemas.microsoft.com/office/drawing/2014/chart" uri="{C3380CC4-5D6E-409C-BE32-E72D297353CC}">
                <c16:uniqueId val="{00000001-2609-46A5-91D9-6F872EC28A10}"/>
              </c:ext>
            </c:extLst>
          </c:dPt>
          <c:dPt>
            <c:idx val="1"/>
            <c:bubble3D val="0"/>
            <c:spPr>
              <a:solidFill>
                <a:srgbClr val="F39C12"/>
              </a:solidFill>
              <a:effectLst/>
            </c:spPr>
            <c:extLst>
              <c:ext xmlns:c16="http://schemas.microsoft.com/office/drawing/2014/chart" uri="{C3380CC4-5D6E-409C-BE32-E72D297353CC}">
                <c16:uniqueId val="{00000003-2609-46A5-91D9-6F872EC28A10}"/>
              </c:ext>
            </c:extLst>
          </c:dPt>
          <c:dPt>
            <c:idx val="2"/>
            <c:bubble3D val="0"/>
            <c:spPr>
              <a:solidFill>
                <a:srgbClr val="E74C3C"/>
              </a:solidFill>
              <a:effectLst/>
            </c:spPr>
            <c:extLst>
              <c:ext xmlns:c16="http://schemas.microsoft.com/office/drawing/2014/chart" uri="{C3380CC4-5D6E-409C-BE32-E72D297353CC}">
                <c16:uniqueId val="{00000005-2609-46A5-91D9-6F872EC28A10}"/>
              </c:ext>
            </c:extLst>
          </c:dPt>
          <c:dLbls>
            <c:dLbl>
              <c:idx val="0"/>
              <c:numFmt formatCode="0%" sourceLinked="0"/>
              <c:spPr/>
              <c:txPr>
                <a:bodyPr/>
                <a:lstStyle/>
                <a:p>
                  <a:pPr>
                    <a:defRPr sz="1300" b="1" i="0" u="none" strike="noStrike">
                      <a:solidFill>
                        <a:schemeClr val="tx1"/>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2609-46A5-91D9-6F872EC28A10}"/>
                </c:ext>
              </c:extLst>
            </c:dLbl>
            <c:dLbl>
              <c:idx val="1"/>
              <c:numFmt formatCode="0%" sourceLinked="0"/>
              <c:spPr/>
              <c:txPr>
                <a:bodyPr/>
                <a:lstStyle/>
                <a:p>
                  <a:pPr>
                    <a:defRPr sz="1300" b="1" i="0" u="none" strike="noStrike">
                      <a:solidFill>
                        <a:schemeClr val="tx1"/>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2609-46A5-91D9-6F872EC28A10}"/>
                </c:ext>
              </c:extLst>
            </c:dLbl>
            <c:dLbl>
              <c:idx val="2"/>
              <c:numFmt formatCode="0%" sourceLinked="0"/>
              <c:spPr/>
              <c:txPr>
                <a:bodyPr/>
                <a:lstStyle/>
                <a:p>
                  <a:pPr>
                    <a:defRPr sz="1300" b="1" i="0" u="none" strike="noStrike">
                      <a:solidFill>
                        <a:schemeClr val="tx1"/>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2609-46A5-91D9-6F872EC28A10}"/>
                </c:ext>
              </c:extLst>
            </c:dLbl>
            <c:numFmt formatCode="0%" sourceLinked="0"/>
            <c:spPr>
              <a:noFill/>
              <a:ln>
                <a:noFill/>
              </a:ln>
              <a:effectLst/>
            </c:spPr>
            <c:txPr>
              <a:bodyPr/>
              <a:lstStyle/>
              <a:p>
                <a:pPr>
                  <a:defRPr sz="1800" b="1" i="0" u="none" strike="noStrike">
                    <a:solidFill>
                      <a:schemeClr val="tx1"/>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Buyers</c:v>
                </c:pt>
                <c:pt idx="1">
                  <c:v>Non-Buyers</c:v>
                </c:pt>
                <c:pt idx="2">
                  <c:v>Inactive</c:v>
                </c:pt>
              </c:strCache>
            </c:strRef>
          </c:cat>
          <c:val>
            <c:numRef>
              <c:f>Sheet1!$B$2:$B$4</c:f>
              <c:numCache>
                <c:formatCode>General</c:formatCode>
                <c:ptCount val="3"/>
                <c:pt idx="0">
                  <c:v>16268</c:v>
                </c:pt>
                <c:pt idx="1">
                  <c:v>3677</c:v>
                </c:pt>
                <c:pt idx="2">
                  <c:v>55</c:v>
                </c:pt>
              </c:numCache>
            </c:numRef>
          </c:val>
          <c:extLst>
            <c:ext xmlns:c16="http://schemas.microsoft.com/office/drawing/2014/chart" uri="{C3380CC4-5D6E-409C-BE32-E72D297353CC}">
              <c16:uniqueId val="{00000006-2609-46A5-91D9-6F872EC28A10}"/>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legend>
    <c:plotVisOnly val="1"/>
    <c:dispBlanksAs val="span"/>
    <c:showDLblsOverMax val="1"/>
  </c:chart>
  <c:spPr>
    <a:solidFill>
      <a:srgbClr val="F4F6F8"/>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200" b="0" i="0" u="none" strike="noStrike">
                <a:solidFill>
                  <a:srgbClr val="2C3E50"/>
                </a:solidFill>
                <a:latin typeface="Arial"/>
              </a:defRPr>
            </a:pPr>
            <a:r>
              <a:rPr lang="en-US" sz="1200" b="0" i="0" u="none" strike="noStrike" dirty="0">
                <a:solidFill>
                  <a:srgbClr val="2C3E50"/>
                </a:solidFill>
                <a:latin typeface="Arial"/>
              </a:rPr>
              <a:t>CLV Tier — How Many Customers in Each Tier?</a:t>
            </a:r>
          </a:p>
        </c:rich>
      </c:tx>
      <c:overlay val="0"/>
    </c:title>
    <c:autoTitleDeleted val="0"/>
    <c:plotArea>
      <c:layout/>
      <c:barChart>
        <c:barDir val="col"/>
        <c:grouping val="clustered"/>
        <c:varyColors val="0"/>
        <c:ser>
          <c:idx val="0"/>
          <c:order val="0"/>
          <c:tx>
            <c:strRef>
              <c:f>Sheet1!$B$1</c:f>
              <c:strCache>
                <c:ptCount val="1"/>
                <c:pt idx="0">
                  <c:v>Customers</c:v>
                </c:pt>
              </c:strCache>
            </c:strRef>
          </c:tx>
          <c:spPr>
            <a:solidFill>
              <a:srgbClr val="1B4F72"/>
            </a:solidFill>
            <a:effectLst/>
          </c:spPr>
          <c:invertIfNegative val="0"/>
          <c:dPt>
            <c:idx val="0"/>
            <c:invertIfNegative val="0"/>
            <c:bubble3D val="0"/>
            <c:extLst>
              <c:ext xmlns:c16="http://schemas.microsoft.com/office/drawing/2014/chart" uri="{C3380CC4-5D6E-409C-BE32-E72D297353CC}">
                <c16:uniqueId val="{00000001-A867-4FFD-AB96-957008A5D536}"/>
              </c:ext>
            </c:extLst>
          </c:dPt>
          <c:dPt>
            <c:idx val="1"/>
            <c:invertIfNegative val="0"/>
            <c:bubble3D val="0"/>
            <c:spPr>
              <a:solidFill>
                <a:srgbClr val="1ABC9C"/>
              </a:solidFill>
              <a:effectLst/>
            </c:spPr>
            <c:extLst>
              <c:ext xmlns:c16="http://schemas.microsoft.com/office/drawing/2014/chart" uri="{C3380CC4-5D6E-409C-BE32-E72D297353CC}">
                <c16:uniqueId val="{00000003-A867-4FFD-AB96-957008A5D536}"/>
              </c:ext>
            </c:extLst>
          </c:dPt>
          <c:dPt>
            <c:idx val="2"/>
            <c:invertIfNegative val="0"/>
            <c:bubble3D val="0"/>
            <c:spPr>
              <a:solidFill>
                <a:srgbClr val="F39C12"/>
              </a:solidFill>
              <a:effectLst/>
            </c:spPr>
            <c:extLst>
              <c:ext xmlns:c16="http://schemas.microsoft.com/office/drawing/2014/chart" uri="{C3380CC4-5D6E-409C-BE32-E72D297353CC}">
                <c16:uniqueId val="{00000005-A867-4FFD-AB96-957008A5D536}"/>
              </c:ext>
            </c:extLst>
          </c:dPt>
          <c:dLbls>
            <c:numFmt formatCode="#,##0" sourceLinked="0"/>
            <c:spPr>
              <a:noFill/>
              <a:ln>
                <a:noFill/>
              </a:ln>
              <a:effectLst/>
            </c:spPr>
            <c:txPr>
              <a:bodyPr/>
              <a:lstStyle/>
              <a:p>
                <a:pPr>
                  <a:defRPr sz="1200" b="1" i="0" u="none" strike="noStrike">
                    <a:solidFill>
                      <a:srgbClr val="2C3E5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Low</c:v>
                </c:pt>
                <c:pt idx="1">
                  <c:v>Medium</c:v>
                </c:pt>
                <c:pt idx="2">
                  <c:v>High</c:v>
                </c:pt>
              </c:strCache>
            </c:strRef>
          </c:cat>
          <c:val>
            <c:numRef>
              <c:f>Sheet1!$B$2:$B$4</c:f>
              <c:numCache>
                <c:formatCode>General</c:formatCode>
                <c:ptCount val="3"/>
                <c:pt idx="0">
                  <c:v>8144</c:v>
                </c:pt>
                <c:pt idx="1">
                  <c:v>7759</c:v>
                </c:pt>
                <c:pt idx="2">
                  <c:v>364</c:v>
                </c:pt>
              </c:numCache>
            </c:numRef>
          </c:val>
          <c:extLst>
            <c:ext xmlns:c16="http://schemas.microsoft.com/office/drawing/2014/chart" uri="{C3380CC4-5D6E-409C-BE32-E72D297353CC}">
              <c16:uniqueId val="{00000006-A867-4FFD-AB96-957008A5D53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chemeClr val="tx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8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chemeClr val="tx1"/>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200" b="0" i="0" u="none" strike="noStrike">
                <a:solidFill>
                  <a:srgbClr val="2C3E50"/>
                </a:solidFill>
                <a:latin typeface="Arial"/>
              </a:defRPr>
            </a:pPr>
            <a:r>
              <a:rPr lang="en-US" sz="1200" b="0" i="0" u="none" strike="noStrike" dirty="0">
                <a:solidFill>
                  <a:srgbClr val="2C3E50"/>
                </a:solidFill>
                <a:latin typeface="Arial"/>
              </a:rPr>
              <a:t>Repeat vs First-Time Buyers</a:t>
            </a:r>
          </a:p>
        </c:rich>
      </c:tx>
      <c:overlay val="0"/>
    </c:title>
    <c:autoTitleDeleted val="0"/>
    <c:plotArea>
      <c:layout/>
      <c:pieChart>
        <c:varyColors val="1"/>
        <c:ser>
          <c:idx val="0"/>
          <c:order val="0"/>
          <c:tx>
            <c:strRef>
              <c:f>Sheet1!$B$1</c:f>
              <c:strCache>
                <c:ptCount val="1"/>
                <c:pt idx="0">
                  <c:v>Repeat</c:v>
                </c:pt>
              </c:strCache>
            </c:strRef>
          </c:tx>
          <c:spPr>
            <a:solidFill>
              <a:schemeClr val="accent1"/>
            </a:solidFill>
            <a:ln w="9525" cap="flat">
              <a:solidFill>
                <a:srgbClr val="F9F9F9"/>
              </a:solidFill>
              <a:prstDash val="solid"/>
              <a:round/>
            </a:ln>
            <a:effectLst/>
          </c:spPr>
          <c:dPt>
            <c:idx val="0"/>
            <c:bubble3D val="0"/>
            <c:spPr>
              <a:solidFill>
                <a:srgbClr val="1ABC9C"/>
              </a:solidFill>
              <a:effectLst/>
            </c:spPr>
            <c:extLst>
              <c:ext xmlns:c16="http://schemas.microsoft.com/office/drawing/2014/chart" uri="{C3380CC4-5D6E-409C-BE32-E72D297353CC}">
                <c16:uniqueId val="{00000001-E38C-4B8F-8123-3306375581D6}"/>
              </c:ext>
            </c:extLst>
          </c:dPt>
          <c:dPt>
            <c:idx val="1"/>
            <c:bubble3D val="0"/>
            <c:spPr>
              <a:solidFill>
                <a:srgbClr val="1B4F72"/>
              </a:solidFill>
              <a:effectLst/>
            </c:spPr>
            <c:extLst>
              <c:ext xmlns:c16="http://schemas.microsoft.com/office/drawing/2014/chart" uri="{C3380CC4-5D6E-409C-BE32-E72D297353CC}">
                <c16:uniqueId val="{00000003-E38C-4B8F-8123-3306375581D6}"/>
              </c:ext>
            </c:extLst>
          </c:dPt>
          <c:dLbls>
            <c:dLbl>
              <c:idx val="0"/>
              <c:numFmt formatCode="0%" sourceLinked="0"/>
              <c:spPr/>
              <c:txPr>
                <a:bodyPr/>
                <a:lstStyle/>
                <a:p>
                  <a:pPr>
                    <a:defRPr sz="1300" b="1" i="0" u="none" strike="noStrike">
                      <a:solidFill>
                        <a:schemeClr val="tx1"/>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E38C-4B8F-8123-3306375581D6}"/>
                </c:ext>
              </c:extLst>
            </c:dLbl>
            <c:dLbl>
              <c:idx val="1"/>
              <c:numFmt formatCode="0%" sourceLinked="0"/>
              <c:spPr/>
              <c:txPr>
                <a:bodyPr/>
                <a:lstStyle/>
                <a:p>
                  <a:pPr>
                    <a:defRPr sz="1300" b="1" i="0" u="none" strike="noStrike">
                      <a:solidFill>
                        <a:schemeClr val="bg2"/>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E38C-4B8F-8123-3306375581D6}"/>
                </c:ext>
              </c:extLst>
            </c:dLbl>
            <c:numFmt formatCode="0%" sourceLinked="0"/>
            <c:spPr>
              <a:noFill/>
              <a:ln>
                <a:noFill/>
              </a:ln>
              <a:effectLst/>
            </c:spPr>
            <c:txPr>
              <a:bodyPr/>
              <a:lstStyle/>
              <a:p>
                <a:pPr>
                  <a:defRPr sz="1800" b="1" i="0" u="none" strike="noStrike">
                    <a:solidFill>
                      <a:schemeClr val="tx1"/>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Repeat Buyer</c:v>
                </c:pt>
                <c:pt idx="1">
                  <c:v>First-Time Buyer</c:v>
                </c:pt>
              </c:strCache>
            </c:strRef>
          </c:cat>
          <c:val>
            <c:numRef>
              <c:f>Sheet1!$B$2:$B$3</c:f>
              <c:numCache>
                <c:formatCode>General</c:formatCode>
                <c:ptCount val="2"/>
                <c:pt idx="0">
                  <c:v>10045</c:v>
                </c:pt>
                <c:pt idx="1">
                  <c:v>9955</c:v>
                </c:pt>
              </c:numCache>
            </c:numRef>
          </c:val>
          <c:extLst>
            <c:ext xmlns:c16="http://schemas.microsoft.com/office/drawing/2014/chart" uri="{C3380CC4-5D6E-409C-BE32-E72D297353CC}">
              <c16:uniqueId val="{00000004-E38C-4B8F-8123-3306375581D6}"/>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300" b="0" i="0" u="none" strike="noStrike">
                <a:solidFill>
                  <a:srgbClr val="2C3E50"/>
                </a:solidFill>
                <a:latin typeface="Arial"/>
              </a:defRPr>
            </a:pPr>
            <a:r>
              <a:rPr lang="en-US" sz="1300" b="0" i="0" u="none" strike="noStrike" dirty="0">
                <a:solidFill>
                  <a:srgbClr val="2C3E50"/>
                </a:solidFill>
                <a:latin typeface="Arial"/>
              </a:rPr>
              <a:t>Number of Customers by Age Group</a:t>
            </a:r>
          </a:p>
        </c:rich>
      </c:tx>
      <c:overlay val="0"/>
    </c:title>
    <c:autoTitleDeleted val="0"/>
    <c:plotArea>
      <c:layout/>
      <c:barChart>
        <c:barDir val="col"/>
        <c:grouping val="clustered"/>
        <c:varyColors val="0"/>
        <c:ser>
          <c:idx val="0"/>
          <c:order val="0"/>
          <c:tx>
            <c:strRef>
              <c:f>Sheet1!$B$1</c:f>
              <c:strCache>
                <c:ptCount val="1"/>
                <c:pt idx="0">
                  <c:v>Customers</c:v>
                </c:pt>
              </c:strCache>
            </c:strRef>
          </c:tx>
          <c:spPr>
            <a:solidFill>
              <a:srgbClr val="A8C6D0"/>
            </a:solidFill>
            <a:effectLst/>
          </c:spPr>
          <c:invertIfNegative val="0"/>
          <c:dPt>
            <c:idx val="0"/>
            <c:invertIfNegative val="0"/>
            <c:bubble3D val="0"/>
            <c:extLst>
              <c:ext xmlns:c16="http://schemas.microsoft.com/office/drawing/2014/chart" uri="{C3380CC4-5D6E-409C-BE32-E72D297353CC}">
                <c16:uniqueId val="{00000001-675B-4199-9505-94BE3CDED6CA}"/>
              </c:ext>
            </c:extLst>
          </c:dPt>
          <c:dPt>
            <c:idx val="1"/>
            <c:invertIfNegative val="0"/>
            <c:bubble3D val="0"/>
            <c:extLst>
              <c:ext xmlns:c16="http://schemas.microsoft.com/office/drawing/2014/chart" uri="{C3380CC4-5D6E-409C-BE32-E72D297353CC}">
                <c16:uniqueId val="{00000003-675B-4199-9505-94BE3CDED6CA}"/>
              </c:ext>
            </c:extLst>
          </c:dPt>
          <c:dPt>
            <c:idx val="2"/>
            <c:invertIfNegative val="0"/>
            <c:bubble3D val="0"/>
            <c:extLst>
              <c:ext xmlns:c16="http://schemas.microsoft.com/office/drawing/2014/chart" uri="{C3380CC4-5D6E-409C-BE32-E72D297353CC}">
                <c16:uniqueId val="{00000005-675B-4199-9505-94BE3CDED6CA}"/>
              </c:ext>
            </c:extLst>
          </c:dPt>
          <c:dPt>
            <c:idx val="3"/>
            <c:invertIfNegative val="0"/>
            <c:bubble3D val="0"/>
            <c:spPr>
              <a:solidFill>
                <a:srgbClr val="1ABC9C"/>
              </a:solidFill>
              <a:effectLst/>
            </c:spPr>
            <c:extLst>
              <c:ext xmlns:c16="http://schemas.microsoft.com/office/drawing/2014/chart" uri="{C3380CC4-5D6E-409C-BE32-E72D297353CC}">
                <c16:uniqueId val="{00000007-675B-4199-9505-94BE3CDED6CA}"/>
              </c:ext>
            </c:extLst>
          </c:dPt>
          <c:dPt>
            <c:idx val="4"/>
            <c:invertIfNegative val="0"/>
            <c:bubble3D val="0"/>
            <c:spPr>
              <a:solidFill>
                <a:srgbClr val="F39C12"/>
              </a:solidFill>
              <a:effectLst/>
            </c:spPr>
            <c:extLst>
              <c:ext xmlns:c16="http://schemas.microsoft.com/office/drawing/2014/chart" uri="{C3380CC4-5D6E-409C-BE32-E72D297353CC}">
                <c16:uniqueId val="{00000009-675B-4199-9505-94BE3CDED6CA}"/>
              </c:ext>
            </c:extLst>
          </c:dPt>
          <c:dLbls>
            <c:numFmt formatCode="#,##0" sourceLinked="0"/>
            <c:spPr>
              <a:noFill/>
              <a:ln>
                <a:noFill/>
              </a:ln>
              <a:effectLst/>
            </c:spPr>
            <c:txPr>
              <a:bodyPr/>
              <a:lstStyle/>
              <a:p>
                <a:pPr>
                  <a:defRPr sz="1200" b="1" i="0" u="none" strike="noStrike">
                    <a:solidFill>
                      <a:srgbClr val="2C3E5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18-24</c:v>
                </c:pt>
                <c:pt idx="1">
                  <c:v>25-34</c:v>
                </c:pt>
                <c:pt idx="2">
                  <c:v>35-44</c:v>
                </c:pt>
                <c:pt idx="3">
                  <c:v>45-54</c:v>
                </c:pt>
                <c:pt idx="4">
                  <c:v>55+</c:v>
                </c:pt>
              </c:strCache>
            </c:strRef>
          </c:cat>
          <c:val>
            <c:numRef>
              <c:f>Sheet1!$B$2:$B$6</c:f>
              <c:numCache>
                <c:formatCode>General</c:formatCode>
                <c:ptCount val="5"/>
                <c:pt idx="0">
                  <c:v>2414</c:v>
                </c:pt>
                <c:pt idx="1">
                  <c:v>3498</c:v>
                </c:pt>
                <c:pt idx="2">
                  <c:v>3400</c:v>
                </c:pt>
                <c:pt idx="3">
                  <c:v>3445</c:v>
                </c:pt>
                <c:pt idx="4">
                  <c:v>7243</c:v>
                </c:pt>
              </c:numCache>
            </c:numRef>
          </c:val>
          <c:extLst>
            <c:ext xmlns:c16="http://schemas.microsoft.com/office/drawing/2014/chart" uri="{C3380CC4-5D6E-409C-BE32-E72D297353CC}">
              <c16:uniqueId val="{0000000A-675B-4199-9505-94BE3CDED6C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chemeClr val="tx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8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chemeClr val="tx1"/>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300" b="0" i="0" u="none" strike="noStrike">
                <a:solidFill>
                  <a:srgbClr val="2C3E50"/>
                </a:solidFill>
                <a:latin typeface="Arial"/>
              </a:defRPr>
            </a:pPr>
            <a:r>
              <a:rPr lang="en-US" sz="1300" b="0" i="0" u="none" strike="noStrike" dirty="0">
                <a:solidFill>
                  <a:srgbClr val="2C3E50"/>
                </a:solidFill>
                <a:latin typeface="Arial"/>
              </a:rPr>
              <a:t>Total Revenue Generated by Each Age Group (USD)</a:t>
            </a:r>
          </a:p>
        </c:rich>
      </c:tx>
      <c:overlay val="0"/>
    </c:title>
    <c:autoTitleDeleted val="0"/>
    <c:plotArea>
      <c:layout/>
      <c:barChart>
        <c:barDir val="col"/>
        <c:grouping val="clustered"/>
        <c:varyColors val="0"/>
        <c:ser>
          <c:idx val="0"/>
          <c:order val="0"/>
          <c:tx>
            <c:strRef>
              <c:f>Sheet1!$B$1</c:f>
              <c:strCache>
                <c:ptCount val="1"/>
                <c:pt idx="0">
                  <c:v>Revenue ($)</c:v>
                </c:pt>
              </c:strCache>
            </c:strRef>
          </c:tx>
          <c:spPr>
            <a:solidFill>
              <a:srgbClr val="A8C6D0"/>
            </a:solidFill>
            <a:effectLst/>
          </c:spPr>
          <c:invertIfNegative val="0"/>
          <c:dPt>
            <c:idx val="0"/>
            <c:invertIfNegative val="0"/>
            <c:bubble3D val="0"/>
            <c:extLst>
              <c:ext xmlns:c16="http://schemas.microsoft.com/office/drawing/2014/chart" uri="{C3380CC4-5D6E-409C-BE32-E72D297353CC}">
                <c16:uniqueId val="{00000001-F576-4B75-AB5A-7D7ED085087F}"/>
              </c:ext>
            </c:extLst>
          </c:dPt>
          <c:dPt>
            <c:idx val="1"/>
            <c:invertIfNegative val="0"/>
            <c:bubble3D val="0"/>
            <c:extLst>
              <c:ext xmlns:c16="http://schemas.microsoft.com/office/drawing/2014/chart" uri="{C3380CC4-5D6E-409C-BE32-E72D297353CC}">
                <c16:uniqueId val="{00000003-F576-4B75-AB5A-7D7ED085087F}"/>
              </c:ext>
            </c:extLst>
          </c:dPt>
          <c:dPt>
            <c:idx val="2"/>
            <c:invertIfNegative val="0"/>
            <c:bubble3D val="0"/>
            <c:extLst>
              <c:ext xmlns:c16="http://schemas.microsoft.com/office/drawing/2014/chart" uri="{C3380CC4-5D6E-409C-BE32-E72D297353CC}">
                <c16:uniqueId val="{00000005-F576-4B75-AB5A-7D7ED085087F}"/>
              </c:ext>
            </c:extLst>
          </c:dPt>
          <c:dPt>
            <c:idx val="3"/>
            <c:invertIfNegative val="0"/>
            <c:bubble3D val="0"/>
            <c:spPr>
              <a:solidFill>
                <a:srgbClr val="1ABC9C"/>
              </a:solidFill>
              <a:effectLst/>
            </c:spPr>
            <c:extLst>
              <c:ext xmlns:c16="http://schemas.microsoft.com/office/drawing/2014/chart" uri="{C3380CC4-5D6E-409C-BE32-E72D297353CC}">
                <c16:uniqueId val="{00000007-F576-4B75-AB5A-7D7ED085087F}"/>
              </c:ext>
            </c:extLst>
          </c:dPt>
          <c:dPt>
            <c:idx val="4"/>
            <c:invertIfNegative val="0"/>
            <c:bubble3D val="0"/>
            <c:spPr>
              <a:solidFill>
                <a:srgbClr val="F39C12"/>
              </a:solidFill>
              <a:effectLst/>
            </c:spPr>
            <c:extLst>
              <c:ext xmlns:c16="http://schemas.microsoft.com/office/drawing/2014/chart" uri="{C3380CC4-5D6E-409C-BE32-E72D297353CC}">
                <c16:uniqueId val="{00000009-F576-4B75-AB5A-7D7ED085087F}"/>
              </c:ext>
            </c:extLst>
          </c:dPt>
          <c:dLbls>
            <c:numFmt formatCode="#,##0" sourceLinked="0"/>
            <c:spPr>
              <a:noFill/>
              <a:ln>
                <a:noFill/>
              </a:ln>
              <a:effectLst/>
            </c:spPr>
            <c:txPr>
              <a:bodyPr/>
              <a:lstStyle/>
              <a:p>
                <a:pPr>
                  <a:defRPr sz="1100" b="1" i="0" u="none" strike="noStrike">
                    <a:solidFill>
                      <a:srgbClr val="2C3E5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18-24</c:v>
                </c:pt>
                <c:pt idx="1">
                  <c:v>25-34</c:v>
                </c:pt>
                <c:pt idx="2">
                  <c:v>35-44</c:v>
                </c:pt>
                <c:pt idx="3">
                  <c:v>45-54</c:v>
                </c:pt>
                <c:pt idx="4">
                  <c:v>55+</c:v>
                </c:pt>
              </c:strCache>
            </c:strRef>
          </c:cat>
          <c:val>
            <c:numRef>
              <c:f>Sheet1!$B$2:$B$6</c:f>
              <c:numCache>
                <c:formatCode>General</c:formatCode>
                <c:ptCount val="5"/>
                <c:pt idx="0">
                  <c:v>541694</c:v>
                </c:pt>
                <c:pt idx="1">
                  <c:v>774130</c:v>
                </c:pt>
                <c:pt idx="2">
                  <c:v>770970</c:v>
                </c:pt>
                <c:pt idx="3">
                  <c:v>774065</c:v>
                </c:pt>
                <c:pt idx="4">
                  <c:v>1632358</c:v>
                </c:pt>
              </c:numCache>
            </c:numRef>
          </c:val>
          <c:extLst>
            <c:ext xmlns:c16="http://schemas.microsoft.com/office/drawing/2014/chart" uri="{C3380CC4-5D6E-409C-BE32-E72D297353CC}">
              <c16:uniqueId val="{0000000A-F576-4B75-AB5A-7D7ED085087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chemeClr val="tx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8E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chemeClr val="tx1"/>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300" b="0" i="0" u="none" strike="noStrike">
                <a:solidFill>
                  <a:srgbClr val="FFFFFF"/>
                </a:solidFill>
                <a:latin typeface="Arial"/>
              </a:defRPr>
            </a:pPr>
            <a:r>
              <a:rPr lang="en-US" sz="1300" b="0" i="0" u="none" strike="noStrike" dirty="0">
                <a:solidFill>
                  <a:srgbClr val="FFFFFF"/>
                </a:solidFill>
                <a:latin typeface="Arial"/>
              </a:rPr>
              <a:t>Top Countries by Number of Customers</a:t>
            </a:r>
          </a:p>
        </c:rich>
      </c:tx>
      <c:overlay val="0"/>
    </c:title>
    <c:autoTitleDeleted val="0"/>
    <c:plotArea>
      <c:layout/>
      <c:barChart>
        <c:barDir val="bar"/>
        <c:grouping val="clustered"/>
        <c:varyColors val="0"/>
        <c:ser>
          <c:idx val="0"/>
          <c:order val="0"/>
          <c:tx>
            <c:strRef>
              <c:f>Sheet1!$B$1</c:f>
              <c:strCache>
                <c:ptCount val="1"/>
                <c:pt idx="0">
                  <c:v>Customers</c:v>
                </c:pt>
              </c:strCache>
            </c:strRef>
          </c:tx>
          <c:spPr>
            <a:solidFill>
              <a:srgbClr val="A8C6D0"/>
            </a:solidFill>
            <a:effectLst/>
          </c:spPr>
          <c:invertIfNegative val="0"/>
          <c:dPt>
            <c:idx val="0"/>
            <c:invertIfNegative val="0"/>
            <c:bubble3D val="0"/>
            <c:extLst>
              <c:ext xmlns:c16="http://schemas.microsoft.com/office/drawing/2014/chart" uri="{C3380CC4-5D6E-409C-BE32-E72D297353CC}">
                <c16:uniqueId val="{00000001-8652-4405-ACFF-0A756B696C89}"/>
              </c:ext>
            </c:extLst>
          </c:dPt>
          <c:dPt>
            <c:idx val="1"/>
            <c:invertIfNegative val="0"/>
            <c:bubble3D val="0"/>
            <c:extLst>
              <c:ext xmlns:c16="http://schemas.microsoft.com/office/drawing/2014/chart" uri="{C3380CC4-5D6E-409C-BE32-E72D297353CC}">
                <c16:uniqueId val="{00000003-8652-4405-ACFF-0A756B696C89}"/>
              </c:ext>
            </c:extLst>
          </c:dPt>
          <c:dPt>
            <c:idx val="2"/>
            <c:invertIfNegative val="0"/>
            <c:bubble3D val="0"/>
            <c:extLst>
              <c:ext xmlns:c16="http://schemas.microsoft.com/office/drawing/2014/chart" uri="{C3380CC4-5D6E-409C-BE32-E72D297353CC}">
                <c16:uniqueId val="{00000005-8652-4405-ACFF-0A756B696C89}"/>
              </c:ext>
            </c:extLst>
          </c:dPt>
          <c:dPt>
            <c:idx val="3"/>
            <c:invertIfNegative val="0"/>
            <c:bubble3D val="0"/>
            <c:extLst>
              <c:ext xmlns:c16="http://schemas.microsoft.com/office/drawing/2014/chart" uri="{C3380CC4-5D6E-409C-BE32-E72D297353CC}">
                <c16:uniqueId val="{00000007-8652-4405-ACFF-0A756B696C89}"/>
              </c:ext>
            </c:extLst>
          </c:dPt>
          <c:dPt>
            <c:idx val="4"/>
            <c:invertIfNegative val="0"/>
            <c:bubble3D val="0"/>
            <c:extLst>
              <c:ext xmlns:c16="http://schemas.microsoft.com/office/drawing/2014/chart" uri="{C3380CC4-5D6E-409C-BE32-E72D297353CC}">
                <c16:uniqueId val="{00000009-8652-4405-ACFF-0A756B696C89}"/>
              </c:ext>
            </c:extLst>
          </c:dPt>
          <c:dPt>
            <c:idx val="5"/>
            <c:invertIfNegative val="0"/>
            <c:bubble3D val="0"/>
            <c:extLst>
              <c:ext xmlns:c16="http://schemas.microsoft.com/office/drawing/2014/chart" uri="{C3380CC4-5D6E-409C-BE32-E72D297353CC}">
                <c16:uniqueId val="{0000000B-8652-4405-ACFF-0A756B696C89}"/>
              </c:ext>
            </c:extLst>
          </c:dPt>
          <c:dPt>
            <c:idx val="6"/>
            <c:invertIfNegative val="0"/>
            <c:bubble3D val="0"/>
            <c:extLst>
              <c:ext xmlns:c16="http://schemas.microsoft.com/office/drawing/2014/chart" uri="{C3380CC4-5D6E-409C-BE32-E72D297353CC}">
                <c16:uniqueId val="{0000000D-8652-4405-ACFF-0A756B696C89}"/>
              </c:ext>
            </c:extLst>
          </c:dPt>
          <c:dPt>
            <c:idx val="7"/>
            <c:invertIfNegative val="0"/>
            <c:bubble3D val="0"/>
            <c:extLst>
              <c:ext xmlns:c16="http://schemas.microsoft.com/office/drawing/2014/chart" uri="{C3380CC4-5D6E-409C-BE32-E72D297353CC}">
                <c16:uniqueId val="{0000000F-8652-4405-ACFF-0A756B696C89}"/>
              </c:ext>
            </c:extLst>
          </c:dPt>
          <c:dPt>
            <c:idx val="8"/>
            <c:invertIfNegative val="0"/>
            <c:bubble3D val="0"/>
            <c:extLst>
              <c:ext xmlns:c16="http://schemas.microsoft.com/office/drawing/2014/chart" uri="{C3380CC4-5D6E-409C-BE32-E72D297353CC}">
                <c16:uniqueId val="{00000011-8652-4405-ACFF-0A756B696C89}"/>
              </c:ext>
            </c:extLst>
          </c:dPt>
          <c:dPt>
            <c:idx val="9"/>
            <c:invertIfNegative val="0"/>
            <c:bubble3D val="0"/>
            <c:spPr>
              <a:solidFill>
                <a:srgbClr val="1ABC9C"/>
              </a:solidFill>
              <a:effectLst/>
            </c:spPr>
            <c:extLst>
              <c:ext xmlns:c16="http://schemas.microsoft.com/office/drawing/2014/chart" uri="{C3380CC4-5D6E-409C-BE32-E72D297353CC}">
                <c16:uniqueId val="{00000013-8652-4405-ACFF-0A756B696C89}"/>
              </c:ext>
            </c:extLst>
          </c:dPt>
          <c:dPt>
            <c:idx val="10"/>
            <c:invertIfNegative val="0"/>
            <c:bubble3D val="0"/>
            <c:spPr>
              <a:solidFill>
                <a:srgbClr val="1ABC9C"/>
              </a:solidFill>
              <a:effectLst/>
            </c:spPr>
            <c:extLst>
              <c:ext xmlns:c16="http://schemas.microsoft.com/office/drawing/2014/chart" uri="{C3380CC4-5D6E-409C-BE32-E72D297353CC}">
                <c16:uniqueId val="{00000015-8652-4405-ACFF-0A756B696C89}"/>
              </c:ext>
            </c:extLst>
          </c:dPt>
          <c:dPt>
            <c:idx val="11"/>
            <c:invertIfNegative val="0"/>
            <c:bubble3D val="0"/>
            <c:spPr>
              <a:solidFill>
                <a:srgbClr val="F39C12"/>
              </a:solidFill>
              <a:effectLst/>
            </c:spPr>
            <c:extLst>
              <c:ext xmlns:c16="http://schemas.microsoft.com/office/drawing/2014/chart" uri="{C3380CC4-5D6E-409C-BE32-E72D297353CC}">
                <c16:uniqueId val="{00000017-8652-4405-ACFF-0A756B696C89}"/>
              </c:ext>
            </c:extLst>
          </c:dPt>
          <c:dLbls>
            <c:numFmt formatCode="#,##0" sourceLinked="0"/>
            <c:spPr>
              <a:noFill/>
              <a:ln>
                <a:noFill/>
              </a:ln>
              <a:effectLst/>
            </c:spPr>
            <c:txPr>
              <a:bodyPr/>
              <a:lstStyle/>
              <a:p>
                <a:pPr>
                  <a:defRPr sz="1100" b="1"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Spain</c:v>
                </c:pt>
                <c:pt idx="1">
                  <c:v>Singapore</c:v>
                </c:pt>
                <c:pt idx="2">
                  <c:v>Australia</c:v>
                </c:pt>
                <c:pt idx="3">
                  <c:v>Canada</c:v>
                </c:pt>
                <c:pt idx="4">
                  <c:v>Japan</c:v>
                </c:pt>
                <c:pt idx="5">
                  <c:v>Mexico</c:v>
                </c:pt>
                <c:pt idx="6">
                  <c:v>France</c:v>
                </c:pt>
                <c:pt idx="7">
                  <c:v>Germany</c:v>
                </c:pt>
                <c:pt idx="8">
                  <c:v>UK</c:v>
                </c:pt>
                <c:pt idx="9">
                  <c:v>Brazil</c:v>
                </c:pt>
                <c:pt idx="10">
                  <c:v>India</c:v>
                </c:pt>
                <c:pt idx="11">
                  <c:v>USA</c:v>
                </c:pt>
              </c:strCache>
            </c:strRef>
          </c:cat>
          <c:val>
            <c:numRef>
              <c:f>Sheet1!$B$2:$B$13</c:f>
              <c:numCache>
                <c:formatCode>General</c:formatCode>
                <c:ptCount val="12"/>
                <c:pt idx="0">
                  <c:v>449</c:v>
                </c:pt>
                <c:pt idx="1">
                  <c:v>483</c:v>
                </c:pt>
                <c:pt idx="2">
                  <c:v>1045</c:v>
                </c:pt>
                <c:pt idx="3">
                  <c:v>1015</c:v>
                </c:pt>
                <c:pt idx="4">
                  <c:v>974</c:v>
                </c:pt>
                <c:pt idx="5">
                  <c:v>1206</c:v>
                </c:pt>
                <c:pt idx="6">
                  <c:v>1325</c:v>
                </c:pt>
                <c:pt idx="7">
                  <c:v>1397</c:v>
                </c:pt>
                <c:pt idx="8">
                  <c:v>1585</c:v>
                </c:pt>
                <c:pt idx="9">
                  <c:v>1421</c:v>
                </c:pt>
                <c:pt idx="10">
                  <c:v>1589</c:v>
                </c:pt>
                <c:pt idx="11">
                  <c:v>3648</c:v>
                </c:pt>
              </c:numCache>
            </c:numRef>
          </c:val>
          <c:extLst>
            <c:ext xmlns:c16="http://schemas.microsoft.com/office/drawing/2014/chart" uri="{C3380CC4-5D6E-409C-BE32-E72D297353CC}">
              <c16:uniqueId val="{00000018-8652-4405-ACFF-0A756B696C8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FFFFF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1E3A5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chemeClr val="bg1"/>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12233"/>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300" b="0" i="0" u="none" strike="noStrike">
                <a:solidFill>
                  <a:srgbClr val="2C3E50"/>
                </a:solidFill>
                <a:latin typeface="Arial"/>
              </a:defRPr>
            </a:pPr>
            <a:r>
              <a:rPr lang="en-US" sz="1300" b="0" i="0" u="none" strike="noStrike" dirty="0">
                <a:solidFill>
                  <a:srgbClr val="2C3E50"/>
                </a:solidFill>
                <a:latin typeface="Arial"/>
              </a:rPr>
              <a:t>Total Revenue by Product Category (USD)</a:t>
            </a:r>
          </a:p>
        </c:rich>
      </c:tx>
      <c:overlay val="0"/>
    </c:title>
    <c:autoTitleDeleted val="0"/>
    <c:plotArea>
      <c:layout/>
      <c:barChart>
        <c:barDir val="bar"/>
        <c:grouping val="clustered"/>
        <c:varyColors val="0"/>
        <c:ser>
          <c:idx val="0"/>
          <c:order val="0"/>
          <c:tx>
            <c:strRef>
              <c:f>Sheet1!$B$1</c:f>
              <c:strCache>
                <c:ptCount val="1"/>
                <c:pt idx="0">
                  <c:v>Revenue (USD)</c:v>
                </c:pt>
              </c:strCache>
            </c:strRef>
          </c:tx>
          <c:spPr>
            <a:solidFill>
              <a:srgbClr val="A8C6D0"/>
            </a:solidFill>
            <a:effectLst/>
          </c:spPr>
          <c:invertIfNegative val="0"/>
          <c:dPt>
            <c:idx val="0"/>
            <c:invertIfNegative val="0"/>
            <c:bubble3D val="0"/>
            <c:extLst>
              <c:ext xmlns:c16="http://schemas.microsoft.com/office/drawing/2014/chart" uri="{C3380CC4-5D6E-409C-BE32-E72D297353CC}">
                <c16:uniqueId val="{00000001-67E7-4629-93B0-0808BA0A8E6A}"/>
              </c:ext>
            </c:extLst>
          </c:dPt>
          <c:dPt>
            <c:idx val="1"/>
            <c:invertIfNegative val="0"/>
            <c:bubble3D val="0"/>
            <c:extLst>
              <c:ext xmlns:c16="http://schemas.microsoft.com/office/drawing/2014/chart" uri="{C3380CC4-5D6E-409C-BE32-E72D297353CC}">
                <c16:uniqueId val="{00000003-67E7-4629-93B0-0808BA0A8E6A}"/>
              </c:ext>
            </c:extLst>
          </c:dPt>
          <c:dPt>
            <c:idx val="2"/>
            <c:invertIfNegative val="0"/>
            <c:bubble3D val="0"/>
            <c:extLst>
              <c:ext xmlns:c16="http://schemas.microsoft.com/office/drawing/2014/chart" uri="{C3380CC4-5D6E-409C-BE32-E72D297353CC}">
                <c16:uniqueId val="{00000005-67E7-4629-93B0-0808BA0A8E6A}"/>
              </c:ext>
            </c:extLst>
          </c:dPt>
          <c:dPt>
            <c:idx val="3"/>
            <c:invertIfNegative val="0"/>
            <c:bubble3D val="0"/>
            <c:extLst>
              <c:ext xmlns:c16="http://schemas.microsoft.com/office/drawing/2014/chart" uri="{C3380CC4-5D6E-409C-BE32-E72D297353CC}">
                <c16:uniqueId val="{00000007-67E7-4629-93B0-0808BA0A8E6A}"/>
              </c:ext>
            </c:extLst>
          </c:dPt>
          <c:dPt>
            <c:idx val="4"/>
            <c:invertIfNegative val="0"/>
            <c:bubble3D val="0"/>
            <c:spPr>
              <a:solidFill>
                <a:srgbClr val="1ABC9C"/>
              </a:solidFill>
              <a:effectLst/>
            </c:spPr>
            <c:extLst>
              <c:ext xmlns:c16="http://schemas.microsoft.com/office/drawing/2014/chart" uri="{C3380CC4-5D6E-409C-BE32-E72D297353CC}">
                <c16:uniqueId val="{00000009-67E7-4629-93B0-0808BA0A8E6A}"/>
              </c:ext>
            </c:extLst>
          </c:dPt>
          <c:dPt>
            <c:idx val="5"/>
            <c:invertIfNegative val="0"/>
            <c:bubble3D val="0"/>
            <c:spPr>
              <a:solidFill>
                <a:srgbClr val="1B4F72"/>
              </a:solidFill>
              <a:effectLst/>
            </c:spPr>
            <c:extLst>
              <c:ext xmlns:c16="http://schemas.microsoft.com/office/drawing/2014/chart" uri="{C3380CC4-5D6E-409C-BE32-E72D297353CC}">
                <c16:uniqueId val="{0000000B-67E7-4629-93B0-0808BA0A8E6A}"/>
              </c:ext>
            </c:extLst>
          </c:dPt>
          <c:dPt>
            <c:idx val="6"/>
            <c:invertIfNegative val="0"/>
            <c:bubble3D val="0"/>
            <c:spPr>
              <a:solidFill>
                <a:srgbClr val="F39C12"/>
              </a:solidFill>
              <a:effectLst/>
            </c:spPr>
            <c:extLst>
              <c:ext xmlns:c16="http://schemas.microsoft.com/office/drawing/2014/chart" uri="{C3380CC4-5D6E-409C-BE32-E72D297353CC}">
                <c16:uniqueId val="{0000000D-67E7-4629-93B0-0808BA0A8E6A}"/>
              </c:ext>
            </c:extLst>
          </c:dPt>
          <c:dLbls>
            <c:numFmt formatCode="#,##0" sourceLinked="0"/>
            <c:spPr>
              <a:noFill/>
              <a:ln>
                <a:noFill/>
              </a:ln>
              <a:effectLst/>
            </c:spPr>
            <c:txPr>
              <a:bodyPr/>
              <a:lstStyle/>
              <a:p>
                <a:pPr>
                  <a:defRPr sz="1100" b="1" i="0" u="none" strike="noStrike">
                    <a:solidFill>
                      <a:srgbClr val="2C3E5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Toys</c:v>
                </c:pt>
                <c:pt idx="1">
                  <c:v>Sports</c:v>
                </c:pt>
                <c:pt idx="2">
                  <c:v>Electronics</c:v>
                </c:pt>
                <c:pt idx="3">
                  <c:v>Home &amp; Kitchen</c:v>
                </c:pt>
                <c:pt idx="4">
                  <c:v>Fashion</c:v>
                </c:pt>
                <c:pt idx="5">
                  <c:v>Books</c:v>
                </c:pt>
                <c:pt idx="6">
                  <c:v>Beauty</c:v>
                </c:pt>
              </c:strCache>
            </c:strRef>
          </c:cat>
          <c:val>
            <c:numRef>
              <c:f>Sheet1!$B$2:$B$8</c:f>
              <c:numCache>
                <c:formatCode>General</c:formatCode>
                <c:ptCount val="7"/>
                <c:pt idx="0">
                  <c:v>289670</c:v>
                </c:pt>
                <c:pt idx="1">
                  <c:v>431080</c:v>
                </c:pt>
                <c:pt idx="2">
                  <c:v>533579</c:v>
                </c:pt>
                <c:pt idx="3">
                  <c:v>538688</c:v>
                </c:pt>
                <c:pt idx="4">
                  <c:v>689489</c:v>
                </c:pt>
                <c:pt idx="5">
                  <c:v>745800</c:v>
                </c:pt>
                <c:pt idx="6">
                  <c:v>1264912</c:v>
                </c:pt>
              </c:numCache>
            </c:numRef>
          </c:val>
          <c:extLst>
            <c:ext xmlns:c16="http://schemas.microsoft.com/office/drawing/2014/chart" uri="{C3380CC4-5D6E-409C-BE32-E72D297353CC}">
              <c16:uniqueId val="{0000000E-67E7-4629-93B0-0808BA0A8E6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chemeClr val="tx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5E8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chemeClr val="tx1"/>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300" b="0" i="0" u="none" strike="noStrike">
                <a:solidFill>
                  <a:srgbClr val="2C3E50"/>
                </a:solidFill>
                <a:latin typeface="Arial"/>
              </a:defRPr>
            </a:pPr>
            <a:r>
              <a:rPr lang="en-US" sz="1300" b="0" i="0" u="none" strike="noStrike" dirty="0">
                <a:solidFill>
                  <a:srgbClr val="2C3E50"/>
                </a:solidFill>
                <a:latin typeface="Arial"/>
              </a:rPr>
              <a:t>Number of Buyers Using Each Payment Method</a:t>
            </a:r>
          </a:p>
        </c:rich>
      </c:tx>
      <c:overlay val="0"/>
    </c:title>
    <c:autoTitleDeleted val="0"/>
    <c:plotArea>
      <c:layout/>
      <c:barChart>
        <c:barDir val="bar"/>
        <c:grouping val="clustered"/>
        <c:varyColors val="0"/>
        <c:ser>
          <c:idx val="0"/>
          <c:order val="0"/>
          <c:tx>
            <c:strRef>
              <c:f>Sheet1!$B$1</c:f>
              <c:strCache>
                <c:ptCount val="1"/>
                <c:pt idx="0">
                  <c:v>Customers</c:v>
                </c:pt>
              </c:strCache>
            </c:strRef>
          </c:tx>
          <c:spPr>
            <a:solidFill>
              <a:srgbClr val="A8C6D0"/>
            </a:solidFill>
            <a:effectLst/>
          </c:spPr>
          <c:invertIfNegative val="0"/>
          <c:dPt>
            <c:idx val="0"/>
            <c:invertIfNegative val="0"/>
            <c:bubble3D val="0"/>
            <c:extLst>
              <c:ext xmlns:c16="http://schemas.microsoft.com/office/drawing/2014/chart" uri="{C3380CC4-5D6E-409C-BE32-E72D297353CC}">
                <c16:uniqueId val="{00000001-3B58-4D0F-A15D-98419200E1DE}"/>
              </c:ext>
            </c:extLst>
          </c:dPt>
          <c:dPt>
            <c:idx val="1"/>
            <c:invertIfNegative val="0"/>
            <c:bubble3D val="0"/>
            <c:extLst>
              <c:ext xmlns:c16="http://schemas.microsoft.com/office/drawing/2014/chart" uri="{C3380CC4-5D6E-409C-BE32-E72D297353CC}">
                <c16:uniqueId val="{00000003-3B58-4D0F-A15D-98419200E1DE}"/>
              </c:ext>
            </c:extLst>
          </c:dPt>
          <c:dPt>
            <c:idx val="2"/>
            <c:invertIfNegative val="0"/>
            <c:bubble3D val="0"/>
            <c:spPr>
              <a:solidFill>
                <a:srgbClr val="1ABC9C"/>
              </a:solidFill>
              <a:effectLst/>
            </c:spPr>
            <c:extLst>
              <c:ext xmlns:c16="http://schemas.microsoft.com/office/drawing/2014/chart" uri="{C3380CC4-5D6E-409C-BE32-E72D297353CC}">
                <c16:uniqueId val="{00000005-3B58-4D0F-A15D-98419200E1DE}"/>
              </c:ext>
            </c:extLst>
          </c:dPt>
          <c:dPt>
            <c:idx val="3"/>
            <c:invertIfNegative val="0"/>
            <c:bubble3D val="0"/>
            <c:spPr>
              <a:solidFill>
                <a:srgbClr val="F39C12"/>
              </a:solidFill>
              <a:effectLst/>
            </c:spPr>
            <c:extLst>
              <c:ext xmlns:c16="http://schemas.microsoft.com/office/drawing/2014/chart" uri="{C3380CC4-5D6E-409C-BE32-E72D297353CC}">
                <c16:uniqueId val="{00000007-3B58-4D0F-A15D-98419200E1DE}"/>
              </c:ext>
            </c:extLst>
          </c:dPt>
          <c:dLbls>
            <c:numFmt formatCode="#,##0" sourceLinked="0"/>
            <c:spPr>
              <a:noFill/>
              <a:ln>
                <a:noFill/>
              </a:ln>
              <a:effectLst/>
            </c:spPr>
            <c:txPr>
              <a:bodyPr/>
              <a:lstStyle/>
              <a:p>
                <a:pPr>
                  <a:defRPr sz="1200" b="1" i="0" u="none" strike="noStrike">
                    <a:solidFill>
                      <a:srgbClr val="2C3E5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COD</c:v>
                </c:pt>
                <c:pt idx="1">
                  <c:v>Wallet</c:v>
                </c:pt>
                <c:pt idx="2">
                  <c:v>PayPal</c:v>
                </c:pt>
                <c:pt idx="3">
                  <c:v>Card</c:v>
                </c:pt>
              </c:strCache>
            </c:strRef>
          </c:cat>
          <c:val>
            <c:numRef>
              <c:f>Sheet1!$B$2:$B$5</c:f>
              <c:numCache>
                <c:formatCode>General</c:formatCode>
                <c:ptCount val="4"/>
                <c:pt idx="0">
                  <c:v>496</c:v>
                </c:pt>
                <c:pt idx="1">
                  <c:v>799</c:v>
                </c:pt>
                <c:pt idx="2">
                  <c:v>1451</c:v>
                </c:pt>
                <c:pt idx="3">
                  <c:v>13522</c:v>
                </c:pt>
              </c:numCache>
            </c:numRef>
          </c:val>
          <c:extLst>
            <c:ext xmlns:c16="http://schemas.microsoft.com/office/drawing/2014/chart" uri="{C3380CC4-5D6E-409C-BE32-E72D297353CC}">
              <c16:uniqueId val="{00000008-3B58-4D0F-A15D-98419200E1D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chemeClr val="tx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5E8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chemeClr val="tx1"/>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300" b="0" i="0" u="none" strike="noStrike">
                <a:solidFill>
                  <a:srgbClr val="FFFFFF"/>
                </a:solidFill>
                <a:latin typeface="Arial"/>
              </a:defRPr>
            </a:pPr>
            <a:r>
              <a:rPr lang="en-US" sz="1300" b="0" i="0" u="none" strike="noStrike" dirty="0">
                <a:solidFill>
                  <a:srgbClr val="FFFFFF"/>
                </a:solidFill>
                <a:latin typeface="Arial"/>
              </a:rPr>
              <a:t>Orders by Device Type</a:t>
            </a:r>
          </a:p>
        </c:rich>
      </c:tx>
      <c:overlay val="0"/>
    </c:title>
    <c:autoTitleDeleted val="0"/>
    <c:plotArea>
      <c:layout/>
      <c:doughnutChart>
        <c:varyColors val="1"/>
        <c:ser>
          <c:idx val="0"/>
          <c:order val="0"/>
          <c:tx>
            <c:strRef>
              <c:f>Sheet1!$B$1</c:f>
              <c:strCache>
                <c:ptCount val="1"/>
                <c:pt idx="0">
                  <c:v>Devices</c:v>
                </c:pt>
              </c:strCache>
            </c:strRef>
          </c:tx>
          <c:spPr>
            <a:solidFill>
              <a:schemeClr val="accent1"/>
            </a:solidFill>
            <a:ln w="9525" cap="flat">
              <a:solidFill>
                <a:srgbClr val="F9F9F9"/>
              </a:solidFill>
              <a:prstDash val="solid"/>
              <a:round/>
            </a:ln>
            <a:effectLst/>
          </c:spPr>
          <c:dPt>
            <c:idx val="0"/>
            <c:bubble3D val="0"/>
            <c:spPr>
              <a:solidFill>
                <a:srgbClr val="F39C12"/>
              </a:solidFill>
              <a:effectLst/>
            </c:spPr>
            <c:extLst>
              <c:ext xmlns:c16="http://schemas.microsoft.com/office/drawing/2014/chart" uri="{C3380CC4-5D6E-409C-BE32-E72D297353CC}">
                <c16:uniqueId val="{00000001-D31E-4D0E-808C-81C5AA091181}"/>
              </c:ext>
            </c:extLst>
          </c:dPt>
          <c:dPt>
            <c:idx val="1"/>
            <c:bubble3D val="0"/>
            <c:spPr>
              <a:solidFill>
                <a:srgbClr val="1ABC9C"/>
              </a:solidFill>
              <a:effectLst/>
            </c:spPr>
            <c:extLst>
              <c:ext xmlns:c16="http://schemas.microsoft.com/office/drawing/2014/chart" uri="{C3380CC4-5D6E-409C-BE32-E72D297353CC}">
                <c16:uniqueId val="{00000003-D31E-4D0E-808C-81C5AA091181}"/>
              </c:ext>
            </c:extLst>
          </c:dPt>
          <c:dPt>
            <c:idx val="2"/>
            <c:bubble3D val="0"/>
            <c:spPr>
              <a:solidFill>
                <a:srgbClr val="1B4F72"/>
              </a:solidFill>
              <a:effectLst/>
            </c:spPr>
            <c:extLst>
              <c:ext xmlns:c16="http://schemas.microsoft.com/office/drawing/2014/chart" uri="{C3380CC4-5D6E-409C-BE32-E72D297353CC}">
                <c16:uniqueId val="{00000005-D31E-4D0E-808C-81C5AA091181}"/>
              </c:ext>
            </c:extLst>
          </c:dPt>
          <c:dLbls>
            <c:dLbl>
              <c:idx val="0"/>
              <c:numFmt formatCode="0%" sourceLinked="0"/>
              <c:spPr/>
              <c:txPr>
                <a:bodyPr/>
                <a:lstStyle/>
                <a:p>
                  <a:pPr>
                    <a:defRPr sz="13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D31E-4D0E-808C-81C5AA091181}"/>
                </c:ext>
              </c:extLst>
            </c:dLbl>
            <c:dLbl>
              <c:idx val="1"/>
              <c:numFmt formatCode="0%" sourceLinked="0"/>
              <c:spPr/>
              <c:txPr>
                <a:bodyPr/>
                <a:lstStyle/>
                <a:p>
                  <a:pPr>
                    <a:defRPr sz="13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D31E-4D0E-808C-81C5AA091181}"/>
                </c:ext>
              </c:extLst>
            </c:dLbl>
            <c:dLbl>
              <c:idx val="2"/>
              <c:numFmt formatCode="0%" sourceLinked="0"/>
              <c:spPr/>
              <c:txPr>
                <a:bodyPr/>
                <a:lstStyle/>
                <a:p>
                  <a:pPr>
                    <a:defRPr sz="13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D31E-4D0E-808C-81C5AA091181}"/>
                </c:ext>
              </c:extLst>
            </c:dLbl>
            <c:numFmt formatCode="0%"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Mobile</c:v>
                </c:pt>
                <c:pt idx="1">
                  <c:v>Desktop</c:v>
                </c:pt>
                <c:pt idx="2">
                  <c:v>Tablet</c:v>
                </c:pt>
              </c:strCache>
            </c:strRef>
          </c:cat>
          <c:val>
            <c:numRef>
              <c:f>Sheet1!$B$2:$B$4</c:f>
              <c:numCache>
                <c:formatCode>General</c:formatCode>
                <c:ptCount val="3"/>
                <c:pt idx="0">
                  <c:v>8050</c:v>
                </c:pt>
                <c:pt idx="1">
                  <c:v>7720</c:v>
                </c:pt>
                <c:pt idx="2">
                  <c:v>498</c:v>
                </c:pt>
              </c:numCache>
            </c:numRef>
          </c:val>
          <c:extLst>
            <c:ext xmlns:c16="http://schemas.microsoft.com/office/drawing/2014/chart" uri="{C3380CC4-5D6E-409C-BE32-E72D297353CC}">
              <c16:uniqueId val="{00000006-D31E-4D0E-808C-81C5AA091181}"/>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b="1">
              <a:solidFill>
                <a:schemeClr val="bg1"/>
              </a:solidFill>
            </a:defRPr>
          </a:pPr>
          <a:endParaRPr lang="en-US"/>
        </a:p>
      </c:txPr>
    </c:legend>
    <c:plotVisOnly val="1"/>
    <c:dispBlanksAs val="span"/>
    <c:showDLblsOverMax val="1"/>
  </c:chart>
  <c:spPr>
    <a:solidFill>
      <a:srgbClr val="112233"/>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300" b="0" i="0" u="none" strike="noStrike">
                <a:solidFill>
                  <a:srgbClr val="2C3E50"/>
                </a:solidFill>
                <a:latin typeface="Arial"/>
              </a:defRPr>
            </a:pPr>
            <a:r>
              <a:rPr lang="en-US" sz="1300" b="0" i="0" u="none" strike="noStrike" dirty="0">
                <a:solidFill>
                  <a:srgbClr val="2C3E50"/>
                </a:solidFill>
                <a:latin typeface="Arial"/>
              </a:rPr>
              <a:t>How Customers Found the Platform (Session Source)</a:t>
            </a:r>
          </a:p>
        </c:rich>
      </c:tx>
      <c:overlay val="0"/>
    </c:title>
    <c:autoTitleDeleted val="0"/>
    <c:plotArea>
      <c:layout/>
      <c:barChart>
        <c:barDir val="bar"/>
        <c:grouping val="clustered"/>
        <c:varyColors val="0"/>
        <c:ser>
          <c:idx val="0"/>
          <c:order val="0"/>
          <c:tx>
            <c:strRef>
              <c:f>Sheet1!$B$1</c:f>
              <c:strCache>
                <c:ptCount val="1"/>
                <c:pt idx="0">
                  <c:v>Customers</c:v>
                </c:pt>
              </c:strCache>
            </c:strRef>
          </c:tx>
          <c:spPr>
            <a:solidFill>
              <a:srgbClr val="A8C6D0"/>
            </a:solidFill>
            <a:effectLst/>
          </c:spPr>
          <c:invertIfNegative val="0"/>
          <c:dPt>
            <c:idx val="0"/>
            <c:invertIfNegative val="0"/>
            <c:bubble3D val="0"/>
            <c:extLst>
              <c:ext xmlns:c16="http://schemas.microsoft.com/office/drawing/2014/chart" uri="{C3380CC4-5D6E-409C-BE32-E72D297353CC}">
                <c16:uniqueId val="{00000001-AB09-427A-89C5-BD45C1BC8CFF}"/>
              </c:ext>
            </c:extLst>
          </c:dPt>
          <c:dPt>
            <c:idx val="1"/>
            <c:invertIfNegative val="0"/>
            <c:bubble3D val="0"/>
            <c:extLst>
              <c:ext xmlns:c16="http://schemas.microsoft.com/office/drawing/2014/chart" uri="{C3380CC4-5D6E-409C-BE32-E72D297353CC}">
                <c16:uniqueId val="{00000003-AB09-427A-89C5-BD45C1BC8CFF}"/>
              </c:ext>
            </c:extLst>
          </c:dPt>
          <c:dPt>
            <c:idx val="2"/>
            <c:invertIfNegative val="0"/>
            <c:bubble3D val="0"/>
            <c:extLst>
              <c:ext xmlns:c16="http://schemas.microsoft.com/office/drawing/2014/chart" uri="{C3380CC4-5D6E-409C-BE32-E72D297353CC}">
                <c16:uniqueId val="{00000005-AB09-427A-89C5-BD45C1BC8CFF}"/>
              </c:ext>
            </c:extLst>
          </c:dPt>
          <c:dPt>
            <c:idx val="3"/>
            <c:invertIfNegative val="0"/>
            <c:bubble3D val="0"/>
            <c:extLst>
              <c:ext xmlns:c16="http://schemas.microsoft.com/office/drawing/2014/chart" uri="{C3380CC4-5D6E-409C-BE32-E72D297353CC}">
                <c16:uniqueId val="{00000007-AB09-427A-89C5-BD45C1BC8CFF}"/>
              </c:ext>
            </c:extLst>
          </c:dPt>
          <c:dPt>
            <c:idx val="4"/>
            <c:invertIfNegative val="0"/>
            <c:bubble3D val="0"/>
            <c:spPr>
              <a:solidFill>
                <a:srgbClr val="1B4F72"/>
              </a:solidFill>
              <a:effectLst/>
            </c:spPr>
            <c:extLst>
              <c:ext xmlns:c16="http://schemas.microsoft.com/office/drawing/2014/chart" uri="{C3380CC4-5D6E-409C-BE32-E72D297353CC}">
                <c16:uniqueId val="{00000009-AB09-427A-89C5-BD45C1BC8CFF}"/>
              </c:ext>
            </c:extLst>
          </c:dPt>
          <c:dPt>
            <c:idx val="5"/>
            <c:invertIfNegative val="0"/>
            <c:bubble3D val="0"/>
            <c:spPr>
              <a:solidFill>
                <a:srgbClr val="F39C12"/>
              </a:solidFill>
              <a:effectLst/>
            </c:spPr>
            <c:extLst>
              <c:ext xmlns:c16="http://schemas.microsoft.com/office/drawing/2014/chart" uri="{C3380CC4-5D6E-409C-BE32-E72D297353CC}">
                <c16:uniqueId val="{0000000B-AB09-427A-89C5-BD45C1BC8CFF}"/>
              </c:ext>
            </c:extLst>
          </c:dPt>
          <c:dLbls>
            <c:numFmt formatCode="#,##0" sourceLinked="0"/>
            <c:spPr>
              <a:noFill/>
              <a:ln>
                <a:noFill/>
              </a:ln>
              <a:effectLst/>
            </c:spPr>
            <c:txPr>
              <a:bodyPr/>
              <a:lstStyle/>
              <a:p>
                <a:pPr>
                  <a:defRPr sz="1100" b="1" i="0" u="none" strike="noStrike">
                    <a:solidFill>
                      <a:srgbClr val="2C3E5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Referral</c:v>
                </c:pt>
                <c:pt idx="1">
                  <c:v>Paid</c:v>
                </c:pt>
                <c:pt idx="2">
                  <c:v>Social</c:v>
                </c:pt>
                <c:pt idx="3">
                  <c:v>Email</c:v>
                </c:pt>
                <c:pt idx="4">
                  <c:v>Direct</c:v>
                </c:pt>
                <c:pt idx="5">
                  <c:v>Organic</c:v>
                </c:pt>
              </c:strCache>
            </c:strRef>
          </c:cat>
          <c:val>
            <c:numRef>
              <c:f>Sheet1!$B$2:$B$7</c:f>
              <c:numCache>
                <c:formatCode>General</c:formatCode>
                <c:ptCount val="6"/>
                <c:pt idx="0">
                  <c:v>399</c:v>
                </c:pt>
                <c:pt idx="1">
                  <c:v>992</c:v>
                </c:pt>
                <c:pt idx="2">
                  <c:v>831</c:v>
                </c:pt>
                <c:pt idx="3">
                  <c:v>1232</c:v>
                </c:pt>
                <c:pt idx="4">
                  <c:v>7893</c:v>
                </c:pt>
                <c:pt idx="5">
                  <c:v>8598</c:v>
                </c:pt>
              </c:numCache>
            </c:numRef>
          </c:val>
          <c:extLst>
            <c:ext xmlns:c16="http://schemas.microsoft.com/office/drawing/2014/chart" uri="{C3380CC4-5D6E-409C-BE32-E72D297353CC}">
              <c16:uniqueId val="{0000000C-AB09-427A-89C5-BD45C1BC8CF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chemeClr val="tx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5E8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chemeClr val="tx1"/>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300" b="0" i="0" u="none" strike="noStrike">
                <a:solidFill>
                  <a:srgbClr val="2C3E50"/>
                </a:solidFill>
                <a:latin typeface="Arial"/>
              </a:defRPr>
            </a:pPr>
            <a:r>
              <a:rPr lang="en-US" sz="1300" b="0" i="0" u="none" strike="noStrike" dirty="0">
                <a:solidFill>
                  <a:srgbClr val="2C3E50"/>
                </a:solidFill>
                <a:latin typeface="Arial"/>
              </a:rPr>
              <a:t>Customers Who Abandoned Their Cart</a:t>
            </a:r>
          </a:p>
        </c:rich>
      </c:tx>
      <c:overlay val="0"/>
    </c:title>
    <c:autoTitleDeleted val="0"/>
    <c:plotArea>
      <c:layout/>
      <c:doughnutChart>
        <c:varyColors val="1"/>
        <c:ser>
          <c:idx val="0"/>
          <c:order val="0"/>
          <c:tx>
            <c:strRef>
              <c:f>Sheet1!$B$1</c:f>
              <c:strCache>
                <c:ptCount val="1"/>
                <c:pt idx="0">
                  <c:v>Cart</c:v>
                </c:pt>
              </c:strCache>
            </c:strRef>
          </c:tx>
          <c:spPr>
            <a:solidFill>
              <a:schemeClr val="accent1"/>
            </a:solidFill>
            <a:ln w="9525" cap="flat">
              <a:solidFill>
                <a:srgbClr val="F9F9F9"/>
              </a:solidFill>
              <a:prstDash val="solid"/>
              <a:round/>
            </a:ln>
            <a:effectLst/>
          </c:spPr>
          <c:dPt>
            <c:idx val="0"/>
            <c:bubble3D val="0"/>
            <c:spPr>
              <a:solidFill>
                <a:srgbClr val="1ABC9C"/>
              </a:solidFill>
              <a:effectLst/>
            </c:spPr>
            <c:extLst>
              <c:ext xmlns:c16="http://schemas.microsoft.com/office/drawing/2014/chart" uri="{C3380CC4-5D6E-409C-BE32-E72D297353CC}">
                <c16:uniqueId val="{00000001-0DE1-4C84-B4D1-E3D809D5A24C}"/>
              </c:ext>
            </c:extLst>
          </c:dPt>
          <c:dPt>
            <c:idx val="1"/>
            <c:bubble3D val="0"/>
            <c:spPr>
              <a:solidFill>
                <a:srgbClr val="E74C3C"/>
              </a:solidFill>
              <a:effectLst/>
            </c:spPr>
            <c:extLst>
              <c:ext xmlns:c16="http://schemas.microsoft.com/office/drawing/2014/chart" uri="{C3380CC4-5D6E-409C-BE32-E72D297353CC}">
                <c16:uniqueId val="{00000003-0DE1-4C84-B4D1-E3D809D5A24C}"/>
              </c:ext>
            </c:extLst>
          </c:dPt>
          <c:dLbls>
            <c:dLbl>
              <c:idx val="0"/>
              <c:numFmt formatCode="0%" sourceLinked="0"/>
              <c:spPr/>
              <c:txPr>
                <a:bodyPr/>
                <a:lstStyle/>
                <a:p>
                  <a:pPr>
                    <a:defRPr sz="1400" b="1" i="0" u="none" strike="noStrike">
                      <a:solidFill>
                        <a:schemeClr val="tx1"/>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0DE1-4C84-B4D1-E3D809D5A24C}"/>
                </c:ext>
              </c:extLst>
            </c:dLbl>
            <c:dLbl>
              <c:idx val="1"/>
              <c:numFmt formatCode="0%" sourceLinked="0"/>
              <c:spPr/>
              <c:txPr>
                <a:bodyPr/>
                <a:lstStyle/>
                <a:p>
                  <a:pPr>
                    <a:defRPr sz="1400" b="1" i="0" u="none" strike="noStrike">
                      <a:solidFill>
                        <a:schemeClr val="tx1"/>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0DE1-4C84-B4D1-E3D809D5A24C}"/>
                </c:ext>
              </c:extLst>
            </c:dLbl>
            <c:numFmt formatCode="0%" sourceLinked="0"/>
            <c:spPr>
              <a:noFill/>
              <a:ln>
                <a:noFill/>
              </a:ln>
              <a:effectLst/>
            </c:spPr>
            <c:txPr>
              <a:bodyPr/>
              <a:lstStyle/>
              <a:p>
                <a:pPr>
                  <a:defRPr sz="1800" b="1" i="0" u="none" strike="noStrike">
                    <a:solidFill>
                      <a:schemeClr val="tx1"/>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No Abandonment</c:v>
                </c:pt>
                <c:pt idx="1">
                  <c:v>Abandoned Cart</c:v>
                </c:pt>
              </c:strCache>
            </c:strRef>
          </c:cat>
          <c:val>
            <c:numRef>
              <c:f>Sheet1!$B$2:$B$3</c:f>
              <c:numCache>
                <c:formatCode>General</c:formatCode>
                <c:ptCount val="2"/>
                <c:pt idx="0">
                  <c:v>16323</c:v>
                </c:pt>
                <c:pt idx="1">
                  <c:v>3677</c:v>
                </c:pt>
              </c:numCache>
            </c:numRef>
          </c:val>
          <c:extLst>
            <c:ext xmlns:c16="http://schemas.microsoft.com/office/drawing/2014/chart" uri="{C3380CC4-5D6E-409C-BE32-E72D297353CC}">
              <c16:uniqueId val="{00000004-0DE1-4C84-B4D1-E3D809D5A24C}"/>
            </c:ext>
          </c:extLst>
        </c:ser>
        <c:dLbls>
          <c:showLegendKey val="0"/>
          <c:showVal val="0"/>
          <c:showCatName val="0"/>
          <c:showSerName val="0"/>
          <c:showPercent val="0"/>
          <c:showBubbleSize val="0"/>
          <c:showLeaderLines val="0"/>
        </c:dLbls>
        <c:firstSliceAng val="0"/>
        <c:holeSize val="60"/>
      </c:doughnutChart>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200" b="0" i="0" u="none" strike="noStrike">
                <a:solidFill>
                  <a:srgbClr val="2C3E50"/>
                </a:solidFill>
                <a:latin typeface="Arial"/>
              </a:defRPr>
            </a:pPr>
            <a:r>
              <a:rPr lang="en-US" sz="1200" b="0" i="0" u="none" strike="noStrike" dirty="0">
                <a:solidFill>
                  <a:srgbClr val="2C3E50"/>
                </a:solidFill>
                <a:latin typeface="Arial"/>
              </a:rPr>
              <a:t>Who Gives Product Ratings?</a:t>
            </a:r>
          </a:p>
        </c:rich>
      </c:tx>
      <c:overlay val="0"/>
    </c:title>
    <c:autoTitleDeleted val="0"/>
    <c:plotArea>
      <c:layout/>
      <c:barChart>
        <c:barDir val="col"/>
        <c:grouping val="clustered"/>
        <c:varyColors val="0"/>
        <c:ser>
          <c:idx val="0"/>
          <c:order val="0"/>
          <c:tx>
            <c:strRef>
              <c:f>Sheet1!$B$1</c:f>
              <c:strCache>
                <c:ptCount val="1"/>
                <c:pt idx="0">
                  <c:v>Customers</c:v>
                </c:pt>
              </c:strCache>
            </c:strRef>
          </c:tx>
          <c:spPr>
            <a:solidFill>
              <a:srgbClr val="A8C6D0"/>
            </a:solidFill>
            <a:effectLst/>
          </c:spPr>
          <c:invertIfNegative val="0"/>
          <c:dPt>
            <c:idx val="0"/>
            <c:invertIfNegative val="0"/>
            <c:bubble3D val="0"/>
            <c:extLst>
              <c:ext xmlns:c16="http://schemas.microsoft.com/office/drawing/2014/chart" uri="{C3380CC4-5D6E-409C-BE32-E72D297353CC}">
                <c16:uniqueId val="{00000001-CD77-4CA3-BF8A-337AD1339D1C}"/>
              </c:ext>
            </c:extLst>
          </c:dPt>
          <c:dPt>
            <c:idx val="1"/>
            <c:invertIfNegative val="0"/>
            <c:bubble3D val="0"/>
            <c:spPr>
              <a:solidFill>
                <a:srgbClr val="1ABC9C"/>
              </a:solidFill>
              <a:effectLst/>
            </c:spPr>
            <c:extLst>
              <c:ext xmlns:c16="http://schemas.microsoft.com/office/drawing/2014/chart" uri="{C3380CC4-5D6E-409C-BE32-E72D297353CC}">
                <c16:uniqueId val="{00000003-CD77-4CA3-BF8A-337AD1339D1C}"/>
              </c:ext>
            </c:extLst>
          </c:dPt>
          <c:dPt>
            <c:idx val="2"/>
            <c:invertIfNegative val="0"/>
            <c:bubble3D val="0"/>
            <c:spPr>
              <a:solidFill>
                <a:srgbClr val="E74C3C"/>
              </a:solidFill>
              <a:effectLst/>
            </c:spPr>
            <c:extLst>
              <c:ext xmlns:c16="http://schemas.microsoft.com/office/drawing/2014/chart" uri="{C3380CC4-5D6E-409C-BE32-E72D297353CC}">
                <c16:uniqueId val="{00000005-CD77-4CA3-BF8A-337AD1339D1C}"/>
              </c:ext>
            </c:extLst>
          </c:dPt>
          <c:dLbls>
            <c:numFmt formatCode="#,##0" sourceLinked="0"/>
            <c:spPr>
              <a:noFill/>
              <a:ln>
                <a:noFill/>
              </a:ln>
              <a:effectLst/>
            </c:spPr>
            <c:txPr>
              <a:bodyPr/>
              <a:lstStyle/>
              <a:p>
                <a:pPr>
                  <a:defRPr sz="1100" b="0" i="0" u="none" strike="noStrike">
                    <a:solidFill>
                      <a:srgbClr val="2C3E5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No Purchase</c:v>
                </c:pt>
                <c:pt idx="1">
                  <c:v>Rated</c:v>
                </c:pt>
                <c:pt idx="2">
                  <c:v>No Rating Given</c:v>
                </c:pt>
              </c:strCache>
            </c:strRef>
          </c:cat>
          <c:val>
            <c:numRef>
              <c:f>Sheet1!$B$2:$B$4</c:f>
              <c:numCache>
                <c:formatCode>General</c:formatCode>
                <c:ptCount val="3"/>
                <c:pt idx="0">
                  <c:v>3732</c:v>
                </c:pt>
                <c:pt idx="1">
                  <c:v>5259</c:v>
                </c:pt>
                <c:pt idx="2">
                  <c:v>11009</c:v>
                </c:pt>
              </c:numCache>
            </c:numRef>
          </c:val>
          <c:extLst>
            <c:ext xmlns:c16="http://schemas.microsoft.com/office/drawing/2014/chart" uri="{C3380CC4-5D6E-409C-BE32-E72D297353CC}">
              <c16:uniqueId val="{00000006-CD77-4CA3-BF8A-337AD1339D1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chemeClr val="tx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8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chemeClr val="tx1"/>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200" b="0" i="0" u="none" strike="noStrike">
                <a:solidFill>
                  <a:srgbClr val="2C3E50"/>
                </a:solidFill>
                <a:latin typeface="Arial"/>
              </a:defRPr>
            </a:pPr>
            <a:r>
              <a:rPr lang="en-US" sz="1200" b="0" i="0" u="none" strike="noStrike" dirty="0">
                <a:solidFill>
                  <a:srgbClr val="2C3E50"/>
                </a:solidFill>
                <a:latin typeface="Arial"/>
              </a:rPr>
              <a:t>Marketing Email Opt-In Rate</a:t>
            </a:r>
          </a:p>
        </c:rich>
      </c:tx>
      <c:overlay val="0"/>
    </c:title>
    <c:autoTitleDeleted val="0"/>
    <c:plotArea>
      <c:layout/>
      <c:pieChart>
        <c:varyColors val="1"/>
        <c:ser>
          <c:idx val="0"/>
          <c:order val="0"/>
          <c:tx>
            <c:strRef>
              <c:f>Sheet1!$B$1</c:f>
              <c:strCache>
                <c:ptCount val="1"/>
                <c:pt idx="0">
                  <c:v>Marketing</c:v>
                </c:pt>
              </c:strCache>
            </c:strRef>
          </c:tx>
          <c:spPr>
            <a:solidFill>
              <a:schemeClr val="accent1"/>
            </a:solidFill>
            <a:ln w="9525" cap="flat">
              <a:solidFill>
                <a:srgbClr val="F9F9F9"/>
              </a:solidFill>
              <a:prstDash val="solid"/>
              <a:round/>
            </a:ln>
            <a:effectLst/>
          </c:spPr>
          <c:dPt>
            <c:idx val="0"/>
            <c:bubble3D val="0"/>
            <c:spPr>
              <a:solidFill>
                <a:srgbClr val="1B4F72"/>
              </a:solidFill>
              <a:effectLst/>
            </c:spPr>
            <c:extLst>
              <c:ext xmlns:c16="http://schemas.microsoft.com/office/drawing/2014/chart" uri="{C3380CC4-5D6E-409C-BE32-E72D297353CC}">
                <c16:uniqueId val="{00000001-D2C6-4AD0-9043-FD701A3395F8}"/>
              </c:ext>
            </c:extLst>
          </c:dPt>
          <c:dPt>
            <c:idx val="1"/>
            <c:bubble3D val="0"/>
            <c:spPr>
              <a:solidFill>
                <a:srgbClr val="A8C6D0"/>
              </a:solidFill>
              <a:effectLst/>
            </c:spPr>
            <c:extLst>
              <c:ext xmlns:c16="http://schemas.microsoft.com/office/drawing/2014/chart" uri="{C3380CC4-5D6E-409C-BE32-E72D297353CC}">
                <c16:uniqueId val="{00000003-D2C6-4AD0-9043-FD701A3395F8}"/>
              </c:ext>
            </c:extLst>
          </c:dPt>
          <c:dLbls>
            <c:dLbl>
              <c:idx val="0"/>
              <c:layout>
                <c:manualLayout>
                  <c:x val="-0.14505916095165525"/>
                  <c:y val="-6.6913944784679691E-3"/>
                </c:manualLayout>
              </c:layout>
              <c:numFmt formatCode="0%" sourceLinked="0"/>
              <c:spPr/>
              <c:txPr>
                <a:bodyPr/>
                <a:lstStyle/>
                <a:p>
                  <a:pPr>
                    <a:defRPr sz="13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D2C6-4AD0-9043-FD701A3395F8}"/>
                </c:ext>
              </c:extLst>
            </c:dLbl>
            <c:dLbl>
              <c:idx val="1"/>
              <c:layout>
                <c:manualLayout>
                  <c:x val="0.13184072757034399"/>
                  <c:y val="3.7664041994750659E-2"/>
                </c:manualLayout>
              </c:layout>
              <c:numFmt formatCode="0%" sourceLinked="0"/>
              <c:spPr/>
              <c:txPr>
                <a:bodyPr/>
                <a:lstStyle/>
                <a:p>
                  <a:pPr>
                    <a:defRPr sz="1300" b="1" i="0" u="none" strike="noStrike">
                      <a:solidFill>
                        <a:schemeClr val="tx1"/>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D2C6-4AD0-9043-FD701A3395F8}"/>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Opted In (Yes)</c:v>
                </c:pt>
                <c:pt idx="1">
                  <c:v>Opted Out (No)</c:v>
                </c:pt>
              </c:strCache>
            </c:strRef>
          </c:cat>
          <c:val>
            <c:numRef>
              <c:f>Sheet1!$B$2:$B$3</c:f>
              <c:numCache>
                <c:formatCode>General</c:formatCode>
                <c:ptCount val="2"/>
                <c:pt idx="0">
                  <c:v>11110</c:v>
                </c:pt>
                <c:pt idx="1">
                  <c:v>8890</c:v>
                </c:pt>
              </c:numCache>
            </c:numRef>
          </c:val>
          <c:extLst>
            <c:ext xmlns:c16="http://schemas.microsoft.com/office/drawing/2014/chart" uri="{C3380CC4-5D6E-409C-BE32-E72D297353CC}">
              <c16:uniqueId val="{00000004-D2C6-4AD0-9043-FD701A3395F8}"/>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5881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chart" Target="../charts/char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7863840" y="18662"/>
            <a:ext cx="4297680" cy="6858000"/>
          </a:xfrm>
          <a:prstGeom prst="rect">
            <a:avLst/>
          </a:prstGeom>
          <a:solidFill>
            <a:srgbClr val="F39C12"/>
          </a:solidFill>
          <a:ln w="12700">
            <a:solidFill>
              <a:srgbClr val="F39C12"/>
            </a:solidFill>
            <a:prstDash val="solid"/>
          </a:ln>
        </p:spPr>
      </p:sp>
      <p:sp>
        <p:nvSpPr>
          <p:cNvPr id="3" name="Shape 1"/>
          <p:cNvSpPr/>
          <p:nvPr/>
        </p:nvSpPr>
        <p:spPr>
          <a:xfrm>
            <a:off x="7863840" y="0"/>
            <a:ext cx="109728" cy="6858000"/>
          </a:xfrm>
          <a:prstGeom prst="rect">
            <a:avLst/>
          </a:prstGeom>
          <a:solidFill>
            <a:srgbClr val="E08A00"/>
          </a:solidFill>
          <a:ln w="12700">
            <a:solidFill>
              <a:srgbClr val="E08A00"/>
            </a:solidFill>
            <a:prstDash val="solid"/>
          </a:ln>
        </p:spPr>
      </p:sp>
      <p:sp>
        <p:nvSpPr>
          <p:cNvPr id="4" name="Shape 2"/>
          <p:cNvSpPr/>
          <p:nvPr/>
        </p:nvSpPr>
        <p:spPr>
          <a:xfrm>
            <a:off x="8229600" y="384422"/>
            <a:ext cx="91440" cy="91440"/>
          </a:xfrm>
          <a:prstGeom prst="ellipse">
            <a:avLst/>
          </a:prstGeom>
          <a:solidFill>
            <a:srgbClr val="0D1B2A">
              <a:alpha val="45000"/>
            </a:srgbClr>
          </a:solidFill>
          <a:ln w="12700">
            <a:solidFill>
              <a:srgbClr val="0D1B2A"/>
            </a:solidFill>
            <a:prstDash val="solid"/>
          </a:ln>
        </p:spPr>
      </p:sp>
      <p:sp>
        <p:nvSpPr>
          <p:cNvPr id="5" name="Shape 3"/>
          <p:cNvSpPr/>
          <p:nvPr/>
        </p:nvSpPr>
        <p:spPr>
          <a:xfrm>
            <a:off x="8869680" y="365760"/>
            <a:ext cx="91440" cy="91440"/>
          </a:xfrm>
          <a:prstGeom prst="ellipse">
            <a:avLst/>
          </a:prstGeom>
          <a:solidFill>
            <a:srgbClr val="0D1B2A">
              <a:alpha val="45000"/>
            </a:srgbClr>
          </a:solidFill>
          <a:ln w="12700">
            <a:solidFill>
              <a:srgbClr val="0D1B2A"/>
            </a:solidFill>
            <a:prstDash val="solid"/>
          </a:ln>
        </p:spPr>
      </p:sp>
      <p:sp>
        <p:nvSpPr>
          <p:cNvPr id="6" name="Shape 4"/>
          <p:cNvSpPr/>
          <p:nvPr/>
        </p:nvSpPr>
        <p:spPr>
          <a:xfrm>
            <a:off x="9509760" y="365760"/>
            <a:ext cx="91440" cy="91440"/>
          </a:xfrm>
          <a:prstGeom prst="ellipse">
            <a:avLst/>
          </a:prstGeom>
          <a:solidFill>
            <a:srgbClr val="0D1B2A">
              <a:alpha val="45000"/>
            </a:srgbClr>
          </a:solidFill>
          <a:ln w="12700">
            <a:solidFill>
              <a:srgbClr val="0D1B2A"/>
            </a:solidFill>
            <a:prstDash val="solid"/>
          </a:ln>
        </p:spPr>
      </p:sp>
      <p:sp>
        <p:nvSpPr>
          <p:cNvPr id="7" name="Shape 5"/>
          <p:cNvSpPr/>
          <p:nvPr/>
        </p:nvSpPr>
        <p:spPr>
          <a:xfrm>
            <a:off x="10149840" y="365760"/>
            <a:ext cx="91440" cy="91440"/>
          </a:xfrm>
          <a:prstGeom prst="ellipse">
            <a:avLst/>
          </a:prstGeom>
          <a:solidFill>
            <a:srgbClr val="0D1B2A">
              <a:alpha val="45000"/>
            </a:srgbClr>
          </a:solidFill>
          <a:ln w="12700">
            <a:solidFill>
              <a:srgbClr val="0D1B2A"/>
            </a:solidFill>
            <a:prstDash val="solid"/>
          </a:ln>
        </p:spPr>
      </p:sp>
      <p:sp>
        <p:nvSpPr>
          <p:cNvPr id="8" name="Shape 6"/>
          <p:cNvSpPr/>
          <p:nvPr/>
        </p:nvSpPr>
        <p:spPr>
          <a:xfrm>
            <a:off x="10789920" y="365760"/>
            <a:ext cx="91440" cy="91440"/>
          </a:xfrm>
          <a:prstGeom prst="ellipse">
            <a:avLst/>
          </a:prstGeom>
          <a:solidFill>
            <a:srgbClr val="0D1B2A">
              <a:alpha val="45000"/>
            </a:srgbClr>
          </a:solidFill>
          <a:ln w="12700">
            <a:solidFill>
              <a:srgbClr val="0D1B2A"/>
            </a:solidFill>
            <a:prstDash val="solid"/>
          </a:ln>
        </p:spPr>
      </p:sp>
      <p:sp>
        <p:nvSpPr>
          <p:cNvPr id="9" name="Shape 7"/>
          <p:cNvSpPr/>
          <p:nvPr/>
        </p:nvSpPr>
        <p:spPr>
          <a:xfrm>
            <a:off x="8229600" y="1143000"/>
            <a:ext cx="91440" cy="91440"/>
          </a:xfrm>
          <a:prstGeom prst="ellipse">
            <a:avLst/>
          </a:prstGeom>
          <a:solidFill>
            <a:srgbClr val="0D1B2A">
              <a:alpha val="45000"/>
            </a:srgbClr>
          </a:solidFill>
          <a:ln w="12700">
            <a:solidFill>
              <a:srgbClr val="0D1B2A"/>
            </a:solidFill>
            <a:prstDash val="solid"/>
          </a:ln>
        </p:spPr>
      </p:sp>
      <p:sp>
        <p:nvSpPr>
          <p:cNvPr id="10" name="Shape 8"/>
          <p:cNvSpPr/>
          <p:nvPr/>
        </p:nvSpPr>
        <p:spPr>
          <a:xfrm>
            <a:off x="8869680" y="1143000"/>
            <a:ext cx="91440" cy="91440"/>
          </a:xfrm>
          <a:prstGeom prst="ellipse">
            <a:avLst/>
          </a:prstGeom>
          <a:solidFill>
            <a:srgbClr val="0D1B2A">
              <a:alpha val="45000"/>
            </a:srgbClr>
          </a:solidFill>
          <a:ln w="12700">
            <a:solidFill>
              <a:srgbClr val="0D1B2A"/>
            </a:solidFill>
            <a:prstDash val="solid"/>
          </a:ln>
        </p:spPr>
      </p:sp>
      <p:sp>
        <p:nvSpPr>
          <p:cNvPr id="11" name="Shape 9"/>
          <p:cNvSpPr/>
          <p:nvPr/>
        </p:nvSpPr>
        <p:spPr>
          <a:xfrm>
            <a:off x="9509760" y="1143000"/>
            <a:ext cx="91440" cy="91440"/>
          </a:xfrm>
          <a:prstGeom prst="ellipse">
            <a:avLst/>
          </a:prstGeom>
          <a:solidFill>
            <a:srgbClr val="0D1B2A">
              <a:alpha val="45000"/>
            </a:srgbClr>
          </a:solidFill>
          <a:ln w="12700">
            <a:solidFill>
              <a:srgbClr val="0D1B2A"/>
            </a:solidFill>
            <a:prstDash val="solid"/>
          </a:ln>
        </p:spPr>
      </p:sp>
      <p:sp>
        <p:nvSpPr>
          <p:cNvPr id="12" name="Shape 10"/>
          <p:cNvSpPr/>
          <p:nvPr/>
        </p:nvSpPr>
        <p:spPr>
          <a:xfrm>
            <a:off x="10149840" y="1143000"/>
            <a:ext cx="91440" cy="91440"/>
          </a:xfrm>
          <a:prstGeom prst="ellipse">
            <a:avLst/>
          </a:prstGeom>
          <a:solidFill>
            <a:srgbClr val="0D1B2A">
              <a:alpha val="45000"/>
            </a:srgbClr>
          </a:solidFill>
          <a:ln w="12700">
            <a:solidFill>
              <a:srgbClr val="0D1B2A"/>
            </a:solidFill>
            <a:prstDash val="solid"/>
          </a:ln>
        </p:spPr>
      </p:sp>
      <p:sp>
        <p:nvSpPr>
          <p:cNvPr id="13" name="Shape 11"/>
          <p:cNvSpPr/>
          <p:nvPr/>
        </p:nvSpPr>
        <p:spPr>
          <a:xfrm>
            <a:off x="10789920" y="1143000"/>
            <a:ext cx="91440" cy="91440"/>
          </a:xfrm>
          <a:prstGeom prst="ellipse">
            <a:avLst/>
          </a:prstGeom>
          <a:solidFill>
            <a:srgbClr val="0D1B2A">
              <a:alpha val="45000"/>
            </a:srgbClr>
          </a:solidFill>
          <a:ln w="12700">
            <a:solidFill>
              <a:srgbClr val="0D1B2A"/>
            </a:solidFill>
            <a:prstDash val="solid"/>
          </a:ln>
        </p:spPr>
      </p:sp>
      <p:sp>
        <p:nvSpPr>
          <p:cNvPr id="14" name="Shape 12"/>
          <p:cNvSpPr/>
          <p:nvPr/>
        </p:nvSpPr>
        <p:spPr>
          <a:xfrm>
            <a:off x="8229600" y="1920240"/>
            <a:ext cx="91440" cy="91440"/>
          </a:xfrm>
          <a:prstGeom prst="ellipse">
            <a:avLst/>
          </a:prstGeom>
          <a:solidFill>
            <a:srgbClr val="0D1B2A">
              <a:alpha val="45000"/>
            </a:srgbClr>
          </a:solidFill>
          <a:ln w="12700">
            <a:solidFill>
              <a:srgbClr val="0D1B2A"/>
            </a:solidFill>
            <a:prstDash val="solid"/>
          </a:ln>
        </p:spPr>
      </p:sp>
      <p:sp>
        <p:nvSpPr>
          <p:cNvPr id="15" name="Shape 13"/>
          <p:cNvSpPr/>
          <p:nvPr/>
        </p:nvSpPr>
        <p:spPr>
          <a:xfrm>
            <a:off x="8869680" y="1920240"/>
            <a:ext cx="91440" cy="91440"/>
          </a:xfrm>
          <a:prstGeom prst="ellipse">
            <a:avLst/>
          </a:prstGeom>
          <a:solidFill>
            <a:srgbClr val="0D1B2A">
              <a:alpha val="45000"/>
            </a:srgbClr>
          </a:solidFill>
          <a:ln w="12700">
            <a:solidFill>
              <a:srgbClr val="0D1B2A"/>
            </a:solidFill>
            <a:prstDash val="solid"/>
          </a:ln>
        </p:spPr>
      </p:sp>
      <p:sp>
        <p:nvSpPr>
          <p:cNvPr id="16" name="Shape 14"/>
          <p:cNvSpPr/>
          <p:nvPr/>
        </p:nvSpPr>
        <p:spPr>
          <a:xfrm>
            <a:off x="9509760" y="1920240"/>
            <a:ext cx="91440" cy="91440"/>
          </a:xfrm>
          <a:prstGeom prst="ellipse">
            <a:avLst/>
          </a:prstGeom>
          <a:solidFill>
            <a:srgbClr val="0D1B2A">
              <a:alpha val="45000"/>
            </a:srgbClr>
          </a:solidFill>
          <a:ln w="12700">
            <a:solidFill>
              <a:srgbClr val="0D1B2A"/>
            </a:solidFill>
            <a:prstDash val="solid"/>
          </a:ln>
        </p:spPr>
      </p:sp>
      <p:sp>
        <p:nvSpPr>
          <p:cNvPr id="17" name="Shape 15"/>
          <p:cNvSpPr/>
          <p:nvPr/>
        </p:nvSpPr>
        <p:spPr>
          <a:xfrm>
            <a:off x="10149840" y="1920240"/>
            <a:ext cx="91440" cy="91440"/>
          </a:xfrm>
          <a:prstGeom prst="ellipse">
            <a:avLst/>
          </a:prstGeom>
          <a:solidFill>
            <a:srgbClr val="0D1B2A">
              <a:alpha val="45000"/>
            </a:srgbClr>
          </a:solidFill>
          <a:ln w="12700">
            <a:solidFill>
              <a:srgbClr val="0D1B2A"/>
            </a:solidFill>
            <a:prstDash val="solid"/>
          </a:ln>
        </p:spPr>
      </p:sp>
      <p:sp>
        <p:nvSpPr>
          <p:cNvPr id="18" name="Shape 16"/>
          <p:cNvSpPr/>
          <p:nvPr/>
        </p:nvSpPr>
        <p:spPr>
          <a:xfrm>
            <a:off x="10789920" y="1920240"/>
            <a:ext cx="91440" cy="91440"/>
          </a:xfrm>
          <a:prstGeom prst="ellipse">
            <a:avLst/>
          </a:prstGeom>
          <a:solidFill>
            <a:srgbClr val="0D1B2A">
              <a:alpha val="45000"/>
            </a:srgbClr>
          </a:solidFill>
          <a:ln w="12700">
            <a:solidFill>
              <a:srgbClr val="0D1B2A"/>
            </a:solidFill>
            <a:prstDash val="solid"/>
          </a:ln>
        </p:spPr>
      </p:sp>
      <p:sp>
        <p:nvSpPr>
          <p:cNvPr id="19" name="Shape 17"/>
          <p:cNvSpPr/>
          <p:nvPr/>
        </p:nvSpPr>
        <p:spPr>
          <a:xfrm>
            <a:off x="8229600" y="2697480"/>
            <a:ext cx="91440" cy="91440"/>
          </a:xfrm>
          <a:prstGeom prst="ellipse">
            <a:avLst/>
          </a:prstGeom>
          <a:solidFill>
            <a:srgbClr val="0D1B2A">
              <a:alpha val="45000"/>
            </a:srgbClr>
          </a:solidFill>
          <a:ln w="12700">
            <a:solidFill>
              <a:srgbClr val="0D1B2A"/>
            </a:solidFill>
            <a:prstDash val="solid"/>
          </a:ln>
        </p:spPr>
      </p:sp>
      <p:sp>
        <p:nvSpPr>
          <p:cNvPr id="20" name="Shape 18"/>
          <p:cNvSpPr/>
          <p:nvPr/>
        </p:nvSpPr>
        <p:spPr>
          <a:xfrm>
            <a:off x="8869680" y="2697480"/>
            <a:ext cx="91440" cy="91440"/>
          </a:xfrm>
          <a:prstGeom prst="ellipse">
            <a:avLst/>
          </a:prstGeom>
          <a:solidFill>
            <a:srgbClr val="0D1B2A">
              <a:alpha val="45000"/>
            </a:srgbClr>
          </a:solidFill>
          <a:ln w="12700">
            <a:solidFill>
              <a:srgbClr val="0D1B2A"/>
            </a:solidFill>
            <a:prstDash val="solid"/>
          </a:ln>
        </p:spPr>
      </p:sp>
      <p:sp>
        <p:nvSpPr>
          <p:cNvPr id="21" name="Shape 19"/>
          <p:cNvSpPr/>
          <p:nvPr/>
        </p:nvSpPr>
        <p:spPr>
          <a:xfrm>
            <a:off x="9509760" y="2697480"/>
            <a:ext cx="91440" cy="91440"/>
          </a:xfrm>
          <a:prstGeom prst="ellipse">
            <a:avLst/>
          </a:prstGeom>
          <a:solidFill>
            <a:srgbClr val="0D1B2A">
              <a:alpha val="45000"/>
            </a:srgbClr>
          </a:solidFill>
          <a:ln w="12700">
            <a:solidFill>
              <a:srgbClr val="0D1B2A"/>
            </a:solidFill>
            <a:prstDash val="solid"/>
          </a:ln>
        </p:spPr>
      </p:sp>
      <p:sp>
        <p:nvSpPr>
          <p:cNvPr id="22" name="Shape 20"/>
          <p:cNvSpPr/>
          <p:nvPr/>
        </p:nvSpPr>
        <p:spPr>
          <a:xfrm>
            <a:off x="10149840" y="2697480"/>
            <a:ext cx="91440" cy="91440"/>
          </a:xfrm>
          <a:prstGeom prst="ellipse">
            <a:avLst/>
          </a:prstGeom>
          <a:solidFill>
            <a:srgbClr val="0D1B2A">
              <a:alpha val="45000"/>
            </a:srgbClr>
          </a:solidFill>
          <a:ln w="12700">
            <a:solidFill>
              <a:srgbClr val="0D1B2A"/>
            </a:solidFill>
            <a:prstDash val="solid"/>
          </a:ln>
        </p:spPr>
      </p:sp>
      <p:sp>
        <p:nvSpPr>
          <p:cNvPr id="23" name="Shape 21"/>
          <p:cNvSpPr/>
          <p:nvPr/>
        </p:nvSpPr>
        <p:spPr>
          <a:xfrm>
            <a:off x="10789920" y="2697480"/>
            <a:ext cx="91440" cy="91440"/>
          </a:xfrm>
          <a:prstGeom prst="ellipse">
            <a:avLst/>
          </a:prstGeom>
          <a:solidFill>
            <a:srgbClr val="0D1B2A">
              <a:alpha val="45000"/>
            </a:srgbClr>
          </a:solidFill>
          <a:ln w="12700">
            <a:solidFill>
              <a:srgbClr val="0D1B2A"/>
            </a:solidFill>
            <a:prstDash val="solid"/>
          </a:ln>
        </p:spPr>
      </p:sp>
      <p:sp>
        <p:nvSpPr>
          <p:cNvPr id="24" name="Shape 22"/>
          <p:cNvSpPr/>
          <p:nvPr/>
        </p:nvSpPr>
        <p:spPr>
          <a:xfrm>
            <a:off x="8229600" y="3474720"/>
            <a:ext cx="91440" cy="91440"/>
          </a:xfrm>
          <a:prstGeom prst="ellipse">
            <a:avLst/>
          </a:prstGeom>
          <a:solidFill>
            <a:srgbClr val="0D1B2A">
              <a:alpha val="45000"/>
            </a:srgbClr>
          </a:solidFill>
          <a:ln w="12700">
            <a:solidFill>
              <a:srgbClr val="0D1B2A"/>
            </a:solidFill>
            <a:prstDash val="solid"/>
          </a:ln>
        </p:spPr>
      </p:sp>
      <p:sp>
        <p:nvSpPr>
          <p:cNvPr id="25" name="Shape 23"/>
          <p:cNvSpPr/>
          <p:nvPr/>
        </p:nvSpPr>
        <p:spPr>
          <a:xfrm>
            <a:off x="8869680" y="3474720"/>
            <a:ext cx="91440" cy="91440"/>
          </a:xfrm>
          <a:prstGeom prst="ellipse">
            <a:avLst/>
          </a:prstGeom>
          <a:solidFill>
            <a:srgbClr val="0D1B2A">
              <a:alpha val="45000"/>
            </a:srgbClr>
          </a:solidFill>
          <a:ln w="12700">
            <a:solidFill>
              <a:srgbClr val="0D1B2A"/>
            </a:solidFill>
            <a:prstDash val="solid"/>
          </a:ln>
        </p:spPr>
      </p:sp>
      <p:sp>
        <p:nvSpPr>
          <p:cNvPr id="26" name="Shape 24"/>
          <p:cNvSpPr/>
          <p:nvPr/>
        </p:nvSpPr>
        <p:spPr>
          <a:xfrm>
            <a:off x="9509760" y="3474720"/>
            <a:ext cx="91440" cy="91440"/>
          </a:xfrm>
          <a:prstGeom prst="ellipse">
            <a:avLst/>
          </a:prstGeom>
          <a:solidFill>
            <a:srgbClr val="0D1B2A">
              <a:alpha val="45000"/>
            </a:srgbClr>
          </a:solidFill>
          <a:ln w="12700">
            <a:solidFill>
              <a:srgbClr val="0D1B2A"/>
            </a:solidFill>
            <a:prstDash val="solid"/>
          </a:ln>
        </p:spPr>
      </p:sp>
      <p:sp>
        <p:nvSpPr>
          <p:cNvPr id="27" name="Shape 25"/>
          <p:cNvSpPr/>
          <p:nvPr/>
        </p:nvSpPr>
        <p:spPr>
          <a:xfrm>
            <a:off x="10149840" y="3474720"/>
            <a:ext cx="91440" cy="91440"/>
          </a:xfrm>
          <a:prstGeom prst="ellipse">
            <a:avLst/>
          </a:prstGeom>
          <a:solidFill>
            <a:srgbClr val="0D1B2A">
              <a:alpha val="45000"/>
            </a:srgbClr>
          </a:solidFill>
          <a:ln w="12700">
            <a:solidFill>
              <a:srgbClr val="0D1B2A"/>
            </a:solidFill>
            <a:prstDash val="solid"/>
          </a:ln>
        </p:spPr>
      </p:sp>
      <p:sp>
        <p:nvSpPr>
          <p:cNvPr id="28" name="Shape 26"/>
          <p:cNvSpPr/>
          <p:nvPr/>
        </p:nvSpPr>
        <p:spPr>
          <a:xfrm>
            <a:off x="10789920" y="3474720"/>
            <a:ext cx="91440" cy="91440"/>
          </a:xfrm>
          <a:prstGeom prst="ellipse">
            <a:avLst/>
          </a:prstGeom>
          <a:solidFill>
            <a:srgbClr val="0D1B2A">
              <a:alpha val="45000"/>
            </a:srgbClr>
          </a:solidFill>
          <a:ln w="12700">
            <a:solidFill>
              <a:srgbClr val="0D1B2A"/>
            </a:solidFill>
            <a:prstDash val="solid"/>
          </a:ln>
        </p:spPr>
      </p:sp>
      <p:sp>
        <p:nvSpPr>
          <p:cNvPr id="29" name="Shape 27"/>
          <p:cNvSpPr/>
          <p:nvPr/>
        </p:nvSpPr>
        <p:spPr>
          <a:xfrm>
            <a:off x="8229600" y="4251960"/>
            <a:ext cx="91440" cy="91440"/>
          </a:xfrm>
          <a:prstGeom prst="ellipse">
            <a:avLst/>
          </a:prstGeom>
          <a:solidFill>
            <a:srgbClr val="0D1B2A">
              <a:alpha val="45000"/>
            </a:srgbClr>
          </a:solidFill>
          <a:ln w="12700">
            <a:solidFill>
              <a:srgbClr val="0D1B2A"/>
            </a:solidFill>
            <a:prstDash val="solid"/>
          </a:ln>
        </p:spPr>
      </p:sp>
      <p:sp>
        <p:nvSpPr>
          <p:cNvPr id="30" name="Shape 28"/>
          <p:cNvSpPr/>
          <p:nvPr/>
        </p:nvSpPr>
        <p:spPr>
          <a:xfrm>
            <a:off x="8869680" y="4251960"/>
            <a:ext cx="91440" cy="91440"/>
          </a:xfrm>
          <a:prstGeom prst="ellipse">
            <a:avLst/>
          </a:prstGeom>
          <a:solidFill>
            <a:srgbClr val="0D1B2A">
              <a:alpha val="45000"/>
            </a:srgbClr>
          </a:solidFill>
          <a:ln w="12700">
            <a:solidFill>
              <a:srgbClr val="0D1B2A"/>
            </a:solidFill>
            <a:prstDash val="solid"/>
          </a:ln>
        </p:spPr>
      </p:sp>
      <p:sp>
        <p:nvSpPr>
          <p:cNvPr id="31" name="Shape 29"/>
          <p:cNvSpPr/>
          <p:nvPr/>
        </p:nvSpPr>
        <p:spPr>
          <a:xfrm>
            <a:off x="9509760" y="4251960"/>
            <a:ext cx="91440" cy="91440"/>
          </a:xfrm>
          <a:prstGeom prst="ellipse">
            <a:avLst/>
          </a:prstGeom>
          <a:solidFill>
            <a:srgbClr val="0D1B2A">
              <a:alpha val="45000"/>
            </a:srgbClr>
          </a:solidFill>
          <a:ln w="12700">
            <a:solidFill>
              <a:srgbClr val="0D1B2A"/>
            </a:solidFill>
            <a:prstDash val="solid"/>
          </a:ln>
        </p:spPr>
      </p:sp>
      <p:sp>
        <p:nvSpPr>
          <p:cNvPr id="32" name="Shape 30"/>
          <p:cNvSpPr/>
          <p:nvPr/>
        </p:nvSpPr>
        <p:spPr>
          <a:xfrm>
            <a:off x="10149840" y="4251960"/>
            <a:ext cx="91440" cy="91440"/>
          </a:xfrm>
          <a:prstGeom prst="ellipse">
            <a:avLst/>
          </a:prstGeom>
          <a:solidFill>
            <a:srgbClr val="0D1B2A">
              <a:alpha val="45000"/>
            </a:srgbClr>
          </a:solidFill>
          <a:ln w="12700">
            <a:solidFill>
              <a:srgbClr val="0D1B2A"/>
            </a:solidFill>
            <a:prstDash val="solid"/>
          </a:ln>
        </p:spPr>
      </p:sp>
      <p:sp>
        <p:nvSpPr>
          <p:cNvPr id="33" name="Shape 31"/>
          <p:cNvSpPr/>
          <p:nvPr/>
        </p:nvSpPr>
        <p:spPr>
          <a:xfrm>
            <a:off x="10789920" y="4251960"/>
            <a:ext cx="91440" cy="91440"/>
          </a:xfrm>
          <a:prstGeom prst="ellipse">
            <a:avLst/>
          </a:prstGeom>
          <a:solidFill>
            <a:srgbClr val="0D1B2A">
              <a:alpha val="45000"/>
            </a:srgbClr>
          </a:solidFill>
          <a:ln w="12700">
            <a:solidFill>
              <a:srgbClr val="0D1B2A"/>
            </a:solidFill>
            <a:prstDash val="solid"/>
          </a:ln>
        </p:spPr>
      </p:sp>
      <p:sp>
        <p:nvSpPr>
          <p:cNvPr id="34" name="Shape 32"/>
          <p:cNvSpPr/>
          <p:nvPr/>
        </p:nvSpPr>
        <p:spPr>
          <a:xfrm>
            <a:off x="8229600" y="5029200"/>
            <a:ext cx="91440" cy="91440"/>
          </a:xfrm>
          <a:prstGeom prst="ellipse">
            <a:avLst/>
          </a:prstGeom>
          <a:solidFill>
            <a:srgbClr val="0D1B2A">
              <a:alpha val="45000"/>
            </a:srgbClr>
          </a:solidFill>
          <a:ln w="12700">
            <a:solidFill>
              <a:srgbClr val="0D1B2A"/>
            </a:solidFill>
            <a:prstDash val="solid"/>
          </a:ln>
        </p:spPr>
      </p:sp>
      <p:sp>
        <p:nvSpPr>
          <p:cNvPr id="35" name="Shape 33"/>
          <p:cNvSpPr/>
          <p:nvPr/>
        </p:nvSpPr>
        <p:spPr>
          <a:xfrm>
            <a:off x="8869680" y="5029200"/>
            <a:ext cx="91440" cy="91440"/>
          </a:xfrm>
          <a:prstGeom prst="ellipse">
            <a:avLst/>
          </a:prstGeom>
          <a:solidFill>
            <a:srgbClr val="0D1B2A">
              <a:alpha val="45000"/>
            </a:srgbClr>
          </a:solidFill>
          <a:ln w="12700">
            <a:solidFill>
              <a:srgbClr val="0D1B2A"/>
            </a:solidFill>
            <a:prstDash val="solid"/>
          </a:ln>
        </p:spPr>
      </p:sp>
      <p:sp>
        <p:nvSpPr>
          <p:cNvPr id="36" name="Shape 34"/>
          <p:cNvSpPr/>
          <p:nvPr/>
        </p:nvSpPr>
        <p:spPr>
          <a:xfrm>
            <a:off x="9509760" y="5029200"/>
            <a:ext cx="91440" cy="91440"/>
          </a:xfrm>
          <a:prstGeom prst="ellipse">
            <a:avLst/>
          </a:prstGeom>
          <a:solidFill>
            <a:srgbClr val="0D1B2A">
              <a:alpha val="45000"/>
            </a:srgbClr>
          </a:solidFill>
          <a:ln w="12700">
            <a:solidFill>
              <a:srgbClr val="0D1B2A"/>
            </a:solidFill>
            <a:prstDash val="solid"/>
          </a:ln>
        </p:spPr>
      </p:sp>
      <p:sp>
        <p:nvSpPr>
          <p:cNvPr id="37" name="Shape 35"/>
          <p:cNvSpPr/>
          <p:nvPr/>
        </p:nvSpPr>
        <p:spPr>
          <a:xfrm>
            <a:off x="10149840" y="5029200"/>
            <a:ext cx="91440" cy="91440"/>
          </a:xfrm>
          <a:prstGeom prst="ellipse">
            <a:avLst/>
          </a:prstGeom>
          <a:solidFill>
            <a:srgbClr val="0D1B2A">
              <a:alpha val="45000"/>
            </a:srgbClr>
          </a:solidFill>
          <a:ln w="12700">
            <a:solidFill>
              <a:srgbClr val="0D1B2A"/>
            </a:solidFill>
            <a:prstDash val="solid"/>
          </a:ln>
        </p:spPr>
      </p:sp>
      <p:sp>
        <p:nvSpPr>
          <p:cNvPr id="38" name="Shape 36"/>
          <p:cNvSpPr/>
          <p:nvPr/>
        </p:nvSpPr>
        <p:spPr>
          <a:xfrm>
            <a:off x="10789920" y="5029200"/>
            <a:ext cx="91440" cy="91440"/>
          </a:xfrm>
          <a:prstGeom prst="ellipse">
            <a:avLst/>
          </a:prstGeom>
          <a:solidFill>
            <a:srgbClr val="0D1B2A">
              <a:alpha val="45000"/>
            </a:srgbClr>
          </a:solidFill>
          <a:ln w="12700">
            <a:solidFill>
              <a:srgbClr val="0D1B2A"/>
            </a:solidFill>
            <a:prstDash val="solid"/>
          </a:ln>
        </p:spPr>
      </p:sp>
      <p:sp>
        <p:nvSpPr>
          <p:cNvPr id="39" name="Shape 37"/>
          <p:cNvSpPr/>
          <p:nvPr/>
        </p:nvSpPr>
        <p:spPr>
          <a:xfrm>
            <a:off x="8229600" y="5806440"/>
            <a:ext cx="91440" cy="91440"/>
          </a:xfrm>
          <a:prstGeom prst="ellipse">
            <a:avLst/>
          </a:prstGeom>
          <a:solidFill>
            <a:srgbClr val="0D1B2A">
              <a:alpha val="45000"/>
            </a:srgbClr>
          </a:solidFill>
          <a:ln w="12700">
            <a:solidFill>
              <a:srgbClr val="0D1B2A"/>
            </a:solidFill>
            <a:prstDash val="solid"/>
          </a:ln>
        </p:spPr>
      </p:sp>
      <p:sp>
        <p:nvSpPr>
          <p:cNvPr id="40" name="Shape 38"/>
          <p:cNvSpPr/>
          <p:nvPr/>
        </p:nvSpPr>
        <p:spPr>
          <a:xfrm>
            <a:off x="8869680" y="5806440"/>
            <a:ext cx="91440" cy="91440"/>
          </a:xfrm>
          <a:prstGeom prst="ellipse">
            <a:avLst/>
          </a:prstGeom>
          <a:solidFill>
            <a:srgbClr val="0D1B2A">
              <a:alpha val="45000"/>
            </a:srgbClr>
          </a:solidFill>
          <a:ln w="12700">
            <a:solidFill>
              <a:srgbClr val="0D1B2A"/>
            </a:solidFill>
            <a:prstDash val="solid"/>
          </a:ln>
        </p:spPr>
      </p:sp>
      <p:sp>
        <p:nvSpPr>
          <p:cNvPr id="41" name="Shape 39"/>
          <p:cNvSpPr/>
          <p:nvPr/>
        </p:nvSpPr>
        <p:spPr>
          <a:xfrm>
            <a:off x="9509760" y="5806440"/>
            <a:ext cx="91440" cy="91440"/>
          </a:xfrm>
          <a:prstGeom prst="ellipse">
            <a:avLst/>
          </a:prstGeom>
          <a:solidFill>
            <a:srgbClr val="0D1B2A">
              <a:alpha val="45000"/>
            </a:srgbClr>
          </a:solidFill>
          <a:ln w="12700">
            <a:solidFill>
              <a:srgbClr val="0D1B2A"/>
            </a:solidFill>
            <a:prstDash val="solid"/>
          </a:ln>
        </p:spPr>
      </p:sp>
      <p:sp>
        <p:nvSpPr>
          <p:cNvPr id="42" name="Shape 40"/>
          <p:cNvSpPr/>
          <p:nvPr/>
        </p:nvSpPr>
        <p:spPr>
          <a:xfrm>
            <a:off x="10149840" y="5806440"/>
            <a:ext cx="91440" cy="91440"/>
          </a:xfrm>
          <a:prstGeom prst="ellipse">
            <a:avLst/>
          </a:prstGeom>
          <a:solidFill>
            <a:srgbClr val="0D1B2A">
              <a:alpha val="45000"/>
            </a:srgbClr>
          </a:solidFill>
          <a:ln w="12700">
            <a:solidFill>
              <a:srgbClr val="0D1B2A"/>
            </a:solidFill>
            <a:prstDash val="solid"/>
          </a:ln>
        </p:spPr>
      </p:sp>
      <p:sp>
        <p:nvSpPr>
          <p:cNvPr id="43" name="Shape 41"/>
          <p:cNvSpPr/>
          <p:nvPr/>
        </p:nvSpPr>
        <p:spPr>
          <a:xfrm>
            <a:off x="10789920" y="5806440"/>
            <a:ext cx="91440" cy="91440"/>
          </a:xfrm>
          <a:prstGeom prst="ellipse">
            <a:avLst/>
          </a:prstGeom>
          <a:solidFill>
            <a:srgbClr val="0D1B2A">
              <a:alpha val="45000"/>
            </a:srgbClr>
          </a:solidFill>
          <a:ln w="12700">
            <a:solidFill>
              <a:srgbClr val="0D1B2A"/>
            </a:solidFill>
            <a:prstDash val="solid"/>
          </a:ln>
        </p:spPr>
      </p:sp>
      <p:sp>
        <p:nvSpPr>
          <p:cNvPr id="44" name="Shape 42"/>
          <p:cNvSpPr/>
          <p:nvPr/>
        </p:nvSpPr>
        <p:spPr>
          <a:xfrm>
            <a:off x="8503920" y="457200"/>
            <a:ext cx="2743200" cy="2743200"/>
          </a:xfrm>
          <a:prstGeom prst="ellipse">
            <a:avLst/>
          </a:prstGeom>
          <a:solidFill>
            <a:srgbClr val="0D1B2A">
              <a:alpha val="22000"/>
            </a:srgbClr>
          </a:solidFill>
          <a:ln w="12700">
            <a:solidFill>
              <a:srgbClr val="0D1B2A"/>
            </a:solidFill>
            <a:prstDash val="solid"/>
          </a:ln>
        </p:spPr>
      </p:sp>
      <p:sp>
        <p:nvSpPr>
          <p:cNvPr id="45" name="Shape 43"/>
          <p:cNvSpPr/>
          <p:nvPr/>
        </p:nvSpPr>
        <p:spPr>
          <a:xfrm>
            <a:off x="9601200" y="3474720"/>
            <a:ext cx="1645920" cy="1645920"/>
          </a:xfrm>
          <a:prstGeom prst="ellipse">
            <a:avLst/>
          </a:prstGeom>
          <a:solidFill>
            <a:srgbClr val="0D1B2A">
              <a:alpha val="30000"/>
            </a:srgbClr>
          </a:solidFill>
          <a:ln w="12700">
            <a:solidFill>
              <a:srgbClr val="0D1B2A"/>
            </a:solidFill>
            <a:prstDash val="solid"/>
          </a:ln>
        </p:spPr>
      </p:sp>
      <p:sp>
        <p:nvSpPr>
          <p:cNvPr id="46" name="Text 44"/>
          <p:cNvSpPr/>
          <p:nvPr/>
        </p:nvSpPr>
        <p:spPr>
          <a:xfrm>
            <a:off x="548640" y="1005840"/>
            <a:ext cx="6858000" cy="347472"/>
          </a:xfrm>
          <a:prstGeom prst="rect">
            <a:avLst/>
          </a:prstGeom>
          <a:noFill/>
          <a:ln/>
        </p:spPr>
        <p:txBody>
          <a:bodyPr wrap="square" lIns="0" tIns="0" rIns="0" bIns="0" rtlCol="0" anchor="ctr"/>
          <a:lstStyle/>
          <a:p>
            <a:pPr marL="0" indent="0">
              <a:buNone/>
            </a:pPr>
            <a:r>
              <a:rPr lang="en-US" sz="1200" b="1" kern="0" spc="500" dirty="0">
                <a:solidFill>
                  <a:srgbClr val="F39C12"/>
                </a:solidFill>
                <a:latin typeface="Calibri" pitchFamily="34" charset="0"/>
                <a:ea typeface="Calibri" pitchFamily="34" charset="-122"/>
                <a:cs typeface="Calibri" pitchFamily="34" charset="-120"/>
              </a:rPr>
              <a:t>E-COMMERCE</a:t>
            </a:r>
            <a:endParaRPr lang="en-US" sz="1200" dirty="0"/>
          </a:p>
        </p:txBody>
      </p:sp>
      <p:sp>
        <p:nvSpPr>
          <p:cNvPr id="47" name="Text 45"/>
          <p:cNvSpPr/>
          <p:nvPr/>
        </p:nvSpPr>
        <p:spPr>
          <a:xfrm>
            <a:off x="548640" y="1417320"/>
            <a:ext cx="6949440" cy="2377440"/>
          </a:xfrm>
          <a:prstGeom prst="rect">
            <a:avLst/>
          </a:prstGeom>
          <a:noFill/>
          <a:ln/>
        </p:spPr>
        <p:txBody>
          <a:bodyPr wrap="square" lIns="0" tIns="0" rIns="0" bIns="0" rtlCol="0" anchor="t"/>
          <a:lstStyle/>
          <a:p>
            <a:pPr marL="0" indent="0">
              <a:buNone/>
            </a:pPr>
            <a:r>
              <a:rPr lang="en-US" sz="4600" b="1" dirty="0">
                <a:solidFill>
                  <a:srgbClr val="FFFFFF"/>
                </a:solidFill>
                <a:latin typeface="Georgia" pitchFamily="34" charset="0"/>
                <a:ea typeface="Georgia" pitchFamily="34" charset="-122"/>
                <a:cs typeface="Georgia" pitchFamily="34" charset="-120"/>
              </a:rPr>
              <a:t>Customer Behavior</a:t>
            </a:r>
            <a:endParaRPr lang="en-US" sz="4600" dirty="0"/>
          </a:p>
          <a:p>
            <a:pPr marL="0" indent="0">
              <a:buNone/>
            </a:pPr>
            <a:r>
              <a:rPr lang="en-US" sz="4600" b="1" dirty="0">
                <a:solidFill>
                  <a:srgbClr val="FFFFFF"/>
                </a:solidFill>
                <a:latin typeface="Georgia" pitchFamily="34" charset="0"/>
                <a:ea typeface="Georgia" pitchFamily="34" charset="-122"/>
                <a:cs typeface="Georgia" pitchFamily="34" charset="-120"/>
              </a:rPr>
              <a:t>Analytics</a:t>
            </a:r>
            <a:endParaRPr lang="en-US" sz="4600" dirty="0"/>
          </a:p>
        </p:txBody>
      </p:sp>
      <p:sp>
        <p:nvSpPr>
          <p:cNvPr id="48" name="Text 46"/>
          <p:cNvSpPr/>
          <p:nvPr/>
        </p:nvSpPr>
        <p:spPr>
          <a:xfrm>
            <a:off x="548640" y="3467248"/>
            <a:ext cx="6858000" cy="1005840"/>
          </a:xfrm>
          <a:prstGeom prst="rect">
            <a:avLst/>
          </a:prstGeom>
          <a:noFill/>
          <a:ln/>
        </p:spPr>
        <p:txBody>
          <a:bodyPr wrap="square" lIns="0" tIns="0" rIns="0" bIns="0" rtlCol="0" anchor="t"/>
          <a:lstStyle/>
          <a:p>
            <a:pPr marL="0" indent="0">
              <a:buNone/>
            </a:pPr>
            <a:r>
              <a:rPr lang="en-US" sz="1300" b="1" dirty="0">
                <a:solidFill>
                  <a:srgbClr val="A8C6D0"/>
                </a:solidFill>
                <a:latin typeface="Calibri" pitchFamily="34" charset="0"/>
                <a:ea typeface="Calibri" pitchFamily="34" charset="-122"/>
                <a:cs typeface="Calibri" pitchFamily="34" charset="-120"/>
              </a:rPr>
              <a:t>A complete study of 20,000 customer records — who buys, what they buy,</a:t>
            </a:r>
            <a:endParaRPr lang="en-US" sz="1300" b="1" dirty="0"/>
          </a:p>
          <a:p>
            <a:pPr marL="0" indent="0">
              <a:buNone/>
            </a:pPr>
            <a:r>
              <a:rPr lang="en-US" sz="1300" b="1" dirty="0">
                <a:solidFill>
                  <a:srgbClr val="A8C6D0"/>
                </a:solidFill>
                <a:latin typeface="Calibri" pitchFamily="34" charset="0"/>
                <a:ea typeface="Calibri" pitchFamily="34" charset="-122"/>
                <a:cs typeface="Calibri" pitchFamily="34" charset="-120"/>
              </a:rPr>
              <a:t>how they pay, and what we can do to grow sales.</a:t>
            </a:r>
            <a:endParaRPr lang="en-US" sz="1300" b="1" dirty="0"/>
          </a:p>
        </p:txBody>
      </p:sp>
      <p:sp>
        <p:nvSpPr>
          <p:cNvPr id="65" name="Text 1">
            <a:extLst>
              <a:ext uri="{FF2B5EF4-FFF2-40B4-BE49-F238E27FC236}">
                <a16:creationId xmlns:a16="http://schemas.microsoft.com/office/drawing/2014/main" id="{8D1D0C9A-6CED-A7C5-FC7F-08C9E4B905D4}"/>
              </a:ext>
            </a:extLst>
          </p:cNvPr>
          <p:cNvSpPr/>
          <p:nvPr/>
        </p:nvSpPr>
        <p:spPr>
          <a:xfrm>
            <a:off x="8080777" y="6338753"/>
            <a:ext cx="3713118" cy="475860"/>
          </a:xfrm>
          <a:prstGeom prst="rect">
            <a:avLst/>
          </a:prstGeom>
          <a:noFill/>
          <a:ln/>
        </p:spPr>
        <p:txBody>
          <a:bodyPr wrap="square" lIns="0" tIns="0" rIns="0" bIns="0" rtlCol="0" anchor="ctr"/>
          <a:lstStyle/>
          <a:p>
            <a:r>
              <a:rPr lang="en-US" sz="1600" b="1" dirty="0">
                <a:solidFill>
                  <a:srgbClr val="0D1B2A"/>
                </a:solidFill>
                <a:latin typeface="Goudy Old Style" panose="02020502050305020303" pitchFamily="18" charset="0"/>
                <a:ea typeface="Georgia" pitchFamily="34" charset="-122"/>
                <a:cs typeface="Georgia" pitchFamily="34" charset="-120"/>
              </a:rPr>
              <a:t>Prepared By : Hiren Vaghela</a:t>
            </a:r>
            <a:endParaRPr lang="en-US" sz="1600" b="1" dirty="0">
              <a:latin typeface="Goudy Old Style" panose="02020502050305020303" pitchFamily="18" charset="0"/>
            </a:endParaRPr>
          </a:p>
        </p:txBody>
      </p:sp>
      <p:sp>
        <p:nvSpPr>
          <p:cNvPr id="66" name="Text 44">
            <a:extLst>
              <a:ext uri="{FF2B5EF4-FFF2-40B4-BE49-F238E27FC236}">
                <a16:creationId xmlns:a16="http://schemas.microsoft.com/office/drawing/2014/main" id="{6AA0EC48-85F4-1B00-D3A3-9E242414CD15}"/>
              </a:ext>
            </a:extLst>
          </p:cNvPr>
          <p:cNvSpPr/>
          <p:nvPr/>
        </p:nvSpPr>
        <p:spPr>
          <a:xfrm>
            <a:off x="548640" y="4335313"/>
            <a:ext cx="6858000" cy="347472"/>
          </a:xfrm>
          <a:prstGeom prst="rect">
            <a:avLst/>
          </a:prstGeom>
          <a:noFill/>
          <a:ln/>
        </p:spPr>
        <p:txBody>
          <a:bodyPr wrap="square" lIns="0" tIns="0" rIns="0" bIns="0" rtlCol="0" anchor="ctr"/>
          <a:lstStyle/>
          <a:p>
            <a:pPr marL="0" indent="0">
              <a:buNone/>
            </a:pPr>
            <a:endParaRPr lang="en-US" sz="1200" dirty="0"/>
          </a:p>
        </p:txBody>
      </p:sp>
      <p:sp>
        <p:nvSpPr>
          <p:cNvPr id="67" name="Text 29">
            <a:extLst>
              <a:ext uri="{FF2B5EF4-FFF2-40B4-BE49-F238E27FC236}">
                <a16:creationId xmlns:a16="http://schemas.microsoft.com/office/drawing/2014/main" id="{59B1ECD5-992B-4CF6-FD88-8C8860D7299B}"/>
              </a:ext>
            </a:extLst>
          </p:cNvPr>
          <p:cNvSpPr/>
          <p:nvPr/>
        </p:nvSpPr>
        <p:spPr>
          <a:xfrm>
            <a:off x="388157" y="6268960"/>
            <a:ext cx="6949440" cy="576072"/>
          </a:xfrm>
          <a:prstGeom prst="rect">
            <a:avLst/>
          </a:prstGeom>
          <a:noFill/>
          <a:ln/>
        </p:spPr>
        <p:txBody>
          <a:bodyPr wrap="square" lIns="0" tIns="0" rIns="0" bIns="0" rtlCol="0" anchor="ctr"/>
          <a:lstStyle/>
          <a:p>
            <a:pPr algn="ctr"/>
            <a:r>
              <a:rPr lang="en-US" sz="1400" b="1" dirty="0">
                <a:solidFill>
                  <a:schemeClr val="bg1">
                    <a:lumMod val="50000"/>
                  </a:schemeClr>
                </a:solidFill>
                <a:latin typeface="Goudy Old Style" panose="02020502050305020303" pitchFamily="18" charset="0"/>
                <a:ea typeface="Georgia" pitchFamily="34" charset="-122"/>
                <a:cs typeface="Georgia" pitchFamily="34" charset="-120"/>
              </a:rPr>
              <a:t>PYTHON | JUPYTER NOTEBOOK | NUMPY | PANDAS | MATPLOTLIB | SEABORN</a:t>
            </a:r>
            <a:endParaRPr lang="en-US" sz="1400" dirty="0">
              <a:solidFill>
                <a:schemeClr val="bg1">
                  <a:lumMod val="50000"/>
                </a:schemeClr>
              </a:solidFill>
              <a:latin typeface="Goudy Old Style" panose="02020502050305020303" pitchFamily="18" charset="0"/>
            </a:endParaRP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B4F72"/>
          </a:solidFill>
          <a:ln w="12700">
            <a:solidFill>
              <a:srgbClr val="1B4F72"/>
            </a:solidFill>
            <a:prstDash val="solid"/>
          </a:ln>
        </p:spPr>
      </p:sp>
      <p:sp>
        <p:nvSpPr>
          <p:cNvPr id="3" name="Text 1"/>
          <p:cNvSpPr/>
          <p:nvPr/>
        </p:nvSpPr>
        <p:spPr>
          <a:xfrm>
            <a:off x="411480" y="0"/>
            <a:ext cx="9875520" cy="96012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Dataset Overview</a:t>
            </a:r>
            <a:endParaRPr lang="en-US" sz="2600" dirty="0"/>
          </a:p>
        </p:txBody>
      </p:sp>
      <p:sp>
        <p:nvSpPr>
          <p:cNvPr id="4" name="Text 2"/>
          <p:cNvSpPr/>
          <p:nvPr/>
        </p:nvSpPr>
        <p:spPr>
          <a:xfrm>
            <a:off x="9966960" y="0"/>
            <a:ext cx="2011680" cy="960120"/>
          </a:xfrm>
          <a:prstGeom prst="rect">
            <a:avLst/>
          </a:prstGeom>
          <a:noFill/>
          <a:ln/>
        </p:spPr>
        <p:txBody>
          <a:bodyPr wrap="square" lIns="0" tIns="0" rIns="0" bIns="0" rtlCol="0" anchor="ctr"/>
          <a:lstStyle/>
          <a:p>
            <a:pPr marL="0" indent="0" algn="r">
              <a:buNone/>
            </a:pPr>
            <a:r>
              <a:rPr lang="en-US" sz="900" b="1" kern="0" spc="250" dirty="0">
                <a:solidFill>
                  <a:srgbClr val="1ABC9C"/>
                </a:solidFill>
                <a:latin typeface="Calibri" pitchFamily="34" charset="0"/>
                <a:ea typeface="Calibri" pitchFamily="34" charset="-122"/>
                <a:cs typeface="Calibri" pitchFamily="34" charset="-120"/>
              </a:rPr>
              <a:t>SECTION 01</a:t>
            </a:r>
            <a:endParaRPr lang="en-US" sz="900" dirty="0"/>
          </a:p>
        </p:txBody>
      </p:sp>
      <p:sp>
        <p:nvSpPr>
          <p:cNvPr id="5" name="Shape 3"/>
          <p:cNvSpPr/>
          <p:nvPr/>
        </p:nvSpPr>
        <p:spPr>
          <a:xfrm>
            <a:off x="365760" y="1051560"/>
            <a:ext cx="2697480" cy="1417320"/>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6" name="Shape 4"/>
          <p:cNvSpPr/>
          <p:nvPr/>
        </p:nvSpPr>
        <p:spPr>
          <a:xfrm>
            <a:off x="365760" y="1051560"/>
            <a:ext cx="2697480" cy="50292"/>
          </a:xfrm>
          <a:prstGeom prst="rect">
            <a:avLst/>
          </a:prstGeom>
          <a:solidFill>
            <a:srgbClr val="1ABC9C"/>
          </a:solidFill>
          <a:ln w="12700">
            <a:solidFill>
              <a:srgbClr val="1ABC9C"/>
            </a:solidFill>
            <a:prstDash val="solid"/>
          </a:ln>
        </p:spPr>
      </p:sp>
      <p:sp>
        <p:nvSpPr>
          <p:cNvPr id="7" name="Text 5"/>
          <p:cNvSpPr/>
          <p:nvPr/>
        </p:nvSpPr>
        <p:spPr>
          <a:xfrm>
            <a:off x="530352" y="1216152"/>
            <a:ext cx="2377440" cy="685800"/>
          </a:xfrm>
          <a:prstGeom prst="rect">
            <a:avLst/>
          </a:prstGeom>
          <a:noFill/>
          <a:ln/>
        </p:spPr>
        <p:txBody>
          <a:bodyPr wrap="square" lIns="0" tIns="0" rIns="0" bIns="0" rtlCol="0" anchor="ctr"/>
          <a:lstStyle/>
          <a:p>
            <a:pPr marL="0" indent="0">
              <a:buNone/>
            </a:pPr>
            <a:r>
              <a:rPr lang="en-US" sz="3000" b="1" dirty="0">
                <a:solidFill>
                  <a:srgbClr val="1ABC9C"/>
                </a:solidFill>
                <a:latin typeface="Georgia" pitchFamily="34" charset="0"/>
                <a:ea typeface="Georgia" pitchFamily="34" charset="-122"/>
                <a:cs typeface="Georgia" pitchFamily="34" charset="-120"/>
              </a:rPr>
              <a:t>20,000</a:t>
            </a:r>
            <a:endParaRPr lang="en-US" sz="3000" dirty="0"/>
          </a:p>
        </p:txBody>
      </p:sp>
      <p:sp>
        <p:nvSpPr>
          <p:cNvPr id="8" name="Text 6"/>
          <p:cNvSpPr/>
          <p:nvPr/>
        </p:nvSpPr>
        <p:spPr>
          <a:xfrm>
            <a:off x="530352" y="1920240"/>
            <a:ext cx="2377440" cy="438912"/>
          </a:xfrm>
          <a:prstGeom prst="rect">
            <a:avLst/>
          </a:prstGeom>
          <a:noFill/>
          <a:ln/>
        </p:spPr>
        <p:txBody>
          <a:bodyPr wrap="square" lIns="0" tIns="0" rIns="0" bIns="0" rtlCol="0" anchor="ctr"/>
          <a:lstStyle/>
          <a:p>
            <a:pPr marL="0" indent="0">
              <a:buNone/>
            </a:pPr>
            <a:r>
              <a:rPr lang="en-US" sz="1400" b="1" dirty="0">
                <a:solidFill>
                  <a:schemeClr val="tx1">
                    <a:lumMod val="65000"/>
                    <a:lumOff val="35000"/>
                  </a:schemeClr>
                </a:solidFill>
                <a:latin typeface="Calibri" pitchFamily="34" charset="0"/>
                <a:ea typeface="Calibri" pitchFamily="34" charset="-122"/>
                <a:cs typeface="Calibri" pitchFamily="34" charset="-120"/>
              </a:rPr>
              <a:t>Total Customers</a:t>
            </a:r>
            <a:endParaRPr lang="en-US" sz="1400" b="1" dirty="0">
              <a:solidFill>
                <a:schemeClr val="tx1">
                  <a:lumMod val="65000"/>
                  <a:lumOff val="35000"/>
                </a:schemeClr>
              </a:solidFill>
            </a:endParaRPr>
          </a:p>
        </p:txBody>
      </p:sp>
      <p:sp>
        <p:nvSpPr>
          <p:cNvPr id="9" name="Shape 7"/>
          <p:cNvSpPr/>
          <p:nvPr/>
        </p:nvSpPr>
        <p:spPr>
          <a:xfrm>
            <a:off x="4297680" y="1051560"/>
            <a:ext cx="2697480" cy="1417320"/>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10" name="Shape 8"/>
          <p:cNvSpPr/>
          <p:nvPr/>
        </p:nvSpPr>
        <p:spPr>
          <a:xfrm>
            <a:off x="4297680" y="1051560"/>
            <a:ext cx="2697480" cy="50292"/>
          </a:xfrm>
          <a:prstGeom prst="rect">
            <a:avLst/>
          </a:prstGeom>
          <a:solidFill>
            <a:srgbClr val="1B4F72"/>
          </a:solidFill>
          <a:ln w="12700">
            <a:solidFill>
              <a:srgbClr val="1B4F72"/>
            </a:solidFill>
            <a:prstDash val="solid"/>
          </a:ln>
        </p:spPr>
      </p:sp>
      <p:sp>
        <p:nvSpPr>
          <p:cNvPr id="11" name="Text 9"/>
          <p:cNvSpPr/>
          <p:nvPr/>
        </p:nvSpPr>
        <p:spPr>
          <a:xfrm>
            <a:off x="4462272" y="1216152"/>
            <a:ext cx="2377440" cy="685800"/>
          </a:xfrm>
          <a:prstGeom prst="rect">
            <a:avLst/>
          </a:prstGeom>
          <a:noFill/>
          <a:ln/>
        </p:spPr>
        <p:txBody>
          <a:bodyPr wrap="square" lIns="0" tIns="0" rIns="0" bIns="0" rtlCol="0" anchor="ctr"/>
          <a:lstStyle/>
          <a:p>
            <a:pPr marL="0" indent="0">
              <a:buNone/>
            </a:pPr>
            <a:r>
              <a:rPr lang="en-US" sz="3000" b="1" dirty="0">
                <a:solidFill>
                  <a:srgbClr val="1B4F72"/>
                </a:solidFill>
                <a:latin typeface="Georgia" pitchFamily="34" charset="0"/>
                <a:ea typeface="Georgia" pitchFamily="34" charset="-122"/>
                <a:cs typeface="Georgia" pitchFamily="34" charset="-120"/>
              </a:rPr>
              <a:t>27</a:t>
            </a:r>
            <a:endParaRPr lang="en-US" sz="3000" dirty="0"/>
          </a:p>
        </p:txBody>
      </p:sp>
      <p:sp>
        <p:nvSpPr>
          <p:cNvPr id="12" name="Text 10"/>
          <p:cNvSpPr/>
          <p:nvPr/>
        </p:nvSpPr>
        <p:spPr>
          <a:xfrm>
            <a:off x="4462272" y="1920240"/>
            <a:ext cx="2377440" cy="438912"/>
          </a:xfrm>
          <a:prstGeom prst="rect">
            <a:avLst/>
          </a:prstGeom>
          <a:noFill/>
          <a:ln/>
        </p:spPr>
        <p:txBody>
          <a:bodyPr wrap="square" lIns="0" tIns="0" rIns="0" bIns="0" rtlCol="0" anchor="ctr"/>
          <a:lstStyle/>
          <a:p>
            <a:r>
              <a:rPr lang="en-US" sz="1400" b="1" dirty="0">
                <a:solidFill>
                  <a:schemeClr val="tx1">
                    <a:lumMod val="65000"/>
                    <a:lumOff val="35000"/>
                  </a:schemeClr>
                </a:solidFill>
                <a:latin typeface="Calibri" pitchFamily="34" charset="0"/>
                <a:ea typeface="Calibri" pitchFamily="34" charset="-122"/>
                <a:cs typeface="Calibri" pitchFamily="34" charset="-120"/>
              </a:rPr>
              <a:t>Data Columns</a:t>
            </a:r>
          </a:p>
        </p:txBody>
      </p:sp>
      <p:sp>
        <p:nvSpPr>
          <p:cNvPr id="13" name="Shape 11"/>
          <p:cNvSpPr/>
          <p:nvPr/>
        </p:nvSpPr>
        <p:spPr>
          <a:xfrm>
            <a:off x="8229600" y="1051560"/>
            <a:ext cx="2697480" cy="1417320"/>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14" name="Shape 12"/>
          <p:cNvSpPr/>
          <p:nvPr/>
        </p:nvSpPr>
        <p:spPr>
          <a:xfrm>
            <a:off x="8229600" y="1051560"/>
            <a:ext cx="2697480" cy="50292"/>
          </a:xfrm>
          <a:prstGeom prst="rect">
            <a:avLst/>
          </a:prstGeom>
          <a:solidFill>
            <a:srgbClr val="F39C12"/>
          </a:solidFill>
          <a:ln w="12700">
            <a:solidFill>
              <a:srgbClr val="F39C12"/>
            </a:solidFill>
            <a:prstDash val="solid"/>
          </a:ln>
        </p:spPr>
      </p:sp>
      <p:sp>
        <p:nvSpPr>
          <p:cNvPr id="15" name="Text 13"/>
          <p:cNvSpPr/>
          <p:nvPr/>
        </p:nvSpPr>
        <p:spPr>
          <a:xfrm>
            <a:off x="8394192" y="1216152"/>
            <a:ext cx="2377440" cy="685800"/>
          </a:xfrm>
          <a:prstGeom prst="rect">
            <a:avLst/>
          </a:prstGeom>
          <a:noFill/>
          <a:ln/>
        </p:spPr>
        <p:txBody>
          <a:bodyPr wrap="square" lIns="0" tIns="0" rIns="0" bIns="0" rtlCol="0" anchor="ctr"/>
          <a:lstStyle/>
          <a:p>
            <a:pPr marL="0" indent="0">
              <a:buNone/>
            </a:pPr>
            <a:r>
              <a:rPr lang="en-US" sz="3000" b="1" dirty="0">
                <a:solidFill>
                  <a:srgbClr val="F39C12"/>
                </a:solidFill>
                <a:latin typeface="Georgia" pitchFamily="34" charset="0"/>
                <a:ea typeface="Georgia" pitchFamily="34" charset="-122"/>
                <a:cs typeface="Georgia" pitchFamily="34" charset="-120"/>
              </a:rPr>
              <a:t>$4.49M</a:t>
            </a:r>
            <a:endParaRPr lang="en-US" sz="3000" dirty="0"/>
          </a:p>
        </p:txBody>
      </p:sp>
      <p:sp>
        <p:nvSpPr>
          <p:cNvPr id="16" name="Text 14"/>
          <p:cNvSpPr/>
          <p:nvPr/>
        </p:nvSpPr>
        <p:spPr>
          <a:xfrm>
            <a:off x="8394192" y="1920240"/>
            <a:ext cx="2377440" cy="438912"/>
          </a:xfrm>
          <a:prstGeom prst="rect">
            <a:avLst/>
          </a:prstGeom>
          <a:noFill/>
          <a:ln/>
        </p:spPr>
        <p:txBody>
          <a:bodyPr wrap="square" lIns="0" tIns="0" rIns="0" bIns="0" rtlCol="0" anchor="ctr"/>
          <a:lstStyle/>
          <a:p>
            <a:r>
              <a:rPr lang="en-US" sz="1400" b="1" dirty="0">
                <a:solidFill>
                  <a:schemeClr val="tx1">
                    <a:lumMod val="65000"/>
                    <a:lumOff val="35000"/>
                  </a:schemeClr>
                </a:solidFill>
                <a:latin typeface="Calibri" pitchFamily="34" charset="0"/>
                <a:ea typeface="Calibri" pitchFamily="34" charset="-122"/>
                <a:cs typeface="Calibri" pitchFamily="34" charset="-120"/>
              </a:rPr>
              <a:t>Total Revenue</a:t>
            </a:r>
          </a:p>
        </p:txBody>
      </p:sp>
      <p:sp>
        <p:nvSpPr>
          <p:cNvPr id="17" name="Shape 15"/>
          <p:cNvSpPr/>
          <p:nvPr/>
        </p:nvSpPr>
        <p:spPr>
          <a:xfrm>
            <a:off x="365760" y="2633472"/>
            <a:ext cx="2697480" cy="1417320"/>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18" name="Shape 16"/>
          <p:cNvSpPr/>
          <p:nvPr/>
        </p:nvSpPr>
        <p:spPr>
          <a:xfrm>
            <a:off x="365760" y="2633472"/>
            <a:ext cx="2697480" cy="50292"/>
          </a:xfrm>
          <a:prstGeom prst="rect">
            <a:avLst/>
          </a:prstGeom>
          <a:solidFill>
            <a:srgbClr val="1ABC9C"/>
          </a:solidFill>
          <a:ln w="12700">
            <a:solidFill>
              <a:srgbClr val="1ABC9C"/>
            </a:solidFill>
            <a:prstDash val="solid"/>
          </a:ln>
        </p:spPr>
      </p:sp>
      <p:sp>
        <p:nvSpPr>
          <p:cNvPr id="19" name="Text 17"/>
          <p:cNvSpPr/>
          <p:nvPr/>
        </p:nvSpPr>
        <p:spPr>
          <a:xfrm>
            <a:off x="530352" y="2798064"/>
            <a:ext cx="2377440" cy="685800"/>
          </a:xfrm>
          <a:prstGeom prst="rect">
            <a:avLst/>
          </a:prstGeom>
          <a:noFill/>
          <a:ln/>
        </p:spPr>
        <p:txBody>
          <a:bodyPr wrap="square" lIns="0" tIns="0" rIns="0" bIns="0" rtlCol="0" anchor="ctr"/>
          <a:lstStyle/>
          <a:p>
            <a:pPr marL="0" indent="0">
              <a:buNone/>
            </a:pPr>
            <a:r>
              <a:rPr lang="en-US" sz="3000" b="1" dirty="0">
                <a:solidFill>
                  <a:srgbClr val="1ABC9C"/>
                </a:solidFill>
                <a:latin typeface="Georgia" pitchFamily="34" charset="0"/>
                <a:ea typeface="Georgia" pitchFamily="34" charset="-122"/>
                <a:cs typeface="Georgia" pitchFamily="34" charset="-120"/>
              </a:rPr>
              <a:t>$109.14</a:t>
            </a:r>
            <a:endParaRPr lang="en-US" sz="3000" dirty="0"/>
          </a:p>
        </p:txBody>
      </p:sp>
      <p:sp>
        <p:nvSpPr>
          <p:cNvPr id="20" name="Text 18"/>
          <p:cNvSpPr/>
          <p:nvPr/>
        </p:nvSpPr>
        <p:spPr>
          <a:xfrm>
            <a:off x="530352" y="3502152"/>
            <a:ext cx="2377440" cy="438912"/>
          </a:xfrm>
          <a:prstGeom prst="rect">
            <a:avLst/>
          </a:prstGeom>
          <a:noFill/>
          <a:ln/>
        </p:spPr>
        <p:txBody>
          <a:bodyPr wrap="square" lIns="0" tIns="0" rIns="0" bIns="0" rtlCol="0" anchor="ctr"/>
          <a:lstStyle/>
          <a:p>
            <a:r>
              <a:rPr lang="en-US" sz="1400" b="1" dirty="0">
                <a:solidFill>
                  <a:schemeClr val="tx1">
                    <a:lumMod val="65000"/>
                    <a:lumOff val="35000"/>
                  </a:schemeClr>
                </a:solidFill>
                <a:latin typeface="Calibri" pitchFamily="34" charset="0"/>
                <a:ea typeface="Calibri" pitchFamily="34" charset="-122"/>
                <a:cs typeface="Calibri" pitchFamily="34" charset="-120"/>
              </a:rPr>
              <a:t>Avg Order Value</a:t>
            </a:r>
          </a:p>
        </p:txBody>
      </p:sp>
      <p:sp>
        <p:nvSpPr>
          <p:cNvPr id="21" name="Shape 19"/>
          <p:cNvSpPr/>
          <p:nvPr/>
        </p:nvSpPr>
        <p:spPr>
          <a:xfrm>
            <a:off x="4297680" y="2633472"/>
            <a:ext cx="2697480" cy="1417320"/>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22" name="Shape 20"/>
          <p:cNvSpPr/>
          <p:nvPr/>
        </p:nvSpPr>
        <p:spPr>
          <a:xfrm>
            <a:off x="4297680" y="2633472"/>
            <a:ext cx="2697480" cy="50292"/>
          </a:xfrm>
          <a:prstGeom prst="rect">
            <a:avLst/>
          </a:prstGeom>
          <a:solidFill>
            <a:srgbClr val="1B4F72"/>
          </a:solidFill>
          <a:ln w="12700">
            <a:solidFill>
              <a:srgbClr val="1B4F72"/>
            </a:solidFill>
            <a:prstDash val="solid"/>
          </a:ln>
        </p:spPr>
      </p:sp>
      <p:sp>
        <p:nvSpPr>
          <p:cNvPr id="23" name="Text 21"/>
          <p:cNvSpPr/>
          <p:nvPr/>
        </p:nvSpPr>
        <p:spPr>
          <a:xfrm>
            <a:off x="4462272" y="2798064"/>
            <a:ext cx="2377440" cy="685800"/>
          </a:xfrm>
          <a:prstGeom prst="rect">
            <a:avLst/>
          </a:prstGeom>
          <a:noFill/>
          <a:ln/>
        </p:spPr>
        <p:txBody>
          <a:bodyPr wrap="square" lIns="0" tIns="0" rIns="0" bIns="0" rtlCol="0" anchor="ctr"/>
          <a:lstStyle/>
          <a:p>
            <a:pPr marL="0" indent="0">
              <a:buNone/>
            </a:pPr>
            <a:r>
              <a:rPr lang="en-US" sz="3000" b="1" dirty="0">
                <a:solidFill>
                  <a:srgbClr val="1B4F72"/>
                </a:solidFill>
                <a:latin typeface="Georgia" pitchFamily="34" charset="0"/>
                <a:ea typeface="Georgia" pitchFamily="34" charset="-122"/>
                <a:cs typeface="Georgia" pitchFamily="34" charset="-120"/>
              </a:rPr>
              <a:t>33,580</a:t>
            </a:r>
            <a:endParaRPr lang="en-US" sz="3000" dirty="0"/>
          </a:p>
        </p:txBody>
      </p:sp>
      <p:sp>
        <p:nvSpPr>
          <p:cNvPr id="24" name="Text 22"/>
          <p:cNvSpPr/>
          <p:nvPr/>
        </p:nvSpPr>
        <p:spPr>
          <a:xfrm>
            <a:off x="4462272" y="3502152"/>
            <a:ext cx="2377440" cy="438912"/>
          </a:xfrm>
          <a:prstGeom prst="rect">
            <a:avLst/>
          </a:prstGeom>
          <a:noFill/>
          <a:ln/>
        </p:spPr>
        <p:txBody>
          <a:bodyPr wrap="square" lIns="0" tIns="0" rIns="0" bIns="0" rtlCol="0" anchor="ctr"/>
          <a:lstStyle/>
          <a:p>
            <a:r>
              <a:rPr lang="en-US" sz="1400" b="1" dirty="0">
                <a:solidFill>
                  <a:schemeClr val="tx1">
                    <a:lumMod val="65000"/>
                    <a:lumOff val="35000"/>
                  </a:schemeClr>
                </a:solidFill>
                <a:latin typeface="Calibri" pitchFamily="34" charset="0"/>
                <a:ea typeface="Calibri" pitchFamily="34" charset="-122"/>
                <a:cs typeface="Calibri" pitchFamily="34" charset="-120"/>
              </a:rPr>
              <a:t>Total Orders Placed</a:t>
            </a:r>
          </a:p>
        </p:txBody>
      </p:sp>
      <p:sp>
        <p:nvSpPr>
          <p:cNvPr id="25" name="Shape 23"/>
          <p:cNvSpPr/>
          <p:nvPr/>
        </p:nvSpPr>
        <p:spPr>
          <a:xfrm>
            <a:off x="8229600" y="2633472"/>
            <a:ext cx="2697480" cy="1417320"/>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26" name="Shape 24"/>
          <p:cNvSpPr/>
          <p:nvPr/>
        </p:nvSpPr>
        <p:spPr>
          <a:xfrm>
            <a:off x="8229600" y="2633472"/>
            <a:ext cx="2697480" cy="50292"/>
          </a:xfrm>
          <a:prstGeom prst="rect">
            <a:avLst/>
          </a:prstGeom>
          <a:solidFill>
            <a:srgbClr val="F39C12"/>
          </a:solidFill>
          <a:ln w="12700">
            <a:solidFill>
              <a:srgbClr val="F39C12"/>
            </a:solidFill>
            <a:prstDash val="solid"/>
          </a:ln>
        </p:spPr>
      </p:sp>
      <p:sp>
        <p:nvSpPr>
          <p:cNvPr id="27" name="Text 25"/>
          <p:cNvSpPr/>
          <p:nvPr/>
        </p:nvSpPr>
        <p:spPr>
          <a:xfrm>
            <a:off x="8394192" y="2798064"/>
            <a:ext cx="2377440" cy="685800"/>
          </a:xfrm>
          <a:prstGeom prst="rect">
            <a:avLst/>
          </a:prstGeom>
          <a:noFill/>
          <a:ln/>
        </p:spPr>
        <p:txBody>
          <a:bodyPr wrap="square" lIns="0" tIns="0" rIns="0" bIns="0" rtlCol="0" anchor="ctr"/>
          <a:lstStyle/>
          <a:p>
            <a:pPr marL="0" indent="0">
              <a:buNone/>
            </a:pPr>
            <a:r>
              <a:rPr lang="en-US" sz="3000" b="1" dirty="0">
                <a:solidFill>
                  <a:srgbClr val="F39C12"/>
                </a:solidFill>
                <a:latin typeface="Georgia" pitchFamily="34" charset="0"/>
                <a:ea typeface="Georgia" pitchFamily="34" charset="-122"/>
                <a:cs typeface="Georgia" pitchFamily="34" charset="-120"/>
              </a:rPr>
              <a:t>16,268</a:t>
            </a:r>
            <a:endParaRPr lang="en-US" sz="3000" dirty="0"/>
          </a:p>
        </p:txBody>
      </p:sp>
      <p:sp>
        <p:nvSpPr>
          <p:cNvPr id="28" name="Text 26"/>
          <p:cNvSpPr/>
          <p:nvPr/>
        </p:nvSpPr>
        <p:spPr>
          <a:xfrm>
            <a:off x="8394192" y="3502152"/>
            <a:ext cx="2377440" cy="438912"/>
          </a:xfrm>
          <a:prstGeom prst="rect">
            <a:avLst/>
          </a:prstGeom>
          <a:noFill/>
          <a:ln/>
        </p:spPr>
        <p:txBody>
          <a:bodyPr wrap="square" lIns="0" tIns="0" rIns="0" bIns="0" rtlCol="0" anchor="ctr"/>
          <a:lstStyle/>
          <a:p>
            <a:r>
              <a:rPr lang="en-US" sz="1400" b="1" dirty="0">
                <a:solidFill>
                  <a:schemeClr val="tx1">
                    <a:lumMod val="65000"/>
                    <a:lumOff val="35000"/>
                  </a:schemeClr>
                </a:solidFill>
                <a:latin typeface="Calibri" pitchFamily="34" charset="0"/>
                <a:ea typeface="Calibri" pitchFamily="34" charset="-122"/>
                <a:cs typeface="Calibri" pitchFamily="34" charset="-120"/>
              </a:rPr>
              <a:t>Active Buyers (81.3%)</a:t>
            </a:r>
          </a:p>
        </p:txBody>
      </p:sp>
      <p:sp>
        <p:nvSpPr>
          <p:cNvPr id="29" name="Shape 27"/>
          <p:cNvSpPr/>
          <p:nvPr/>
        </p:nvSpPr>
        <p:spPr>
          <a:xfrm>
            <a:off x="365760" y="4325112"/>
            <a:ext cx="7296912" cy="2514600"/>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30" name="Shape 28"/>
          <p:cNvSpPr/>
          <p:nvPr/>
        </p:nvSpPr>
        <p:spPr>
          <a:xfrm>
            <a:off x="365760" y="4325112"/>
            <a:ext cx="7296912" cy="50292"/>
          </a:xfrm>
          <a:prstGeom prst="rect">
            <a:avLst/>
          </a:prstGeom>
          <a:solidFill>
            <a:srgbClr val="1B4F72"/>
          </a:solidFill>
          <a:ln w="12700">
            <a:solidFill>
              <a:srgbClr val="1B4F72"/>
            </a:solidFill>
            <a:prstDash val="solid"/>
          </a:ln>
        </p:spPr>
      </p:sp>
      <p:sp>
        <p:nvSpPr>
          <p:cNvPr id="31" name="Text 29"/>
          <p:cNvSpPr/>
          <p:nvPr/>
        </p:nvSpPr>
        <p:spPr>
          <a:xfrm>
            <a:off x="566928" y="4453128"/>
            <a:ext cx="6949440" cy="365760"/>
          </a:xfrm>
          <a:prstGeom prst="rect">
            <a:avLst/>
          </a:prstGeom>
          <a:noFill/>
          <a:ln/>
        </p:spPr>
        <p:txBody>
          <a:bodyPr wrap="square" lIns="0" tIns="0" rIns="0" bIns="0" rtlCol="0" anchor="ctr"/>
          <a:lstStyle/>
          <a:p>
            <a:pPr marL="0" indent="0">
              <a:buNone/>
            </a:pPr>
            <a:r>
              <a:rPr lang="en-US" sz="1400" b="1" dirty="0">
                <a:solidFill>
                  <a:srgbClr val="2C3E50"/>
                </a:solidFill>
                <a:latin typeface="Georgia" pitchFamily="34" charset="0"/>
                <a:ea typeface="Georgia" pitchFamily="34" charset="-122"/>
                <a:cs typeface="Georgia" pitchFamily="34" charset="-120"/>
              </a:rPr>
              <a:t>What is this dataset?</a:t>
            </a:r>
            <a:endParaRPr lang="en-US" sz="1400" dirty="0"/>
          </a:p>
        </p:txBody>
      </p:sp>
      <p:sp>
        <p:nvSpPr>
          <p:cNvPr id="32" name="Text 30"/>
          <p:cNvSpPr/>
          <p:nvPr/>
        </p:nvSpPr>
        <p:spPr>
          <a:xfrm>
            <a:off x="566928" y="4873752"/>
            <a:ext cx="6949440" cy="1810512"/>
          </a:xfrm>
          <a:prstGeom prst="rect">
            <a:avLst/>
          </a:prstGeom>
          <a:noFill/>
          <a:ln/>
        </p:spPr>
        <p:txBody>
          <a:bodyPr wrap="square" lIns="0" tIns="0" rIns="0" bIns="0" rtlCol="0" anchor="t"/>
          <a:lstStyle/>
          <a:p>
            <a:pPr marL="0" indent="0">
              <a:buNone/>
            </a:pPr>
            <a:r>
              <a:rPr lang="en-US" sz="1400" b="1" dirty="0">
                <a:solidFill>
                  <a:schemeClr val="tx1">
                    <a:lumMod val="65000"/>
                    <a:lumOff val="35000"/>
                  </a:schemeClr>
                </a:solidFill>
                <a:latin typeface="Calibri" pitchFamily="34" charset="0"/>
                <a:ea typeface="Calibri" pitchFamily="34" charset="-122"/>
                <a:cs typeface="Calibri" pitchFamily="34" charset="-120"/>
              </a:rPr>
              <a:t>This dataset has 20,000 customer records collected from a Kaggle. Each record tells us about a customer's age, country, how they shop, what they buy, how much they spend, and how loyal they are. The data covers the years 2020–2025 from 17 countries. It helps us understand customer behavior and find ways to improve sales and customer experience.</a:t>
            </a:r>
            <a:endParaRPr lang="en-US" sz="1400" b="1" dirty="0">
              <a:solidFill>
                <a:schemeClr val="tx1">
                  <a:lumMod val="65000"/>
                  <a:lumOff val="35000"/>
                </a:schemeClr>
              </a:solidFill>
            </a:endParaRPr>
          </a:p>
        </p:txBody>
      </p:sp>
      <p:sp>
        <p:nvSpPr>
          <p:cNvPr id="33" name="Shape 31"/>
          <p:cNvSpPr/>
          <p:nvPr/>
        </p:nvSpPr>
        <p:spPr>
          <a:xfrm>
            <a:off x="7863840" y="4325112"/>
            <a:ext cx="3950208" cy="2514600"/>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34" name="Shape 32"/>
          <p:cNvSpPr/>
          <p:nvPr/>
        </p:nvSpPr>
        <p:spPr>
          <a:xfrm>
            <a:off x="7863840" y="4325112"/>
            <a:ext cx="3950208" cy="50292"/>
          </a:xfrm>
          <a:prstGeom prst="rect">
            <a:avLst/>
          </a:prstGeom>
          <a:solidFill>
            <a:srgbClr val="1ABC9C"/>
          </a:solidFill>
          <a:ln w="12700">
            <a:solidFill>
              <a:srgbClr val="1ABC9C"/>
            </a:solidFill>
            <a:prstDash val="solid"/>
          </a:ln>
        </p:spPr>
      </p:sp>
      <p:sp>
        <p:nvSpPr>
          <p:cNvPr id="35" name="Text 33"/>
          <p:cNvSpPr/>
          <p:nvPr/>
        </p:nvSpPr>
        <p:spPr>
          <a:xfrm>
            <a:off x="8046720" y="4453128"/>
            <a:ext cx="3566160" cy="365760"/>
          </a:xfrm>
          <a:prstGeom prst="rect">
            <a:avLst/>
          </a:prstGeom>
          <a:noFill/>
          <a:ln/>
        </p:spPr>
        <p:txBody>
          <a:bodyPr wrap="square" lIns="0" tIns="0" rIns="0" bIns="0" rtlCol="0" anchor="ctr"/>
          <a:lstStyle/>
          <a:p>
            <a:pPr marL="0" indent="0">
              <a:buNone/>
            </a:pPr>
            <a:r>
              <a:rPr lang="en-US" sz="1400" b="1" dirty="0">
                <a:solidFill>
                  <a:srgbClr val="2C3E50"/>
                </a:solidFill>
                <a:latin typeface="Georgia" pitchFamily="34" charset="0"/>
                <a:ea typeface="Georgia" pitchFamily="34" charset="-122"/>
                <a:cs typeface="Georgia" pitchFamily="34" charset="-120"/>
              </a:rPr>
              <a:t>What data is included?</a:t>
            </a:r>
            <a:endParaRPr lang="en-US" sz="1400" dirty="0"/>
          </a:p>
        </p:txBody>
      </p:sp>
      <p:sp>
        <p:nvSpPr>
          <p:cNvPr id="36" name="Text 34"/>
          <p:cNvSpPr/>
          <p:nvPr/>
        </p:nvSpPr>
        <p:spPr>
          <a:xfrm>
            <a:off x="8046720" y="4873752"/>
            <a:ext cx="3566160" cy="1828800"/>
          </a:xfrm>
          <a:prstGeom prst="rect">
            <a:avLst/>
          </a:prstGeom>
          <a:noFill/>
          <a:ln/>
        </p:spPr>
        <p:txBody>
          <a:bodyPr wrap="square" lIns="0" tIns="0" rIns="0" bIns="0" rtlCol="0" anchor="t"/>
          <a:lstStyle/>
          <a:p>
            <a:pPr marL="342900" indent="-342900">
              <a:buSzPct val="100000"/>
              <a:buChar char="•"/>
            </a:pPr>
            <a:r>
              <a:rPr lang="en-US" sz="1400" dirty="0">
                <a:solidFill>
                  <a:srgbClr val="2C3E50"/>
                </a:solidFill>
                <a:latin typeface="Calibri" pitchFamily="34" charset="0"/>
                <a:ea typeface="Calibri" pitchFamily="34" charset="-122"/>
                <a:cs typeface="Calibri" pitchFamily="34" charset="-120"/>
              </a:rPr>
              <a:t>Age, country, age group</a:t>
            </a:r>
            <a:endParaRPr lang="en-US" sz="1400" dirty="0"/>
          </a:p>
          <a:p>
            <a:pPr marL="342900" indent="-342900">
              <a:buSzPct val="100000"/>
              <a:buChar char="•"/>
            </a:pPr>
            <a:r>
              <a:rPr lang="en-US" sz="1400" dirty="0">
                <a:solidFill>
                  <a:srgbClr val="2C3E50"/>
                </a:solidFill>
                <a:latin typeface="Calibri" pitchFamily="34" charset="0"/>
                <a:ea typeface="Calibri" pitchFamily="34" charset="-122"/>
                <a:cs typeface="Calibri" pitchFamily="34" charset="-120"/>
              </a:rPr>
              <a:t>Number of orders &amp; total spend</a:t>
            </a:r>
            <a:endParaRPr lang="en-US" sz="1400" dirty="0"/>
          </a:p>
          <a:p>
            <a:pPr marL="342900" indent="-342900">
              <a:buSzPct val="100000"/>
              <a:buChar char="•"/>
            </a:pPr>
            <a:r>
              <a:rPr lang="en-US" sz="1400" dirty="0">
                <a:solidFill>
                  <a:srgbClr val="2C3E50"/>
                </a:solidFill>
                <a:latin typeface="Calibri" pitchFamily="34" charset="0"/>
                <a:ea typeface="Calibri" pitchFamily="34" charset="-122"/>
                <a:cs typeface="Calibri" pitchFamily="34" charset="-120"/>
              </a:rPr>
              <a:t>Session behavior &amp; device used</a:t>
            </a:r>
            <a:endParaRPr lang="en-US" sz="1400" dirty="0"/>
          </a:p>
          <a:p>
            <a:pPr marL="342900" indent="-342900">
              <a:buSzPct val="100000"/>
              <a:buChar char="•"/>
            </a:pPr>
            <a:r>
              <a:rPr lang="en-US" sz="1400" dirty="0">
                <a:solidFill>
                  <a:srgbClr val="2C3E50"/>
                </a:solidFill>
                <a:latin typeface="Calibri" pitchFamily="34" charset="0"/>
                <a:ea typeface="Calibri" pitchFamily="34" charset="-122"/>
                <a:cs typeface="Calibri" pitchFamily="34" charset="-120"/>
              </a:rPr>
              <a:t>Payment method preference</a:t>
            </a:r>
            <a:endParaRPr lang="en-US" sz="1400" dirty="0"/>
          </a:p>
          <a:p>
            <a:pPr marL="342900" indent="-342900">
              <a:buSzPct val="100000"/>
              <a:buChar char="•"/>
            </a:pPr>
            <a:r>
              <a:rPr lang="en-US" sz="1400" dirty="0">
                <a:solidFill>
                  <a:srgbClr val="2C3E50"/>
                </a:solidFill>
                <a:latin typeface="Calibri" pitchFamily="34" charset="0"/>
                <a:ea typeface="Calibri" pitchFamily="34" charset="-122"/>
                <a:cs typeface="Calibri" pitchFamily="34" charset="-120"/>
              </a:rPr>
              <a:t>Top product category bought</a:t>
            </a:r>
            <a:endParaRPr lang="en-US" sz="1400" dirty="0"/>
          </a:p>
          <a:p>
            <a:pPr marL="342900" indent="-342900">
              <a:buSzPct val="100000"/>
              <a:buChar char="•"/>
            </a:pPr>
            <a:r>
              <a:rPr lang="en-US" sz="1400" dirty="0">
                <a:solidFill>
                  <a:srgbClr val="2C3E50"/>
                </a:solidFill>
                <a:latin typeface="Calibri" pitchFamily="34" charset="0"/>
                <a:ea typeface="Calibri" pitchFamily="34" charset="-122"/>
                <a:cs typeface="Calibri" pitchFamily="34" charset="-120"/>
              </a:rPr>
              <a:t>Cart abandonment status</a:t>
            </a:r>
            <a:endParaRPr lang="en-US" sz="1400" dirty="0"/>
          </a:p>
          <a:p>
            <a:pPr marL="342900" indent="-342900">
              <a:buSzPct val="100000"/>
              <a:buChar char="•"/>
            </a:pPr>
            <a:r>
              <a:rPr lang="en-US" sz="1400" dirty="0">
                <a:solidFill>
                  <a:srgbClr val="2C3E50"/>
                </a:solidFill>
                <a:latin typeface="Calibri" pitchFamily="34" charset="0"/>
                <a:ea typeface="Calibri" pitchFamily="34" charset="-122"/>
                <a:cs typeface="Calibri" pitchFamily="34" charset="-120"/>
              </a:rPr>
              <a:t>Customer loyalty (CLV) tier</a:t>
            </a:r>
            <a:endParaRPr lang="en-US" sz="1400" dirty="0"/>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B4F72"/>
          </a:solidFill>
          <a:ln w="12700">
            <a:solidFill>
              <a:srgbClr val="1B4F72"/>
            </a:solidFill>
            <a:prstDash val="solid"/>
          </a:ln>
        </p:spPr>
      </p:sp>
      <p:sp>
        <p:nvSpPr>
          <p:cNvPr id="3" name="Text 1"/>
          <p:cNvSpPr/>
          <p:nvPr/>
        </p:nvSpPr>
        <p:spPr>
          <a:xfrm>
            <a:off x="411480" y="0"/>
            <a:ext cx="9875520" cy="96012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What Are We Trying to Find Out?</a:t>
            </a:r>
            <a:endParaRPr lang="en-US" sz="2600" dirty="0"/>
          </a:p>
        </p:txBody>
      </p:sp>
      <p:sp>
        <p:nvSpPr>
          <p:cNvPr id="4" name="Text 2"/>
          <p:cNvSpPr/>
          <p:nvPr/>
        </p:nvSpPr>
        <p:spPr>
          <a:xfrm>
            <a:off x="9966960" y="0"/>
            <a:ext cx="2011680" cy="960120"/>
          </a:xfrm>
          <a:prstGeom prst="rect">
            <a:avLst/>
          </a:prstGeom>
          <a:noFill/>
          <a:ln/>
        </p:spPr>
        <p:txBody>
          <a:bodyPr wrap="square" lIns="0" tIns="0" rIns="0" bIns="0" rtlCol="0" anchor="ctr"/>
          <a:lstStyle/>
          <a:p>
            <a:pPr marL="0" indent="0" algn="r">
              <a:buNone/>
            </a:pPr>
            <a:r>
              <a:rPr lang="en-US" sz="900" b="1" kern="0" spc="250" dirty="0">
                <a:solidFill>
                  <a:srgbClr val="1ABC9C"/>
                </a:solidFill>
                <a:latin typeface="Calibri" pitchFamily="34" charset="0"/>
                <a:ea typeface="Calibri" pitchFamily="34" charset="-122"/>
                <a:cs typeface="Calibri" pitchFamily="34" charset="-120"/>
              </a:rPr>
              <a:t>SECTION 02 · OBJECTIVES</a:t>
            </a:r>
            <a:endParaRPr lang="en-US" sz="900" dirty="0"/>
          </a:p>
        </p:txBody>
      </p:sp>
      <p:sp>
        <p:nvSpPr>
          <p:cNvPr id="5" name="Shape 3"/>
          <p:cNvSpPr/>
          <p:nvPr/>
        </p:nvSpPr>
        <p:spPr>
          <a:xfrm>
            <a:off x="365760" y="1051560"/>
            <a:ext cx="5650992" cy="1691640"/>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txBody>
          <a:bodyPr/>
          <a:lstStyle/>
          <a:p>
            <a:endParaRPr lang="en-US" dirty="0"/>
          </a:p>
        </p:txBody>
      </p:sp>
      <p:sp>
        <p:nvSpPr>
          <p:cNvPr id="6" name="Shape 4"/>
          <p:cNvSpPr/>
          <p:nvPr/>
        </p:nvSpPr>
        <p:spPr>
          <a:xfrm>
            <a:off x="365760" y="1051560"/>
            <a:ext cx="5650992" cy="50292"/>
          </a:xfrm>
          <a:prstGeom prst="rect">
            <a:avLst/>
          </a:prstGeom>
          <a:solidFill>
            <a:srgbClr val="1ABC9C"/>
          </a:solidFill>
          <a:ln w="12700">
            <a:solidFill>
              <a:srgbClr val="1ABC9C"/>
            </a:solidFill>
            <a:prstDash val="solid"/>
          </a:ln>
        </p:spPr>
      </p:sp>
      <p:sp>
        <p:nvSpPr>
          <p:cNvPr id="7" name="Shape 5"/>
          <p:cNvSpPr/>
          <p:nvPr/>
        </p:nvSpPr>
        <p:spPr>
          <a:xfrm>
            <a:off x="548640" y="1280160"/>
            <a:ext cx="566928" cy="566928"/>
          </a:xfrm>
          <a:prstGeom prst="ellipse">
            <a:avLst/>
          </a:prstGeom>
          <a:solidFill>
            <a:srgbClr val="1ABC9C">
              <a:alpha val="18000"/>
            </a:srgbClr>
          </a:solidFill>
          <a:ln w="12700">
            <a:solidFill>
              <a:srgbClr val="1ABC9C"/>
            </a:solidFill>
            <a:prstDash val="solid"/>
          </a:ln>
        </p:spPr>
      </p:sp>
      <p:sp>
        <p:nvSpPr>
          <p:cNvPr id="8" name="Text 6"/>
          <p:cNvSpPr/>
          <p:nvPr/>
        </p:nvSpPr>
        <p:spPr>
          <a:xfrm>
            <a:off x="548640" y="1280160"/>
            <a:ext cx="566928" cy="56692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9" name="Text 7"/>
          <p:cNvSpPr/>
          <p:nvPr/>
        </p:nvSpPr>
        <p:spPr>
          <a:xfrm>
            <a:off x="1280160" y="1216152"/>
            <a:ext cx="4572000" cy="402336"/>
          </a:xfrm>
          <a:prstGeom prst="rect">
            <a:avLst/>
          </a:prstGeom>
          <a:noFill/>
          <a:ln/>
        </p:spPr>
        <p:txBody>
          <a:bodyPr wrap="square" lIns="0" tIns="0" rIns="0" bIns="0" rtlCol="0" anchor="ctr"/>
          <a:lstStyle/>
          <a:p>
            <a:pPr marL="0" indent="0">
              <a:buNone/>
            </a:pPr>
            <a:r>
              <a:rPr lang="en-US" sz="1350" b="1" dirty="0">
                <a:solidFill>
                  <a:srgbClr val="2C3E50"/>
                </a:solidFill>
                <a:latin typeface="Georgia" pitchFamily="34" charset="0"/>
                <a:ea typeface="Georgia" pitchFamily="34" charset="-122"/>
                <a:cs typeface="Georgia" pitchFamily="34" charset="-120"/>
              </a:rPr>
              <a:t>Who buys and who doesn't?</a:t>
            </a:r>
            <a:endParaRPr lang="en-US" sz="1350" dirty="0"/>
          </a:p>
        </p:txBody>
      </p:sp>
      <p:sp>
        <p:nvSpPr>
          <p:cNvPr id="10" name="Text 8"/>
          <p:cNvSpPr/>
          <p:nvPr/>
        </p:nvSpPr>
        <p:spPr>
          <a:xfrm>
            <a:off x="1280160" y="1673352"/>
            <a:ext cx="4572000" cy="896112"/>
          </a:xfrm>
          <a:prstGeom prst="rect">
            <a:avLst/>
          </a:prstGeom>
          <a:noFill/>
          <a:ln/>
        </p:spPr>
        <p:txBody>
          <a:bodyPr wrap="square" lIns="0" tIns="0" rIns="0" bIns="0" rtlCol="0" anchor="t"/>
          <a:lstStyle/>
          <a:p>
            <a:pPr marL="0" indent="0">
              <a:buNone/>
            </a:pPr>
            <a:r>
              <a:rPr lang="en-US" sz="1400" b="1" dirty="0">
                <a:latin typeface="Calibri" pitchFamily="34" charset="0"/>
                <a:ea typeface="Calibri" pitchFamily="34" charset="-122"/>
                <a:cs typeface="Calibri" pitchFamily="34" charset="-120"/>
              </a:rPr>
              <a:t>We want to understand which customers actually make purchases and which ones just browse without buying.</a:t>
            </a:r>
            <a:endParaRPr lang="en-US" sz="1400" b="1" dirty="0"/>
          </a:p>
        </p:txBody>
      </p:sp>
      <p:sp>
        <p:nvSpPr>
          <p:cNvPr id="11" name="Shape 9"/>
          <p:cNvSpPr/>
          <p:nvPr/>
        </p:nvSpPr>
        <p:spPr>
          <a:xfrm>
            <a:off x="6309360" y="1051560"/>
            <a:ext cx="5650992" cy="1691640"/>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12" name="Shape 10"/>
          <p:cNvSpPr/>
          <p:nvPr/>
        </p:nvSpPr>
        <p:spPr>
          <a:xfrm>
            <a:off x="6309360" y="1051560"/>
            <a:ext cx="5650992" cy="50292"/>
          </a:xfrm>
          <a:prstGeom prst="rect">
            <a:avLst/>
          </a:prstGeom>
          <a:solidFill>
            <a:srgbClr val="F39C12"/>
          </a:solidFill>
          <a:ln w="12700">
            <a:solidFill>
              <a:srgbClr val="F39C12"/>
            </a:solidFill>
            <a:prstDash val="solid"/>
          </a:ln>
        </p:spPr>
      </p:sp>
      <p:sp>
        <p:nvSpPr>
          <p:cNvPr id="13" name="Shape 11"/>
          <p:cNvSpPr/>
          <p:nvPr/>
        </p:nvSpPr>
        <p:spPr>
          <a:xfrm>
            <a:off x="6492240" y="1280160"/>
            <a:ext cx="566928" cy="566928"/>
          </a:xfrm>
          <a:prstGeom prst="ellipse">
            <a:avLst/>
          </a:prstGeom>
          <a:solidFill>
            <a:srgbClr val="F39C12">
              <a:alpha val="18000"/>
            </a:srgbClr>
          </a:solidFill>
          <a:ln w="12700">
            <a:solidFill>
              <a:srgbClr val="F39C12"/>
            </a:solidFill>
            <a:prstDash val="solid"/>
          </a:ln>
        </p:spPr>
      </p:sp>
      <p:sp>
        <p:nvSpPr>
          <p:cNvPr id="14" name="Text 12"/>
          <p:cNvSpPr/>
          <p:nvPr/>
        </p:nvSpPr>
        <p:spPr>
          <a:xfrm>
            <a:off x="6492240" y="1280160"/>
            <a:ext cx="566928" cy="56692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5" name="Text 13"/>
          <p:cNvSpPr/>
          <p:nvPr/>
        </p:nvSpPr>
        <p:spPr>
          <a:xfrm>
            <a:off x="7223760" y="1216152"/>
            <a:ext cx="4572000" cy="402336"/>
          </a:xfrm>
          <a:prstGeom prst="rect">
            <a:avLst/>
          </a:prstGeom>
          <a:noFill/>
          <a:ln/>
        </p:spPr>
        <p:txBody>
          <a:bodyPr wrap="square" lIns="0" tIns="0" rIns="0" bIns="0" rtlCol="0" anchor="ctr"/>
          <a:lstStyle/>
          <a:p>
            <a:pPr marL="0" indent="0">
              <a:buNone/>
            </a:pPr>
            <a:r>
              <a:rPr lang="en-US" sz="1350" b="1" dirty="0">
                <a:solidFill>
                  <a:srgbClr val="2C3E50"/>
                </a:solidFill>
                <a:latin typeface="Georgia" pitchFamily="34" charset="0"/>
                <a:ea typeface="Georgia" pitchFamily="34" charset="-122"/>
                <a:cs typeface="Georgia" pitchFamily="34" charset="-120"/>
              </a:rPr>
              <a:t>Which products make the most money?</a:t>
            </a:r>
            <a:endParaRPr lang="en-US" sz="1350" dirty="0"/>
          </a:p>
        </p:txBody>
      </p:sp>
      <p:sp>
        <p:nvSpPr>
          <p:cNvPr id="16" name="Text 14"/>
          <p:cNvSpPr/>
          <p:nvPr/>
        </p:nvSpPr>
        <p:spPr>
          <a:xfrm>
            <a:off x="7223760" y="1673352"/>
            <a:ext cx="4572000" cy="896112"/>
          </a:xfrm>
          <a:prstGeom prst="rect">
            <a:avLst/>
          </a:prstGeom>
          <a:noFill/>
          <a:ln/>
        </p:spPr>
        <p:txBody>
          <a:bodyPr wrap="square" lIns="0" tIns="0" rIns="0" bIns="0" rtlCol="0" anchor="t"/>
          <a:lstStyle/>
          <a:p>
            <a:r>
              <a:rPr lang="en-US" sz="1400" b="1" dirty="0">
                <a:latin typeface="Calibri" pitchFamily="34" charset="0"/>
                <a:ea typeface="Calibri" pitchFamily="34" charset="-122"/>
                <a:cs typeface="Calibri" pitchFamily="34" charset="-120"/>
              </a:rPr>
              <a:t>We want to know which product categories bring in the most revenue so the business can focus on those.</a:t>
            </a:r>
          </a:p>
        </p:txBody>
      </p:sp>
      <p:sp>
        <p:nvSpPr>
          <p:cNvPr id="17" name="Shape 15"/>
          <p:cNvSpPr/>
          <p:nvPr/>
        </p:nvSpPr>
        <p:spPr>
          <a:xfrm>
            <a:off x="365760" y="2926080"/>
            <a:ext cx="5650992" cy="1691640"/>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18" name="Shape 16"/>
          <p:cNvSpPr/>
          <p:nvPr/>
        </p:nvSpPr>
        <p:spPr>
          <a:xfrm>
            <a:off x="365760" y="2926080"/>
            <a:ext cx="5650992" cy="50292"/>
          </a:xfrm>
          <a:prstGeom prst="rect">
            <a:avLst/>
          </a:prstGeom>
          <a:solidFill>
            <a:srgbClr val="1B4F72"/>
          </a:solidFill>
          <a:ln w="12700">
            <a:solidFill>
              <a:srgbClr val="1B4F72"/>
            </a:solidFill>
            <a:prstDash val="solid"/>
          </a:ln>
        </p:spPr>
      </p:sp>
      <p:sp>
        <p:nvSpPr>
          <p:cNvPr id="19" name="Shape 17"/>
          <p:cNvSpPr/>
          <p:nvPr/>
        </p:nvSpPr>
        <p:spPr>
          <a:xfrm>
            <a:off x="548640" y="3154680"/>
            <a:ext cx="566928" cy="566928"/>
          </a:xfrm>
          <a:prstGeom prst="ellipse">
            <a:avLst/>
          </a:prstGeom>
          <a:solidFill>
            <a:srgbClr val="1B4F72">
              <a:alpha val="18000"/>
            </a:srgbClr>
          </a:solidFill>
          <a:ln w="12700">
            <a:solidFill>
              <a:srgbClr val="1B4F72"/>
            </a:solidFill>
            <a:prstDash val="solid"/>
          </a:ln>
        </p:spPr>
      </p:sp>
      <p:sp>
        <p:nvSpPr>
          <p:cNvPr id="20" name="Text 18"/>
          <p:cNvSpPr/>
          <p:nvPr/>
        </p:nvSpPr>
        <p:spPr>
          <a:xfrm>
            <a:off x="548640" y="3154680"/>
            <a:ext cx="566928" cy="56692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1" name="Text 19"/>
          <p:cNvSpPr/>
          <p:nvPr/>
        </p:nvSpPr>
        <p:spPr>
          <a:xfrm>
            <a:off x="1280160" y="3090672"/>
            <a:ext cx="4572000" cy="402336"/>
          </a:xfrm>
          <a:prstGeom prst="rect">
            <a:avLst/>
          </a:prstGeom>
          <a:noFill/>
          <a:ln/>
        </p:spPr>
        <p:txBody>
          <a:bodyPr wrap="square" lIns="0" tIns="0" rIns="0" bIns="0" rtlCol="0" anchor="ctr"/>
          <a:lstStyle/>
          <a:p>
            <a:pPr marL="0" indent="0">
              <a:buNone/>
            </a:pPr>
            <a:r>
              <a:rPr lang="en-US" sz="1350" b="1" dirty="0">
                <a:solidFill>
                  <a:srgbClr val="2C3E50"/>
                </a:solidFill>
                <a:latin typeface="Georgia" pitchFamily="34" charset="0"/>
                <a:ea typeface="Georgia" pitchFamily="34" charset="-122"/>
                <a:cs typeface="Georgia" pitchFamily="34" charset="-120"/>
              </a:rPr>
              <a:t>How do customers prefer to shop?</a:t>
            </a:r>
            <a:endParaRPr lang="en-US" sz="1350" dirty="0"/>
          </a:p>
        </p:txBody>
      </p:sp>
      <p:sp>
        <p:nvSpPr>
          <p:cNvPr id="22" name="Text 20"/>
          <p:cNvSpPr/>
          <p:nvPr/>
        </p:nvSpPr>
        <p:spPr>
          <a:xfrm>
            <a:off x="1280160" y="3547872"/>
            <a:ext cx="4572000" cy="896112"/>
          </a:xfrm>
          <a:prstGeom prst="rect">
            <a:avLst/>
          </a:prstGeom>
          <a:noFill/>
          <a:ln/>
        </p:spPr>
        <p:txBody>
          <a:bodyPr wrap="square" lIns="0" tIns="0" rIns="0" bIns="0" rtlCol="0" anchor="t"/>
          <a:lstStyle/>
          <a:p>
            <a:pPr marL="0" indent="0">
              <a:buNone/>
            </a:pPr>
            <a:r>
              <a:rPr lang="en-US" sz="1400" b="1" dirty="0">
                <a:latin typeface="Calibri" pitchFamily="34" charset="0"/>
                <a:ea typeface="Calibri" pitchFamily="34" charset="-122"/>
                <a:cs typeface="Calibri" pitchFamily="34" charset="-120"/>
              </a:rPr>
              <a:t>We want to learn which payment methods and devices customers use most so we can make their experience smoother.</a:t>
            </a:r>
          </a:p>
        </p:txBody>
      </p:sp>
      <p:sp>
        <p:nvSpPr>
          <p:cNvPr id="23" name="Shape 21"/>
          <p:cNvSpPr/>
          <p:nvPr/>
        </p:nvSpPr>
        <p:spPr>
          <a:xfrm>
            <a:off x="6309360" y="2926080"/>
            <a:ext cx="5650992" cy="1691640"/>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24" name="Shape 22"/>
          <p:cNvSpPr/>
          <p:nvPr/>
        </p:nvSpPr>
        <p:spPr>
          <a:xfrm>
            <a:off x="6309360" y="2926080"/>
            <a:ext cx="5650992" cy="50292"/>
          </a:xfrm>
          <a:prstGeom prst="rect">
            <a:avLst/>
          </a:prstGeom>
          <a:solidFill>
            <a:srgbClr val="1ABC9C"/>
          </a:solidFill>
          <a:ln w="12700">
            <a:solidFill>
              <a:srgbClr val="1ABC9C"/>
            </a:solidFill>
            <a:prstDash val="solid"/>
          </a:ln>
        </p:spPr>
      </p:sp>
      <p:sp>
        <p:nvSpPr>
          <p:cNvPr id="25" name="Shape 23"/>
          <p:cNvSpPr/>
          <p:nvPr/>
        </p:nvSpPr>
        <p:spPr>
          <a:xfrm>
            <a:off x="6492240" y="3154680"/>
            <a:ext cx="566928" cy="566928"/>
          </a:xfrm>
          <a:prstGeom prst="ellipse">
            <a:avLst/>
          </a:prstGeom>
          <a:solidFill>
            <a:srgbClr val="1ABC9C">
              <a:alpha val="18000"/>
            </a:srgbClr>
          </a:solidFill>
          <a:ln w="12700">
            <a:solidFill>
              <a:srgbClr val="1ABC9C"/>
            </a:solidFill>
            <a:prstDash val="solid"/>
          </a:ln>
        </p:spPr>
      </p:sp>
      <p:sp>
        <p:nvSpPr>
          <p:cNvPr id="26" name="Text 24"/>
          <p:cNvSpPr/>
          <p:nvPr/>
        </p:nvSpPr>
        <p:spPr>
          <a:xfrm>
            <a:off x="6492240" y="3154680"/>
            <a:ext cx="566928" cy="56692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7" name="Text 25"/>
          <p:cNvSpPr/>
          <p:nvPr/>
        </p:nvSpPr>
        <p:spPr>
          <a:xfrm>
            <a:off x="7223760" y="3090672"/>
            <a:ext cx="4572000" cy="402336"/>
          </a:xfrm>
          <a:prstGeom prst="rect">
            <a:avLst/>
          </a:prstGeom>
          <a:noFill/>
          <a:ln/>
        </p:spPr>
        <p:txBody>
          <a:bodyPr wrap="square" lIns="0" tIns="0" rIns="0" bIns="0" rtlCol="0" anchor="ctr"/>
          <a:lstStyle/>
          <a:p>
            <a:pPr marL="0" indent="0">
              <a:buNone/>
            </a:pPr>
            <a:r>
              <a:rPr lang="en-US" sz="1350" b="1" dirty="0">
                <a:solidFill>
                  <a:srgbClr val="2C3E50"/>
                </a:solidFill>
                <a:latin typeface="Georgia" pitchFamily="34" charset="0"/>
                <a:ea typeface="Georgia" pitchFamily="34" charset="-122"/>
                <a:cs typeface="Georgia" pitchFamily="34" charset="-120"/>
              </a:rPr>
              <a:t>Are customers coming back?</a:t>
            </a:r>
            <a:endParaRPr lang="en-US" sz="1350" dirty="0"/>
          </a:p>
        </p:txBody>
      </p:sp>
      <p:sp>
        <p:nvSpPr>
          <p:cNvPr id="28" name="Text 26"/>
          <p:cNvSpPr/>
          <p:nvPr/>
        </p:nvSpPr>
        <p:spPr>
          <a:xfrm>
            <a:off x="7223760" y="3547872"/>
            <a:ext cx="4572000" cy="896112"/>
          </a:xfrm>
          <a:prstGeom prst="rect">
            <a:avLst/>
          </a:prstGeom>
          <a:noFill/>
          <a:ln/>
        </p:spPr>
        <p:txBody>
          <a:bodyPr wrap="square" lIns="0" tIns="0" rIns="0" bIns="0" rtlCol="0" anchor="t"/>
          <a:lstStyle/>
          <a:p>
            <a:pPr marL="0" indent="0">
              <a:buNone/>
            </a:pPr>
            <a:r>
              <a:rPr lang="en-US" sz="1400" b="1" dirty="0">
                <a:latin typeface="Calibri" pitchFamily="34" charset="0"/>
                <a:ea typeface="Calibri" pitchFamily="34" charset="-122"/>
                <a:cs typeface="Calibri" pitchFamily="34" charset="-120"/>
              </a:rPr>
              <a:t>We need to measure how many customers return for repeat purchases and identify what makes them loyal.</a:t>
            </a:r>
          </a:p>
        </p:txBody>
      </p:sp>
      <p:sp>
        <p:nvSpPr>
          <p:cNvPr id="29" name="Shape 27"/>
          <p:cNvSpPr/>
          <p:nvPr/>
        </p:nvSpPr>
        <p:spPr>
          <a:xfrm>
            <a:off x="365760" y="4800600"/>
            <a:ext cx="5650992" cy="1691640"/>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30" name="Shape 28"/>
          <p:cNvSpPr/>
          <p:nvPr/>
        </p:nvSpPr>
        <p:spPr>
          <a:xfrm>
            <a:off x="365760" y="4800600"/>
            <a:ext cx="5650992" cy="50292"/>
          </a:xfrm>
          <a:prstGeom prst="rect">
            <a:avLst/>
          </a:prstGeom>
          <a:solidFill>
            <a:srgbClr val="F39C12"/>
          </a:solidFill>
          <a:ln w="12700">
            <a:solidFill>
              <a:srgbClr val="F39C12"/>
            </a:solidFill>
            <a:prstDash val="solid"/>
          </a:ln>
        </p:spPr>
      </p:sp>
      <p:sp>
        <p:nvSpPr>
          <p:cNvPr id="31" name="Shape 29"/>
          <p:cNvSpPr/>
          <p:nvPr/>
        </p:nvSpPr>
        <p:spPr>
          <a:xfrm>
            <a:off x="548640" y="5029200"/>
            <a:ext cx="566928" cy="566928"/>
          </a:xfrm>
          <a:prstGeom prst="ellipse">
            <a:avLst/>
          </a:prstGeom>
          <a:solidFill>
            <a:srgbClr val="F39C12">
              <a:alpha val="18000"/>
            </a:srgbClr>
          </a:solidFill>
          <a:ln w="12700">
            <a:solidFill>
              <a:srgbClr val="F39C12"/>
            </a:solidFill>
            <a:prstDash val="solid"/>
          </a:ln>
        </p:spPr>
      </p:sp>
      <p:sp>
        <p:nvSpPr>
          <p:cNvPr id="32" name="Text 30"/>
          <p:cNvSpPr/>
          <p:nvPr/>
        </p:nvSpPr>
        <p:spPr>
          <a:xfrm>
            <a:off x="548640" y="5029200"/>
            <a:ext cx="566928" cy="56692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33" name="Text 31"/>
          <p:cNvSpPr/>
          <p:nvPr/>
        </p:nvSpPr>
        <p:spPr>
          <a:xfrm>
            <a:off x="1280160" y="4965192"/>
            <a:ext cx="4572000" cy="402336"/>
          </a:xfrm>
          <a:prstGeom prst="rect">
            <a:avLst/>
          </a:prstGeom>
          <a:noFill/>
          <a:ln/>
        </p:spPr>
        <p:txBody>
          <a:bodyPr wrap="square" lIns="0" tIns="0" rIns="0" bIns="0" rtlCol="0" anchor="ctr"/>
          <a:lstStyle/>
          <a:p>
            <a:pPr marL="0" indent="0">
              <a:buNone/>
            </a:pPr>
            <a:r>
              <a:rPr lang="en-US" sz="1350" b="1" dirty="0">
                <a:solidFill>
                  <a:srgbClr val="2C3E50"/>
                </a:solidFill>
                <a:latin typeface="Georgia" pitchFamily="34" charset="0"/>
                <a:ea typeface="Georgia" pitchFamily="34" charset="-122"/>
                <a:cs typeface="Georgia" pitchFamily="34" charset="-120"/>
              </a:rPr>
              <a:t>Where are customers coming from?</a:t>
            </a:r>
            <a:endParaRPr lang="en-US" sz="1350" dirty="0"/>
          </a:p>
        </p:txBody>
      </p:sp>
      <p:sp>
        <p:nvSpPr>
          <p:cNvPr id="34" name="Text 32"/>
          <p:cNvSpPr/>
          <p:nvPr/>
        </p:nvSpPr>
        <p:spPr>
          <a:xfrm>
            <a:off x="1280160" y="5422392"/>
            <a:ext cx="4572000" cy="896112"/>
          </a:xfrm>
          <a:prstGeom prst="rect">
            <a:avLst/>
          </a:prstGeom>
          <a:noFill/>
          <a:ln/>
        </p:spPr>
        <p:txBody>
          <a:bodyPr wrap="square" lIns="0" tIns="0" rIns="0" bIns="0" rtlCol="0" anchor="t"/>
          <a:lstStyle/>
          <a:p>
            <a:pPr marL="0" indent="0">
              <a:buNone/>
            </a:pPr>
            <a:r>
              <a:rPr lang="en-US" sz="1400" b="1" dirty="0">
                <a:latin typeface="Calibri" pitchFamily="34" charset="0"/>
                <a:ea typeface="Calibri" pitchFamily="34" charset="-122"/>
                <a:cs typeface="Calibri" pitchFamily="34" charset="-120"/>
              </a:rPr>
              <a:t>We want to know which marketing channels (organic, social, email, etc.) bring in the most valuable customers.</a:t>
            </a:r>
          </a:p>
        </p:txBody>
      </p:sp>
      <p:sp>
        <p:nvSpPr>
          <p:cNvPr id="35" name="Shape 33"/>
          <p:cNvSpPr/>
          <p:nvPr/>
        </p:nvSpPr>
        <p:spPr>
          <a:xfrm>
            <a:off x="6309360" y="4800600"/>
            <a:ext cx="5650992" cy="1691640"/>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36" name="Shape 34"/>
          <p:cNvSpPr/>
          <p:nvPr/>
        </p:nvSpPr>
        <p:spPr>
          <a:xfrm>
            <a:off x="6309360" y="4800600"/>
            <a:ext cx="5650992" cy="50292"/>
          </a:xfrm>
          <a:prstGeom prst="rect">
            <a:avLst/>
          </a:prstGeom>
          <a:solidFill>
            <a:srgbClr val="1B4F72"/>
          </a:solidFill>
          <a:ln w="12700">
            <a:solidFill>
              <a:srgbClr val="1B4F72"/>
            </a:solidFill>
            <a:prstDash val="solid"/>
          </a:ln>
        </p:spPr>
      </p:sp>
      <p:sp>
        <p:nvSpPr>
          <p:cNvPr id="37" name="Shape 35"/>
          <p:cNvSpPr/>
          <p:nvPr/>
        </p:nvSpPr>
        <p:spPr>
          <a:xfrm>
            <a:off x="6492240" y="5029200"/>
            <a:ext cx="566928" cy="566928"/>
          </a:xfrm>
          <a:prstGeom prst="ellipse">
            <a:avLst/>
          </a:prstGeom>
          <a:solidFill>
            <a:srgbClr val="1B4F72">
              <a:alpha val="18000"/>
            </a:srgbClr>
          </a:solidFill>
          <a:ln w="12700">
            <a:solidFill>
              <a:srgbClr val="1B4F72"/>
            </a:solidFill>
            <a:prstDash val="solid"/>
          </a:ln>
        </p:spPr>
      </p:sp>
      <p:sp>
        <p:nvSpPr>
          <p:cNvPr id="38" name="Text 36"/>
          <p:cNvSpPr/>
          <p:nvPr/>
        </p:nvSpPr>
        <p:spPr>
          <a:xfrm>
            <a:off x="6492240" y="5029200"/>
            <a:ext cx="566928" cy="56692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39" name="Text 37"/>
          <p:cNvSpPr/>
          <p:nvPr/>
        </p:nvSpPr>
        <p:spPr>
          <a:xfrm>
            <a:off x="7223760" y="4965192"/>
            <a:ext cx="4572000" cy="402336"/>
          </a:xfrm>
          <a:prstGeom prst="rect">
            <a:avLst/>
          </a:prstGeom>
          <a:noFill/>
          <a:ln/>
        </p:spPr>
        <p:txBody>
          <a:bodyPr wrap="square" lIns="0" tIns="0" rIns="0" bIns="0" rtlCol="0" anchor="ctr"/>
          <a:lstStyle/>
          <a:p>
            <a:pPr marL="0" indent="0">
              <a:buNone/>
            </a:pPr>
            <a:r>
              <a:rPr lang="en-US" sz="1350" b="1" dirty="0">
                <a:solidFill>
                  <a:srgbClr val="2C3E50"/>
                </a:solidFill>
                <a:latin typeface="Georgia" pitchFamily="34" charset="0"/>
                <a:ea typeface="Georgia" pitchFamily="34" charset="-122"/>
                <a:cs typeface="Georgia" pitchFamily="34" charset="-120"/>
              </a:rPr>
              <a:t>What can we do to improve?</a:t>
            </a:r>
            <a:endParaRPr lang="en-US" sz="1350" dirty="0"/>
          </a:p>
        </p:txBody>
      </p:sp>
      <p:sp>
        <p:nvSpPr>
          <p:cNvPr id="40" name="Text 38"/>
          <p:cNvSpPr/>
          <p:nvPr/>
        </p:nvSpPr>
        <p:spPr>
          <a:xfrm>
            <a:off x="7223760" y="5422392"/>
            <a:ext cx="4572000" cy="896112"/>
          </a:xfrm>
          <a:prstGeom prst="rect">
            <a:avLst/>
          </a:prstGeom>
          <a:noFill/>
          <a:ln/>
        </p:spPr>
        <p:txBody>
          <a:bodyPr wrap="square" lIns="0" tIns="0" rIns="0" bIns="0" rtlCol="0" anchor="t"/>
          <a:lstStyle/>
          <a:p>
            <a:pPr marL="0" indent="0">
              <a:buNone/>
            </a:pPr>
            <a:r>
              <a:rPr lang="en-US" sz="1400" b="1" dirty="0">
                <a:latin typeface="Calibri" pitchFamily="34" charset="0"/>
                <a:ea typeface="Calibri" pitchFamily="34" charset="-122"/>
                <a:cs typeface="Calibri" pitchFamily="34" charset="-120"/>
              </a:rPr>
              <a:t>After finding all the insights, we want to turn them into clear action steps the business team can actually use.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F39C12"/>
          </a:solidFill>
          <a:ln w="12700">
            <a:solidFill>
              <a:srgbClr val="F39C12"/>
            </a:solidFill>
            <a:prstDash val="solid"/>
          </a:ln>
        </p:spPr>
      </p:sp>
      <p:sp>
        <p:nvSpPr>
          <p:cNvPr id="3" name="Text 1"/>
          <p:cNvSpPr/>
          <p:nvPr/>
        </p:nvSpPr>
        <p:spPr>
          <a:xfrm>
            <a:off x="411480" y="0"/>
            <a:ext cx="9875520" cy="960120"/>
          </a:xfrm>
          <a:prstGeom prst="rect">
            <a:avLst/>
          </a:prstGeom>
          <a:noFill/>
          <a:ln/>
        </p:spPr>
        <p:txBody>
          <a:bodyPr wrap="square" lIns="0" tIns="0" rIns="0" bIns="0" rtlCol="0" anchor="ctr"/>
          <a:lstStyle/>
          <a:p>
            <a:pPr marL="0" indent="0">
              <a:buNone/>
            </a:pPr>
            <a:r>
              <a:rPr lang="en-US" sz="2600" b="1" dirty="0">
                <a:solidFill>
                  <a:srgbClr val="0D1B2A"/>
                </a:solidFill>
                <a:latin typeface="Georgia" pitchFamily="34" charset="0"/>
                <a:ea typeface="Georgia" pitchFamily="34" charset="-122"/>
                <a:cs typeface="Georgia" pitchFamily="34" charset="-120"/>
              </a:rPr>
              <a:t>Problems We Need to Solve</a:t>
            </a:r>
            <a:endParaRPr lang="en-US" sz="2600" dirty="0"/>
          </a:p>
        </p:txBody>
      </p:sp>
      <p:sp>
        <p:nvSpPr>
          <p:cNvPr id="4" name="Text 2"/>
          <p:cNvSpPr/>
          <p:nvPr/>
        </p:nvSpPr>
        <p:spPr>
          <a:xfrm>
            <a:off x="9966960" y="0"/>
            <a:ext cx="2011680" cy="960120"/>
          </a:xfrm>
          <a:prstGeom prst="rect">
            <a:avLst/>
          </a:prstGeom>
          <a:noFill/>
          <a:ln/>
        </p:spPr>
        <p:txBody>
          <a:bodyPr wrap="square" lIns="0" tIns="0" rIns="0" bIns="0" rtlCol="0" anchor="ctr"/>
          <a:lstStyle/>
          <a:p>
            <a:pPr marL="0" indent="0" algn="r">
              <a:buNone/>
            </a:pPr>
            <a:r>
              <a:rPr lang="en-US" sz="900" b="1" kern="0" spc="250" dirty="0">
                <a:solidFill>
                  <a:srgbClr val="0D1B2A"/>
                </a:solidFill>
                <a:latin typeface="Calibri" pitchFamily="34" charset="0"/>
                <a:ea typeface="Calibri" pitchFamily="34" charset="-122"/>
                <a:cs typeface="Calibri" pitchFamily="34" charset="-120"/>
              </a:rPr>
              <a:t>SECTION 03 · PROBLEM STATEMENTS</a:t>
            </a:r>
            <a:endParaRPr lang="en-US" sz="900" dirty="0"/>
          </a:p>
        </p:txBody>
      </p:sp>
      <p:sp>
        <p:nvSpPr>
          <p:cNvPr id="5" name="Shape 3"/>
          <p:cNvSpPr/>
          <p:nvPr/>
        </p:nvSpPr>
        <p:spPr>
          <a:xfrm>
            <a:off x="365760" y="1051560"/>
            <a:ext cx="5650992" cy="1691640"/>
          </a:xfrm>
          <a:prstGeom prst="rect">
            <a:avLst/>
          </a:prstGeom>
          <a:solidFill>
            <a:srgbClr val="112233"/>
          </a:solidFill>
          <a:ln w="9525">
            <a:solidFill>
              <a:srgbClr val="1E3A5F"/>
            </a:solidFill>
            <a:prstDash val="solid"/>
          </a:ln>
          <a:effectLst>
            <a:outerShdw blurRad="127000" dist="50800" dir="8100000" algn="bl" rotWithShape="0">
              <a:srgbClr val="000000">
                <a:alpha val="30000"/>
              </a:srgbClr>
            </a:outerShdw>
          </a:effectLst>
        </p:spPr>
      </p:sp>
      <p:sp>
        <p:nvSpPr>
          <p:cNvPr id="6" name="Shape 4"/>
          <p:cNvSpPr/>
          <p:nvPr/>
        </p:nvSpPr>
        <p:spPr>
          <a:xfrm>
            <a:off x="365760" y="1051560"/>
            <a:ext cx="5650992" cy="50292"/>
          </a:xfrm>
          <a:prstGeom prst="rect">
            <a:avLst/>
          </a:prstGeom>
          <a:solidFill>
            <a:srgbClr val="E74C3C"/>
          </a:solidFill>
          <a:ln w="12700">
            <a:solidFill>
              <a:srgbClr val="E74C3C"/>
            </a:solidFill>
            <a:prstDash val="solid"/>
          </a:ln>
        </p:spPr>
      </p:sp>
      <p:sp>
        <p:nvSpPr>
          <p:cNvPr id="7" name="Shape 5"/>
          <p:cNvSpPr/>
          <p:nvPr/>
        </p:nvSpPr>
        <p:spPr>
          <a:xfrm>
            <a:off x="548640" y="1280160"/>
            <a:ext cx="566928" cy="566928"/>
          </a:xfrm>
          <a:prstGeom prst="ellipse">
            <a:avLst/>
          </a:prstGeom>
          <a:solidFill>
            <a:srgbClr val="E74C3C"/>
          </a:solidFill>
          <a:ln w="12700">
            <a:solidFill>
              <a:srgbClr val="E74C3C"/>
            </a:solidFill>
            <a:prstDash val="solid"/>
          </a:ln>
        </p:spPr>
      </p:sp>
      <p:sp>
        <p:nvSpPr>
          <p:cNvPr id="8" name="Text 6"/>
          <p:cNvSpPr/>
          <p:nvPr/>
        </p:nvSpPr>
        <p:spPr>
          <a:xfrm>
            <a:off x="548640" y="1280160"/>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P1</a:t>
            </a:r>
            <a:endParaRPr lang="en-US" sz="1300" dirty="0"/>
          </a:p>
        </p:txBody>
      </p:sp>
      <p:sp>
        <p:nvSpPr>
          <p:cNvPr id="9" name="Text 7"/>
          <p:cNvSpPr/>
          <p:nvPr/>
        </p:nvSpPr>
        <p:spPr>
          <a:xfrm>
            <a:off x="1280160" y="1216152"/>
            <a:ext cx="4572000" cy="402336"/>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Too Many Non-Buyers</a:t>
            </a:r>
            <a:endParaRPr lang="en-US" sz="1300" dirty="0"/>
          </a:p>
        </p:txBody>
      </p:sp>
      <p:sp>
        <p:nvSpPr>
          <p:cNvPr id="10" name="Text 8"/>
          <p:cNvSpPr/>
          <p:nvPr/>
        </p:nvSpPr>
        <p:spPr>
          <a:xfrm>
            <a:off x="1280160" y="1673352"/>
            <a:ext cx="4572000" cy="896112"/>
          </a:xfrm>
          <a:prstGeom prst="rect">
            <a:avLst/>
          </a:prstGeom>
          <a:noFill/>
          <a:ln/>
        </p:spPr>
        <p:txBody>
          <a:bodyPr wrap="square" lIns="0" tIns="0" rIns="0" bIns="0" rtlCol="0" anchor="t"/>
          <a:lstStyle/>
          <a:p>
            <a:pPr marL="0" indent="0">
              <a:buNone/>
            </a:pPr>
            <a:r>
              <a:rPr lang="en-US" sz="1400" b="1" dirty="0">
                <a:solidFill>
                  <a:srgbClr val="95A5A6"/>
                </a:solidFill>
                <a:latin typeface="Calibri" pitchFamily="34" charset="0"/>
                <a:ea typeface="Calibri" pitchFamily="34" charset="-122"/>
                <a:cs typeface="Calibri" pitchFamily="34" charset="-120"/>
              </a:rPr>
              <a:t>3,677 customers (18.4%) registered and visited the site but never bought anything. This is lost revenue we can recover.</a:t>
            </a:r>
            <a:endParaRPr lang="en-US" sz="1400" b="1" dirty="0"/>
          </a:p>
        </p:txBody>
      </p:sp>
      <p:sp>
        <p:nvSpPr>
          <p:cNvPr id="11" name="Shape 9"/>
          <p:cNvSpPr/>
          <p:nvPr/>
        </p:nvSpPr>
        <p:spPr>
          <a:xfrm>
            <a:off x="6309360" y="1051560"/>
            <a:ext cx="5650992" cy="1691640"/>
          </a:xfrm>
          <a:prstGeom prst="rect">
            <a:avLst/>
          </a:prstGeom>
          <a:solidFill>
            <a:srgbClr val="112233"/>
          </a:solidFill>
          <a:ln w="9525">
            <a:solidFill>
              <a:srgbClr val="1E3A5F"/>
            </a:solidFill>
            <a:prstDash val="solid"/>
          </a:ln>
          <a:effectLst>
            <a:outerShdw blurRad="127000" dist="50800" dir="8100000" algn="bl" rotWithShape="0">
              <a:srgbClr val="000000">
                <a:alpha val="30000"/>
              </a:srgbClr>
            </a:outerShdw>
          </a:effectLst>
        </p:spPr>
      </p:sp>
      <p:sp>
        <p:nvSpPr>
          <p:cNvPr id="12" name="Shape 10"/>
          <p:cNvSpPr/>
          <p:nvPr/>
        </p:nvSpPr>
        <p:spPr>
          <a:xfrm>
            <a:off x="6309360" y="1051560"/>
            <a:ext cx="5650992" cy="50292"/>
          </a:xfrm>
          <a:prstGeom prst="rect">
            <a:avLst/>
          </a:prstGeom>
          <a:solidFill>
            <a:srgbClr val="F39C12"/>
          </a:solidFill>
          <a:ln w="12700">
            <a:solidFill>
              <a:srgbClr val="F39C12"/>
            </a:solidFill>
            <a:prstDash val="solid"/>
          </a:ln>
        </p:spPr>
      </p:sp>
      <p:sp>
        <p:nvSpPr>
          <p:cNvPr id="13" name="Shape 11"/>
          <p:cNvSpPr/>
          <p:nvPr/>
        </p:nvSpPr>
        <p:spPr>
          <a:xfrm>
            <a:off x="6492240" y="1280160"/>
            <a:ext cx="566928" cy="566928"/>
          </a:xfrm>
          <a:prstGeom prst="ellipse">
            <a:avLst/>
          </a:prstGeom>
          <a:solidFill>
            <a:srgbClr val="F39C12"/>
          </a:solidFill>
          <a:ln w="12700">
            <a:solidFill>
              <a:srgbClr val="F39C12"/>
            </a:solidFill>
            <a:prstDash val="solid"/>
          </a:ln>
        </p:spPr>
      </p:sp>
      <p:sp>
        <p:nvSpPr>
          <p:cNvPr id="14" name="Text 12"/>
          <p:cNvSpPr/>
          <p:nvPr/>
        </p:nvSpPr>
        <p:spPr>
          <a:xfrm>
            <a:off x="6492240" y="1280160"/>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P2</a:t>
            </a:r>
            <a:endParaRPr lang="en-US" sz="1300" dirty="0"/>
          </a:p>
        </p:txBody>
      </p:sp>
      <p:sp>
        <p:nvSpPr>
          <p:cNvPr id="15" name="Text 13"/>
          <p:cNvSpPr/>
          <p:nvPr/>
        </p:nvSpPr>
        <p:spPr>
          <a:xfrm>
            <a:off x="7223760" y="1216152"/>
            <a:ext cx="4572000" cy="402336"/>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Cart Abandonment Is High</a:t>
            </a:r>
            <a:endParaRPr lang="en-US" sz="1300" dirty="0"/>
          </a:p>
        </p:txBody>
      </p:sp>
      <p:sp>
        <p:nvSpPr>
          <p:cNvPr id="16" name="Text 14"/>
          <p:cNvSpPr/>
          <p:nvPr/>
        </p:nvSpPr>
        <p:spPr>
          <a:xfrm>
            <a:off x="7223760" y="1673352"/>
            <a:ext cx="4572000" cy="896112"/>
          </a:xfrm>
          <a:prstGeom prst="rect">
            <a:avLst/>
          </a:prstGeom>
          <a:noFill/>
          <a:ln/>
        </p:spPr>
        <p:txBody>
          <a:bodyPr wrap="square" lIns="0" tIns="0" rIns="0" bIns="0" rtlCol="0" anchor="t"/>
          <a:lstStyle/>
          <a:p>
            <a:r>
              <a:rPr lang="en-US" sz="1400" b="1" dirty="0">
                <a:solidFill>
                  <a:srgbClr val="95A5A6"/>
                </a:solidFill>
                <a:latin typeface="Calibri" pitchFamily="34" charset="0"/>
                <a:ea typeface="Calibri" pitchFamily="34" charset="-122"/>
                <a:cs typeface="Calibri" pitchFamily="34" charset="-120"/>
              </a:rPr>
              <a:t>3,677 customers added items to their cart but did not finish buying. Each one of these is a potential sale we lost.</a:t>
            </a:r>
          </a:p>
        </p:txBody>
      </p:sp>
      <p:sp>
        <p:nvSpPr>
          <p:cNvPr id="17" name="Shape 15"/>
          <p:cNvSpPr/>
          <p:nvPr/>
        </p:nvSpPr>
        <p:spPr>
          <a:xfrm>
            <a:off x="365760" y="2926080"/>
            <a:ext cx="5650992" cy="1691640"/>
          </a:xfrm>
          <a:prstGeom prst="rect">
            <a:avLst/>
          </a:prstGeom>
          <a:solidFill>
            <a:srgbClr val="112233"/>
          </a:solidFill>
          <a:ln w="9525">
            <a:solidFill>
              <a:srgbClr val="1E3A5F"/>
            </a:solidFill>
            <a:prstDash val="solid"/>
          </a:ln>
          <a:effectLst>
            <a:outerShdw blurRad="127000" dist="50800" dir="8100000" algn="bl" rotWithShape="0">
              <a:srgbClr val="000000">
                <a:alpha val="30000"/>
              </a:srgbClr>
            </a:outerShdw>
          </a:effectLst>
        </p:spPr>
      </p:sp>
      <p:sp>
        <p:nvSpPr>
          <p:cNvPr id="18" name="Shape 16"/>
          <p:cNvSpPr/>
          <p:nvPr/>
        </p:nvSpPr>
        <p:spPr>
          <a:xfrm>
            <a:off x="365760" y="2926080"/>
            <a:ext cx="5650992" cy="50292"/>
          </a:xfrm>
          <a:prstGeom prst="rect">
            <a:avLst/>
          </a:prstGeom>
          <a:solidFill>
            <a:srgbClr val="1ABC9C"/>
          </a:solidFill>
          <a:ln w="12700">
            <a:solidFill>
              <a:srgbClr val="1ABC9C"/>
            </a:solidFill>
            <a:prstDash val="solid"/>
          </a:ln>
        </p:spPr>
      </p:sp>
      <p:sp>
        <p:nvSpPr>
          <p:cNvPr id="19" name="Shape 17"/>
          <p:cNvSpPr/>
          <p:nvPr/>
        </p:nvSpPr>
        <p:spPr>
          <a:xfrm>
            <a:off x="548640" y="3154680"/>
            <a:ext cx="566928" cy="566928"/>
          </a:xfrm>
          <a:prstGeom prst="ellipse">
            <a:avLst/>
          </a:prstGeom>
          <a:solidFill>
            <a:srgbClr val="1ABC9C"/>
          </a:solidFill>
          <a:ln w="12700">
            <a:solidFill>
              <a:srgbClr val="1ABC9C"/>
            </a:solidFill>
            <a:prstDash val="solid"/>
          </a:ln>
        </p:spPr>
      </p:sp>
      <p:sp>
        <p:nvSpPr>
          <p:cNvPr id="20" name="Text 18"/>
          <p:cNvSpPr/>
          <p:nvPr/>
        </p:nvSpPr>
        <p:spPr>
          <a:xfrm>
            <a:off x="548640" y="3154680"/>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P3</a:t>
            </a:r>
            <a:endParaRPr lang="en-US" sz="1300" dirty="0"/>
          </a:p>
        </p:txBody>
      </p:sp>
      <p:sp>
        <p:nvSpPr>
          <p:cNvPr id="21" name="Text 19"/>
          <p:cNvSpPr/>
          <p:nvPr/>
        </p:nvSpPr>
        <p:spPr>
          <a:xfrm>
            <a:off x="1280160" y="3090672"/>
            <a:ext cx="4572000" cy="402336"/>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Very Few Customers Leave Reviews</a:t>
            </a:r>
            <a:endParaRPr lang="en-US" sz="1300" dirty="0"/>
          </a:p>
        </p:txBody>
      </p:sp>
      <p:sp>
        <p:nvSpPr>
          <p:cNvPr id="22" name="Text 20"/>
          <p:cNvSpPr/>
          <p:nvPr/>
        </p:nvSpPr>
        <p:spPr>
          <a:xfrm>
            <a:off x="1280160" y="3547872"/>
            <a:ext cx="4572000" cy="896112"/>
          </a:xfrm>
          <a:prstGeom prst="rect">
            <a:avLst/>
          </a:prstGeom>
          <a:noFill/>
          <a:ln/>
        </p:spPr>
        <p:txBody>
          <a:bodyPr wrap="square" lIns="0" tIns="0" rIns="0" bIns="0" rtlCol="0" anchor="t"/>
          <a:lstStyle/>
          <a:p>
            <a:r>
              <a:rPr lang="en-US" sz="1400" b="1" dirty="0">
                <a:solidFill>
                  <a:srgbClr val="95A5A6"/>
                </a:solidFill>
                <a:latin typeface="Calibri" pitchFamily="34" charset="0"/>
                <a:ea typeface="Calibri" pitchFamily="34" charset="-122"/>
                <a:cs typeface="Calibri" pitchFamily="34" charset="-120"/>
              </a:rPr>
              <a:t>Only 26.3% of buyers gave a rating. Without reviews, new customers don't trust the platform as much.</a:t>
            </a:r>
          </a:p>
        </p:txBody>
      </p:sp>
      <p:sp>
        <p:nvSpPr>
          <p:cNvPr id="23" name="Shape 21"/>
          <p:cNvSpPr/>
          <p:nvPr/>
        </p:nvSpPr>
        <p:spPr>
          <a:xfrm>
            <a:off x="6309360" y="2926080"/>
            <a:ext cx="5650992" cy="1691640"/>
          </a:xfrm>
          <a:prstGeom prst="rect">
            <a:avLst/>
          </a:prstGeom>
          <a:solidFill>
            <a:srgbClr val="112233"/>
          </a:solidFill>
          <a:ln w="9525">
            <a:solidFill>
              <a:srgbClr val="1E3A5F"/>
            </a:solidFill>
            <a:prstDash val="solid"/>
          </a:ln>
          <a:effectLst>
            <a:outerShdw blurRad="127000" dist="50800" dir="8100000" algn="bl" rotWithShape="0">
              <a:srgbClr val="000000">
                <a:alpha val="30000"/>
              </a:srgbClr>
            </a:outerShdw>
          </a:effectLst>
        </p:spPr>
      </p:sp>
      <p:sp>
        <p:nvSpPr>
          <p:cNvPr id="24" name="Shape 22"/>
          <p:cNvSpPr/>
          <p:nvPr/>
        </p:nvSpPr>
        <p:spPr>
          <a:xfrm>
            <a:off x="6309360" y="2926080"/>
            <a:ext cx="5650992" cy="50292"/>
          </a:xfrm>
          <a:prstGeom prst="rect">
            <a:avLst/>
          </a:prstGeom>
          <a:solidFill>
            <a:srgbClr val="E74C3C"/>
          </a:solidFill>
          <a:ln w="12700">
            <a:solidFill>
              <a:srgbClr val="E74C3C"/>
            </a:solidFill>
            <a:prstDash val="solid"/>
          </a:ln>
        </p:spPr>
      </p:sp>
      <p:sp>
        <p:nvSpPr>
          <p:cNvPr id="25" name="Shape 23"/>
          <p:cNvSpPr/>
          <p:nvPr/>
        </p:nvSpPr>
        <p:spPr>
          <a:xfrm>
            <a:off x="6492240" y="3154680"/>
            <a:ext cx="566928" cy="566928"/>
          </a:xfrm>
          <a:prstGeom prst="ellipse">
            <a:avLst/>
          </a:prstGeom>
          <a:solidFill>
            <a:srgbClr val="E74C3C"/>
          </a:solidFill>
          <a:ln w="12700">
            <a:solidFill>
              <a:srgbClr val="E74C3C"/>
            </a:solidFill>
            <a:prstDash val="solid"/>
          </a:ln>
        </p:spPr>
      </p:sp>
      <p:sp>
        <p:nvSpPr>
          <p:cNvPr id="26" name="Text 24"/>
          <p:cNvSpPr/>
          <p:nvPr/>
        </p:nvSpPr>
        <p:spPr>
          <a:xfrm>
            <a:off x="6492240" y="3154680"/>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P4</a:t>
            </a:r>
            <a:endParaRPr lang="en-US" sz="1300" dirty="0"/>
          </a:p>
        </p:txBody>
      </p:sp>
      <p:sp>
        <p:nvSpPr>
          <p:cNvPr id="27" name="Text 25"/>
          <p:cNvSpPr/>
          <p:nvPr/>
        </p:nvSpPr>
        <p:spPr>
          <a:xfrm>
            <a:off x="7223760" y="3090672"/>
            <a:ext cx="4572000" cy="402336"/>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Revenue Depends Too Much on One Category</a:t>
            </a:r>
            <a:endParaRPr lang="en-US" sz="1300" dirty="0"/>
          </a:p>
        </p:txBody>
      </p:sp>
      <p:sp>
        <p:nvSpPr>
          <p:cNvPr id="28" name="Text 26"/>
          <p:cNvSpPr/>
          <p:nvPr/>
        </p:nvSpPr>
        <p:spPr>
          <a:xfrm>
            <a:off x="7223760" y="3547872"/>
            <a:ext cx="4572000" cy="896112"/>
          </a:xfrm>
          <a:prstGeom prst="rect">
            <a:avLst/>
          </a:prstGeom>
          <a:noFill/>
          <a:ln/>
        </p:spPr>
        <p:txBody>
          <a:bodyPr wrap="square" lIns="0" tIns="0" rIns="0" bIns="0" rtlCol="0" anchor="t"/>
          <a:lstStyle/>
          <a:p>
            <a:r>
              <a:rPr lang="en-US" sz="1400" b="1" dirty="0">
                <a:solidFill>
                  <a:srgbClr val="95A5A6"/>
                </a:solidFill>
                <a:latin typeface="Calibri" pitchFamily="34" charset="0"/>
                <a:ea typeface="Calibri" pitchFamily="34" charset="-122"/>
                <a:cs typeface="Calibri" pitchFamily="34" charset="-120"/>
              </a:rPr>
              <a:t>Beauty alone makes up 28% of all revenue. If beauty sales drop, the whole business takes a big hit.</a:t>
            </a:r>
          </a:p>
        </p:txBody>
      </p:sp>
      <p:sp>
        <p:nvSpPr>
          <p:cNvPr id="29" name="Shape 27"/>
          <p:cNvSpPr/>
          <p:nvPr/>
        </p:nvSpPr>
        <p:spPr>
          <a:xfrm>
            <a:off x="365760" y="4800600"/>
            <a:ext cx="5650992" cy="1691640"/>
          </a:xfrm>
          <a:prstGeom prst="rect">
            <a:avLst/>
          </a:prstGeom>
          <a:solidFill>
            <a:srgbClr val="112233"/>
          </a:solidFill>
          <a:ln w="9525">
            <a:solidFill>
              <a:srgbClr val="1E3A5F"/>
            </a:solidFill>
            <a:prstDash val="solid"/>
          </a:ln>
          <a:effectLst>
            <a:outerShdw blurRad="127000" dist="50800" dir="8100000" algn="bl" rotWithShape="0">
              <a:srgbClr val="000000">
                <a:alpha val="30000"/>
              </a:srgbClr>
            </a:outerShdw>
          </a:effectLst>
        </p:spPr>
      </p:sp>
      <p:sp>
        <p:nvSpPr>
          <p:cNvPr id="30" name="Shape 28"/>
          <p:cNvSpPr/>
          <p:nvPr/>
        </p:nvSpPr>
        <p:spPr>
          <a:xfrm>
            <a:off x="365760" y="4800600"/>
            <a:ext cx="5650992" cy="50292"/>
          </a:xfrm>
          <a:prstGeom prst="rect">
            <a:avLst/>
          </a:prstGeom>
          <a:solidFill>
            <a:srgbClr val="F39C12"/>
          </a:solidFill>
          <a:ln w="12700">
            <a:solidFill>
              <a:srgbClr val="F39C12"/>
            </a:solidFill>
            <a:prstDash val="solid"/>
          </a:ln>
        </p:spPr>
      </p:sp>
      <p:sp>
        <p:nvSpPr>
          <p:cNvPr id="31" name="Shape 29"/>
          <p:cNvSpPr/>
          <p:nvPr/>
        </p:nvSpPr>
        <p:spPr>
          <a:xfrm>
            <a:off x="548640" y="5029200"/>
            <a:ext cx="566928" cy="566928"/>
          </a:xfrm>
          <a:prstGeom prst="ellipse">
            <a:avLst/>
          </a:prstGeom>
          <a:solidFill>
            <a:srgbClr val="F39C12"/>
          </a:solidFill>
          <a:ln w="12700">
            <a:solidFill>
              <a:srgbClr val="F39C12"/>
            </a:solidFill>
            <a:prstDash val="solid"/>
          </a:ln>
        </p:spPr>
      </p:sp>
      <p:sp>
        <p:nvSpPr>
          <p:cNvPr id="32" name="Text 30"/>
          <p:cNvSpPr/>
          <p:nvPr/>
        </p:nvSpPr>
        <p:spPr>
          <a:xfrm>
            <a:off x="548640" y="5029200"/>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P5</a:t>
            </a:r>
            <a:endParaRPr lang="en-US" sz="1300" dirty="0"/>
          </a:p>
        </p:txBody>
      </p:sp>
      <p:sp>
        <p:nvSpPr>
          <p:cNvPr id="33" name="Text 31"/>
          <p:cNvSpPr/>
          <p:nvPr/>
        </p:nvSpPr>
        <p:spPr>
          <a:xfrm>
            <a:off x="1280160" y="4965192"/>
            <a:ext cx="4572000" cy="402336"/>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Older Customers Are Not Spending Enough Per Order</a:t>
            </a:r>
            <a:endParaRPr lang="en-US" sz="1300" dirty="0"/>
          </a:p>
        </p:txBody>
      </p:sp>
      <p:sp>
        <p:nvSpPr>
          <p:cNvPr id="34" name="Text 32"/>
          <p:cNvSpPr/>
          <p:nvPr/>
        </p:nvSpPr>
        <p:spPr>
          <a:xfrm>
            <a:off x="1280160" y="5422392"/>
            <a:ext cx="4572000" cy="896112"/>
          </a:xfrm>
          <a:prstGeom prst="rect">
            <a:avLst/>
          </a:prstGeom>
          <a:noFill/>
          <a:ln/>
        </p:spPr>
        <p:txBody>
          <a:bodyPr wrap="square" lIns="0" tIns="0" rIns="0" bIns="0" rtlCol="0" anchor="t"/>
          <a:lstStyle/>
          <a:p>
            <a:r>
              <a:rPr lang="en-US" sz="1400" b="1" dirty="0">
                <a:solidFill>
                  <a:srgbClr val="95A5A6"/>
                </a:solidFill>
                <a:latin typeface="Calibri" pitchFamily="34" charset="0"/>
                <a:ea typeface="Calibri" pitchFamily="34" charset="-122"/>
                <a:cs typeface="Calibri" pitchFamily="34" charset="-120"/>
              </a:rPr>
              <a:t>The 55+ group is the biggest age group but may not spend proportionally more. We can do more to serve them better.</a:t>
            </a:r>
          </a:p>
        </p:txBody>
      </p:sp>
      <p:sp>
        <p:nvSpPr>
          <p:cNvPr id="35" name="Shape 33"/>
          <p:cNvSpPr/>
          <p:nvPr/>
        </p:nvSpPr>
        <p:spPr>
          <a:xfrm>
            <a:off x="6309360" y="4800600"/>
            <a:ext cx="5650992" cy="1691640"/>
          </a:xfrm>
          <a:prstGeom prst="rect">
            <a:avLst/>
          </a:prstGeom>
          <a:solidFill>
            <a:srgbClr val="112233"/>
          </a:solidFill>
          <a:ln w="9525">
            <a:solidFill>
              <a:srgbClr val="1E3A5F"/>
            </a:solidFill>
            <a:prstDash val="solid"/>
          </a:ln>
          <a:effectLst>
            <a:outerShdw blurRad="127000" dist="50800" dir="8100000" algn="bl" rotWithShape="0">
              <a:srgbClr val="000000">
                <a:alpha val="30000"/>
              </a:srgbClr>
            </a:outerShdw>
          </a:effectLst>
        </p:spPr>
      </p:sp>
      <p:sp>
        <p:nvSpPr>
          <p:cNvPr id="36" name="Shape 34"/>
          <p:cNvSpPr/>
          <p:nvPr/>
        </p:nvSpPr>
        <p:spPr>
          <a:xfrm>
            <a:off x="6309360" y="4800600"/>
            <a:ext cx="5650992" cy="50292"/>
          </a:xfrm>
          <a:prstGeom prst="rect">
            <a:avLst/>
          </a:prstGeom>
          <a:solidFill>
            <a:srgbClr val="1ABC9C"/>
          </a:solidFill>
          <a:ln w="12700">
            <a:solidFill>
              <a:srgbClr val="1ABC9C"/>
            </a:solidFill>
            <a:prstDash val="solid"/>
          </a:ln>
        </p:spPr>
      </p:sp>
      <p:sp>
        <p:nvSpPr>
          <p:cNvPr id="37" name="Shape 35"/>
          <p:cNvSpPr/>
          <p:nvPr/>
        </p:nvSpPr>
        <p:spPr>
          <a:xfrm>
            <a:off x="6492240" y="5029200"/>
            <a:ext cx="566928" cy="566928"/>
          </a:xfrm>
          <a:prstGeom prst="ellipse">
            <a:avLst/>
          </a:prstGeom>
          <a:solidFill>
            <a:srgbClr val="1ABC9C"/>
          </a:solidFill>
          <a:ln w="12700">
            <a:solidFill>
              <a:srgbClr val="1ABC9C"/>
            </a:solidFill>
            <a:prstDash val="solid"/>
          </a:ln>
        </p:spPr>
      </p:sp>
      <p:sp>
        <p:nvSpPr>
          <p:cNvPr id="38" name="Text 36"/>
          <p:cNvSpPr/>
          <p:nvPr/>
        </p:nvSpPr>
        <p:spPr>
          <a:xfrm>
            <a:off x="6492240" y="5029200"/>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P6</a:t>
            </a:r>
            <a:endParaRPr lang="en-US" sz="1300" dirty="0"/>
          </a:p>
        </p:txBody>
      </p:sp>
      <p:sp>
        <p:nvSpPr>
          <p:cNvPr id="39" name="Text 37"/>
          <p:cNvSpPr/>
          <p:nvPr/>
        </p:nvSpPr>
        <p:spPr>
          <a:xfrm>
            <a:off x="7223760" y="4965192"/>
            <a:ext cx="4572000" cy="402336"/>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Some Marketing Channels Are Under-Used</a:t>
            </a:r>
            <a:endParaRPr lang="en-US" sz="1300" dirty="0"/>
          </a:p>
        </p:txBody>
      </p:sp>
      <p:sp>
        <p:nvSpPr>
          <p:cNvPr id="40" name="Text 38"/>
          <p:cNvSpPr/>
          <p:nvPr/>
        </p:nvSpPr>
        <p:spPr>
          <a:xfrm>
            <a:off x="7223760" y="5422392"/>
            <a:ext cx="4572000" cy="896112"/>
          </a:xfrm>
          <a:prstGeom prst="rect">
            <a:avLst/>
          </a:prstGeom>
          <a:noFill/>
          <a:ln/>
        </p:spPr>
        <p:txBody>
          <a:bodyPr wrap="square" lIns="0" tIns="0" rIns="0" bIns="0" rtlCol="0" anchor="t"/>
          <a:lstStyle/>
          <a:p>
            <a:r>
              <a:rPr lang="en-US" sz="1400" b="1" dirty="0">
                <a:solidFill>
                  <a:srgbClr val="95A5A6"/>
                </a:solidFill>
                <a:latin typeface="Calibri" pitchFamily="34" charset="0"/>
                <a:ea typeface="Calibri" pitchFamily="34" charset="-122"/>
                <a:cs typeface="Calibri" pitchFamily="34" charset="-120"/>
              </a:rPr>
              <a:t>Organic and direct traffic bring the most customers, but paid, social, and email channels have room to grow.</a:t>
            </a: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B4F72"/>
          </a:solidFill>
          <a:ln w="12700">
            <a:solidFill>
              <a:srgbClr val="1B4F72"/>
            </a:solidFill>
            <a:prstDash val="solid"/>
          </a:ln>
        </p:spPr>
      </p:sp>
      <p:sp>
        <p:nvSpPr>
          <p:cNvPr id="3" name="Text 1"/>
          <p:cNvSpPr/>
          <p:nvPr/>
        </p:nvSpPr>
        <p:spPr>
          <a:xfrm>
            <a:off x="411480" y="0"/>
            <a:ext cx="9875520" cy="96012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Who Are Our Customers?</a:t>
            </a:r>
            <a:endParaRPr lang="en-US" sz="2600" dirty="0"/>
          </a:p>
        </p:txBody>
      </p:sp>
      <p:sp>
        <p:nvSpPr>
          <p:cNvPr id="4" name="Text 2"/>
          <p:cNvSpPr/>
          <p:nvPr/>
        </p:nvSpPr>
        <p:spPr>
          <a:xfrm>
            <a:off x="9966960" y="0"/>
            <a:ext cx="2011680" cy="960120"/>
          </a:xfrm>
          <a:prstGeom prst="rect">
            <a:avLst/>
          </a:prstGeom>
          <a:noFill/>
          <a:ln/>
        </p:spPr>
        <p:txBody>
          <a:bodyPr wrap="square" lIns="0" tIns="0" rIns="0" bIns="0" rtlCol="0" anchor="ctr"/>
          <a:lstStyle/>
          <a:p>
            <a:pPr marL="0" indent="0" algn="r">
              <a:buNone/>
            </a:pPr>
            <a:r>
              <a:rPr lang="en-US" sz="900" b="1" kern="0" spc="250" dirty="0">
                <a:solidFill>
                  <a:srgbClr val="1ABC9C"/>
                </a:solidFill>
                <a:latin typeface="Calibri" pitchFamily="34" charset="0"/>
                <a:ea typeface="Calibri" pitchFamily="34" charset="-122"/>
                <a:cs typeface="Calibri" pitchFamily="34" charset="-120"/>
              </a:rPr>
              <a:t>SECTION 04 · CUSTOMER SEGMENTS</a:t>
            </a:r>
            <a:endParaRPr lang="en-US" sz="900" dirty="0"/>
          </a:p>
        </p:txBody>
      </p:sp>
      <p:graphicFrame>
        <p:nvGraphicFramePr>
          <p:cNvPr id="5" name="Chart 0"/>
          <p:cNvGraphicFramePr/>
          <p:nvPr>
            <p:extLst>
              <p:ext uri="{D42A27DB-BD31-4B8C-83A1-F6EECF244321}">
                <p14:modId xmlns:p14="http://schemas.microsoft.com/office/powerpoint/2010/main" val="3411287766"/>
              </p:ext>
            </p:extLst>
          </p:nvPr>
        </p:nvGraphicFramePr>
        <p:xfrm>
          <a:off x="365760" y="1051560"/>
          <a:ext cx="5120640" cy="5559552"/>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715000" y="1051560"/>
            <a:ext cx="6080760" cy="1691640"/>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7" name="Shape 4"/>
          <p:cNvSpPr/>
          <p:nvPr/>
        </p:nvSpPr>
        <p:spPr>
          <a:xfrm>
            <a:off x="5715000" y="1051560"/>
            <a:ext cx="6080760" cy="50292"/>
          </a:xfrm>
          <a:prstGeom prst="rect">
            <a:avLst/>
          </a:prstGeom>
          <a:solidFill>
            <a:srgbClr val="1ABC9C"/>
          </a:solidFill>
          <a:ln w="12700">
            <a:solidFill>
              <a:srgbClr val="1ABC9C"/>
            </a:solidFill>
            <a:prstDash val="solid"/>
          </a:ln>
        </p:spPr>
      </p:sp>
      <p:sp>
        <p:nvSpPr>
          <p:cNvPr id="8" name="Text 5"/>
          <p:cNvSpPr/>
          <p:nvPr/>
        </p:nvSpPr>
        <p:spPr>
          <a:xfrm>
            <a:off x="5897880" y="1161288"/>
            <a:ext cx="2011680" cy="713232"/>
          </a:xfrm>
          <a:prstGeom prst="rect">
            <a:avLst/>
          </a:prstGeom>
          <a:noFill/>
          <a:ln/>
        </p:spPr>
        <p:txBody>
          <a:bodyPr wrap="square" lIns="0" tIns="0" rIns="0" bIns="0" rtlCol="0" anchor="ctr"/>
          <a:lstStyle/>
          <a:p>
            <a:pPr marL="0" indent="0">
              <a:buNone/>
            </a:pPr>
            <a:r>
              <a:rPr lang="en-US" sz="3600" b="1" dirty="0">
                <a:solidFill>
                  <a:srgbClr val="1ABC9C"/>
                </a:solidFill>
                <a:latin typeface="Georgia" pitchFamily="34" charset="0"/>
                <a:ea typeface="Georgia" pitchFamily="34" charset="-122"/>
                <a:cs typeface="Georgia" pitchFamily="34" charset="-120"/>
              </a:rPr>
              <a:t>16,268</a:t>
            </a:r>
            <a:endParaRPr lang="en-US" sz="3600" dirty="0"/>
          </a:p>
        </p:txBody>
      </p:sp>
      <p:sp>
        <p:nvSpPr>
          <p:cNvPr id="9" name="Shape 6"/>
          <p:cNvSpPr/>
          <p:nvPr/>
        </p:nvSpPr>
        <p:spPr>
          <a:xfrm>
            <a:off x="7955280" y="1252728"/>
            <a:ext cx="1280160" cy="310896"/>
          </a:xfrm>
          <a:prstGeom prst="rect">
            <a:avLst/>
          </a:prstGeom>
          <a:solidFill>
            <a:srgbClr val="1ABC9C">
              <a:alpha val="18000"/>
            </a:srgbClr>
          </a:solidFill>
          <a:ln w="12700">
            <a:solidFill>
              <a:srgbClr val="1ABC9C"/>
            </a:solidFill>
            <a:prstDash val="solid"/>
          </a:ln>
        </p:spPr>
      </p:sp>
      <p:sp>
        <p:nvSpPr>
          <p:cNvPr id="10" name="Text 7"/>
          <p:cNvSpPr/>
          <p:nvPr/>
        </p:nvSpPr>
        <p:spPr>
          <a:xfrm>
            <a:off x="7955280" y="1252728"/>
            <a:ext cx="1280160" cy="310896"/>
          </a:xfrm>
          <a:prstGeom prst="rect">
            <a:avLst/>
          </a:prstGeom>
          <a:noFill/>
          <a:ln/>
        </p:spPr>
        <p:txBody>
          <a:bodyPr wrap="square" lIns="0" tIns="0" rIns="0" bIns="0" rtlCol="0" anchor="ctr"/>
          <a:lstStyle/>
          <a:p>
            <a:pPr marL="0" indent="0" algn="ctr">
              <a:buNone/>
            </a:pPr>
            <a:r>
              <a:rPr lang="en-US" sz="1200" b="1" dirty="0">
                <a:solidFill>
                  <a:srgbClr val="1ABC9C"/>
                </a:solidFill>
                <a:latin typeface="Calibri" pitchFamily="34" charset="0"/>
                <a:ea typeface="Calibri" pitchFamily="34" charset="-122"/>
                <a:cs typeface="Calibri" pitchFamily="34" charset="-120"/>
              </a:rPr>
              <a:t>81.3%</a:t>
            </a:r>
            <a:endParaRPr lang="en-US" sz="1200" dirty="0"/>
          </a:p>
        </p:txBody>
      </p:sp>
      <p:sp>
        <p:nvSpPr>
          <p:cNvPr id="11" name="Text 8"/>
          <p:cNvSpPr/>
          <p:nvPr/>
        </p:nvSpPr>
        <p:spPr>
          <a:xfrm>
            <a:off x="5897880" y="1874520"/>
            <a:ext cx="5669280" cy="310896"/>
          </a:xfrm>
          <a:prstGeom prst="rect">
            <a:avLst/>
          </a:prstGeom>
          <a:noFill/>
          <a:ln/>
        </p:spPr>
        <p:txBody>
          <a:bodyPr wrap="square" lIns="0" tIns="0" rIns="0" bIns="0" rtlCol="0" anchor="ctr"/>
          <a:lstStyle/>
          <a:p>
            <a:pPr marL="0" indent="0">
              <a:buNone/>
            </a:pPr>
            <a:r>
              <a:rPr lang="en-US" sz="1200" b="1" dirty="0">
                <a:solidFill>
                  <a:srgbClr val="2C3E50"/>
                </a:solidFill>
                <a:latin typeface="Georgia" pitchFamily="34" charset="0"/>
                <a:ea typeface="Georgia" pitchFamily="34" charset="-122"/>
                <a:cs typeface="Georgia" pitchFamily="34" charset="-120"/>
              </a:rPr>
              <a:t>BUYERS</a:t>
            </a:r>
            <a:endParaRPr lang="en-US" sz="1200" dirty="0"/>
          </a:p>
        </p:txBody>
      </p:sp>
      <p:sp>
        <p:nvSpPr>
          <p:cNvPr id="12" name="Text 9"/>
          <p:cNvSpPr/>
          <p:nvPr/>
        </p:nvSpPr>
        <p:spPr>
          <a:xfrm>
            <a:off x="5897880" y="2221992"/>
            <a:ext cx="5669280" cy="438912"/>
          </a:xfrm>
          <a:prstGeom prst="rect">
            <a:avLst/>
          </a:prstGeom>
          <a:noFill/>
          <a:ln/>
        </p:spPr>
        <p:txBody>
          <a:bodyPr wrap="square" lIns="0" tIns="0" rIns="0" bIns="0" rtlCol="0" anchor="t"/>
          <a:lstStyle/>
          <a:p>
            <a:pPr marL="0" indent="0">
              <a:buNone/>
            </a:pPr>
            <a:r>
              <a:rPr lang="en-US" sz="1400" b="1" dirty="0">
                <a:solidFill>
                  <a:schemeClr val="tx1">
                    <a:lumMod val="65000"/>
                    <a:lumOff val="35000"/>
                  </a:schemeClr>
                </a:solidFill>
                <a:latin typeface="Calibri" pitchFamily="34" charset="0"/>
                <a:ea typeface="Calibri" pitchFamily="34" charset="-122"/>
                <a:cs typeface="Calibri" pitchFamily="34" charset="-120"/>
              </a:rPr>
              <a:t>These customers have made at least one purchase. They are our main source of income.</a:t>
            </a:r>
            <a:endParaRPr lang="en-US" sz="1400" b="1" dirty="0">
              <a:solidFill>
                <a:schemeClr val="tx1">
                  <a:lumMod val="65000"/>
                  <a:lumOff val="35000"/>
                </a:schemeClr>
              </a:solidFill>
            </a:endParaRPr>
          </a:p>
        </p:txBody>
      </p:sp>
      <p:sp>
        <p:nvSpPr>
          <p:cNvPr id="13" name="Shape 10"/>
          <p:cNvSpPr/>
          <p:nvPr/>
        </p:nvSpPr>
        <p:spPr>
          <a:xfrm>
            <a:off x="5715000" y="2926080"/>
            <a:ext cx="6080760" cy="1691640"/>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14" name="Shape 11"/>
          <p:cNvSpPr/>
          <p:nvPr/>
        </p:nvSpPr>
        <p:spPr>
          <a:xfrm>
            <a:off x="5715000" y="2926080"/>
            <a:ext cx="6080760" cy="50292"/>
          </a:xfrm>
          <a:prstGeom prst="rect">
            <a:avLst/>
          </a:prstGeom>
          <a:solidFill>
            <a:srgbClr val="F39C12"/>
          </a:solidFill>
          <a:ln w="12700">
            <a:solidFill>
              <a:srgbClr val="F39C12"/>
            </a:solidFill>
            <a:prstDash val="solid"/>
          </a:ln>
        </p:spPr>
      </p:sp>
      <p:sp>
        <p:nvSpPr>
          <p:cNvPr id="15" name="Text 12"/>
          <p:cNvSpPr/>
          <p:nvPr/>
        </p:nvSpPr>
        <p:spPr>
          <a:xfrm>
            <a:off x="5897880" y="3035808"/>
            <a:ext cx="2011680" cy="713232"/>
          </a:xfrm>
          <a:prstGeom prst="rect">
            <a:avLst/>
          </a:prstGeom>
          <a:noFill/>
          <a:ln/>
        </p:spPr>
        <p:txBody>
          <a:bodyPr wrap="square" lIns="0" tIns="0" rIns="0" bIns="0" rtlCol="0" anchor="ctr"/>
          <a:lstStyle/>
          <a:p>
            <a:pPr marL="0" indent="0">
              <a:buNone/>
            </a:pPr>
            <a:r>
              <a:rPr lang="en-US" sz="3600" b="1" dirty="0">
                <a:solidFill>
                  <a:srgbClr val="F39C12"/>
                </a:solidFill>
                <a:latin typeface="Georgia" pitchFamily="34" charset="0"/>
                <a:ea typeface="Georgia" pitchFamily="34" charset="-122"/>
                <a:cs typeface="Georgia" pitchFamily="34" charset="-120"/>
              </a:rPr>
              <a:t>3,677</a:t>
            </a:r>
            <a:endParaRPr lang="en-US" sz="3600" dirty="0"/>
          </a:p>
        </p:txBody>
      </p:sp>
      <p:sp>
        <p:nvSpPr>
          <p:cNvPr id="16" name="Shape 13"/>
          <p:cNvSpPr/>
          <p:nvPr/>
        </p:nvSpPr>
        <p:spPr>
          <a:xfrm>
            <a:off x="7955280" y="3127248"/>
            <a:ext cx="1280160" cy="310896"/>
          </a:xfrm>
          <a:prstGeom prst="rect">
            <a:avLst/>
          </a:prstGeom>
          <a:solidFill>
            <a:srgbClr val="F39C12">
              <a:alpha val="18000"/>
            </a:srgbClr>
          </a:solidFill>
          <a:ln w="12700">
            <a:solidFill>
              <a:srgbClr val="F39C12"/>
            </a:solidFill>
            <a:prstDash val="solid"/>
          </a:ln>
        </p:spPr>
      </p:sp>
      <p:sp>
        <p:nvSpPr>
          <p:cNvPr id="17" name="Text 14"/>
          <p:cNvSpPr/>
          <p:nvPr/>
        </p:nvSpPr>
        <p:spPr>
          <a:xfrm>
            <a:off x="7955280" y="3127248"/>
            <a:ext cx="1280160" cy="310896"/>
          </a:xfrm>
          <a:prstGeom prst="rect">
            <a:avLst/>
          </a:prstGeom>
          <a:noFill/>
          <a:ln/>
        </p:spPr>
        <p:txBody>
          <a:bodyPr wrap="square" lIns="0" tIns="0" rIns="0" bIns="0" rtlCol="0" anchor="ctr"/>
          <a:lstStyle/>
          <a:p>
            <a:pPr marL="0" indent="0" algn="ctr">
              <a:buNone/>
            </a:pPr>
            <a:r>
              <a:rPr lang="en-US" sz="1200" b="1" dirty="0">
                <a:solidFill>
                  <a:srgbClr val="F39C12"/>
                </a:solidFill>
                <a:latin typeface="Calibri" pitchFamily="34" charset="0"/>
                <a:ea typeface="Calibri" pitchFamily="34" charset="-122"/>
                <a:cs typeface="Calibri" pitchFamily="34" charset="-120"/>
              </a:rPr>
              <a:t>18.4%</a:t>
            </a:r>
            <a:endParaRPr lang="en-US" sz="1200" dirty="0"/>
          </a:p>
        </p:txBody>
      </p:sp>
      <p:sp>
        <p:nvSpPr>
          <p:cNvPr id="18" name="Text 15"/>
          <p:cNvSpPr/>
          <p:nvPr/>
        </p:nvSpPr>
        <p:spPr>
          <a:xfrm>
            <a:off x="5897880" y="3749040"/>
            <a:ext cx="5669280" cy="310896"/>
          </a:xfrm>
          <a:prstGeom prst="rect">
            <a:avLst/>
          </a:prstGeom>
          <a:noFill/>
          <a:ln/>
        </p:spPr>
        <p:txBody>
          <a:bodyPr wrap="square" lIns="0" tIns="0" rIns="0" bIns="0" rtlCol="0" anchor="ctr"/>
          <a:lstStyle/>
          <a:p>
            <a:pPr marL="0" indent="0">
              <a:buNone/>
            </a:pPr>
            <a:r>
              <a:rPr lang="en-US" sz="1200" b="1" dirty="0">
                <a:solidFill>
                  <a:srgbClr val="2C3E50"/>
                </a:solidFill>
                <a:latin typeface="Georgia" pitchFamily="34" charset="0"/>
                <a:ea typeface="Georgia" pitchFamily="34" charset="-122"/>
                <a:cs typeface="Georgia" pitchFamily="34" charset="-120"/>
              </a:rPr>
              <a:t>NON-BUYERS</a:t>
            </a:r>
            <a:endParaRPr lang="en-US" sz="1200" dirty="0"/>
          </a:p>
        </p:txBody>
      </p:sp>
      <p:sp>
        <p:nvSpPr>
          <p:cNvPr id="19" name="Text 16"/>
          <p:cNvSpPr/>
          <p:nvPr/>
        </p:nvSpPr>
        <p:spPr>
          <a:xfrm>
            <a:off x="5897880" y="4096512"/>
            <a:ext cx="5669280" cy="438912"/>
          </a:xfrm>
          <a:prstGeom prst="rect">
            <a:avLst/>
          </a:prstGeom>
          <a:noFill/>
          <a:ln/>
        </p:spPr>
        <p:txBody>
          <a:bodyPr wrap="square" lIns="0" tIns="0" rIns="0" bIns="0" rtlCol="0" anchor="t"/>
          <a:lstStyle/>
          <a:p>
            <a:r>
              <a:rPr lang="en-US" sz="1400" b="1" dirty="0">
                <a:solidFill>
                  <a:schemeClr val="tx1">
                    <a:lumMod val="65000"/>
                    <a:lumOff val="35000"/>
                  </a:schemeClr>
                </a:solidFill>
                <a:latin typeface="Calibri" pitchFamily="34" charset="0"/>
                <a:ea typeface="Calibri" pitchFamily="34" charset="-122"/>
                <a:cs typeface="Calibri" pitchFamily="34" charset="-120"/>
              </a:rPr>
              <a:t>Registered and visited the site but never bought. Big opportunity to convert them.</a:t>
            </a:r>
          </a:p>
        </p:txBody>
      </p:sp>
      <p:sp>
        <p:nvSpPr>
          <p:cNvPr id="20" name="Shape 17"/>
          <p:cNvSpPr/>
          <p:nvPr/>
        </p:nvSpPr>
        <p:spPr>
          <a:xfrm>
            <a:off x="5715000" y="4800600"/>
            <a:ext cx="6080760" cy="1691640"/>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21" name="Shape 18"/>
          <p:cNvSpPr/>
          <p:nvPr/>
        </p:nvSpPr>
        <p:spPr>
          <a:xfrm>
            <a:off x="5715000" y="4800600"/>
            <a:ext cx="6080760" cy="50292"/>
          </a:xfrm>
          <a:prstGeom prst="rect">
            <a:avLst/>
          </a:prstGeom>
          <a:solidFill>
            <a:srgbClr val="E74C3C"/>
          </a:solidFill>
          <a:ln w="12700">
            <a:solidFill>
              <a:srgbClr val="E74C3C"/>
            </a:solidFill>
            <a:prstDash val="solid"/>
          </a:ln>
        </p:spPr>
      </p:sp>
      <p:sp>
        <p:nvSpPr>
          <p:cNvPr id="22" name="Text 19"/>
          <p:cNvSpPr/>
          <p:nvPr/>
        </p:nvSpPr>
        <p:spPr>
          <a:xfrm>
            <a:off x="5897880" y="4910328"/>
            <a:ext cx="2011680" cy="713232"/>
          </a:xfrm>
          <a:prstGeom prst="rect">
            <a:avLst/>
          </a:prstGeom>
          <a:noFill/>
          <a:ln/>
        </p:spPr>
        <p:txBody>
          <a:bodyPr wrap="square" lIns="0" tIns="0" rIns="0" bIns="0" rtlCol="0" anchor="ctr"/>
          <a:lstStyle/>
          <a:p>
            <a:pPr marL="0" indent="0">
              <a:buNone/>
            </a:pPr>
            <a:r>
              <a:rPr lang="en-US" sz="3600" b="1" dirty="0">
                <a:solidFill>
                  <a:srgbClr val="E74C3C"/>
                </a:solidFill>
                <a:latin typeface="Georgia" pitchFamily="34" charset="0"/>
                <a:ea typeface="Georgia" pitchFamily="34" charset="-122"/>
                <a:cs typeface="Georgia" pitchFamily="34" charset="-120"/>
              </a:rPr>
              <a:t>55</a:t>
            </a:r>
            <a:endParaRPr lang="en-US" sz="3600" dirty="0"/>
          </a:p>
        </p:txBody>
      </p:sp>
      <p:sp>
        <p:nvSpPr>
          <p:cNvPr id="23" name="Shape 20"/>
          <p:cNvSpPr/>
          <p:nvPr/>
        </p:nvSpPr>
        <p:spPr>
          <a:xfrm>
            <a:off x="7955280" y="5001768"/>
            <a:ext cx="1280160" cy="310896"/>
          </a:xfrm>
          <a:prstGeom prst="rect">
            <a:avLst/>
          </a:prstGeom>
          <a:solidFill>
            <a:srgbClr val="E74C3C">
              <a:alpha val="18000"/>
            </a:srgbClr>
          </a:solidFill>
          <a:ln w="12700">
            <a:solidFill>
              <a:srgbClr val="E74C3C"/>
            </a:solidFill>
            <a:prstDash val="solid"/>
          </a:ln>
        </p:spPr>
      </p:sp>
      <p:sp>
        <p:nvSpPr>
          <p:cNvPr id="24" name="Text 21"/>
          <p:cNvSpPr/>
          <p:nvPr/>
        </p:nvSpPr>
        <p:spPr>
          <a:xfrm>
            <a:off x="7955280" y="5001768"/>
            <a:ext cx="1280160" cy="310896"/>
          </a:xfrm>
          <a:prstGeom prst="rect">
            <a:avLst/>
          </a:prstGeom>
          <a:noFill/>
          <a:ln/>
        </p:spPr>
        <p:txBody>
          <a:bodyPr wrap="square" lIns="0" tIns="0" rIns="0" bIns="0" rtlCol="0" anchor="ctr"/>
          <a:lstStyle/>
          <a:p>
            <a:pPr marL="0" indent="0" algn="ctr">
              <a:buNone/>
            </a:pPr>
            <a:r>
              <a:rPr lang="en-US" sz="1200" b="1" dirty="0">
                <a:solidFill>
                  <a:srgbClr val="E74C3C"/>
                </a:solidFill>
                <a:latin typeface="Calibri" pitchFamily="34" charset="0"/>
                <a:ea typeface="Calibri" pitchFamily="34" charset="-122"/>
                <a:cs typeface="Calibri" pitchFamily="34" charset="-120"/>
              </a:rPr>
              <a:t>0.3%</a:t>
            </a:r>
            <a:endParaRPr lang="en-US" sz="1200" dirty="0"/>
          </a:p>
        </p:txBody>
      </p:sp>
      <p:sp>
        <p:nvSpPr>
          <p:cNvPr id="25" name="Text 22"/>
          <p:cNvSpPr/>
          <p:nvPr/>
        </p:nvSpPr>
        <p:spPr>
          <a:xfrm>
            <a:off x="5897880" y="5623560"/>
            <a:ext cx="5669280" cy="310896"/>
          </a:xfrm>
          <a:prstGeom prst="rect">
            <a:avLst/>
          </a:prstGeom>
          <a:noFill/>
          <a:ln/>
        </p:spPr>
        <p:txBody>
          <a:bodyPr wrap="square" lIns="0" tIns="0" rIns="0" bIns="0" rtlCol="0" anchor="ctr"/>
          <a:lstStyle/>
          <a:p>
            <a:pPr marL="0" indent="0">
              <a:buNone/>
            </a:pPr>
            <a:r>
              <a:rPr lang="en-US" sz="1200" b="1" dirty="0">
                <a:solidFill>
                  <a:srgbClr val="2C3E50"/>
                </a:solidFill>
                <a:latin typeface="Georgia" pitchFamily="34" charset="0"/>
                <a:ea typeface="Georgia" pitchFamily="34" charset="-122"/>
                <a:cs typeface="Georgia" pitchFamily="34" charset="-120"/>
              </a:rPr>
              <a:t>INACTIVE USERS</a:t>
            </a:r>
            <a:endParaRPr lang="en-US" sz="1200" dirty="0"/>
          </a:p>
        </p:txBody>
      </p:sp>
      <p:sp>
        <p:nvSpPr>
          <p:cNvPr id="26" name="Text 23"/>
          <p:cNvSpPr/>
          <p:nvPr/>
        </p:nvSpPr>
        <p:spPr>
          <a:xfrm>
            <a:off x="5897880" y="5971032"/>
            <a:ext cx="5669280" cy="438912"/>
          </a:xfrm>
          <a:prstGeom prst="rect">
            <a:avLst/>
          </a:prstGeom>
          <a:noFill/>
          <a:ln/>
        </p:spPr>
        <p:txBody>
          <a:bodyPr wrap="square" lIns="0" tIns="0" rIns="0" bIns="0" rtlCol="0" anchor="t"/>
          <a:lstStyle/>
          <a:p>
            <a:r>
              <a:rPr lang="en-US" sz="1400" b="1" dirty="0">
                <a:solidFill>
                  <a:schemeClr val="tx1">
                    <a:lumMod val="65000"/>
                    <a:lumOff val="35000"/>
                  </a:schemeClr>
                </a:solidFill>
                <a:latin typeface="Calibri" pitchFamily="34" charset="0"/>
                <a:ea typeface="Calibri" pitchFamily="34" charset="-122"/>
                <a:cs typeface="Calibri" pitchFamily="34" charset="-120"/>
              </a:rPr>
              <a:t>Have not visited or bought anything. Need a special re-engagement campaign.</a:t>
            </a:r>
          </a:p>
        </p:txBody>
      </p:sp>
    </p:spTree>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B4F72"/>
          </a:solidFill>
          <a:ln w="12700">
            <a:solidFill>
              <a:srgbClr val="1B4F72"/>
            </a:solidFill>
            <a:prstDash val="solid"/>
          </a:ln>
        </p:spPr>
      </p:sp>
      <p:sp>
        <p:nvSpPr>
          <p:cNvPr id="3" name="Text 1"/>
          <p:cNvSpPr/>
          <p:nvPr/>
        </p:nvSpPr>
        <p:spPr>
          <a:xfrm>
            <a:off x="411480" y="0"/>
            <a:ext cx="9875520" cy="96012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Customer Loyalty — CLV Tiers &amp; Repeat Buyers</a:t>
            </a:r>
            <a:endParaRPr lang="en-US" sz="2600" dirty="0"/>
          </a:p>
        </p:txBody>
      </p:sp>
      <p:sp>
        <p:nvSpPr>
          <p:cNvPr id="4" name="Text 2"/>
          <p:cNvSpPr/>
          <p:nvPr/>
        </p:nvSpPr>
        <p:spPr>
          <a:xfrm>
            <a:off x="9966960" y="0"/>
            <a:ext cx="2011680" cy="960120"/>
          </a:xfrm>
          <a:prstGeom prst="rect">
            <a:avLst/>
          </a:prstGeom>
          <a:noFill/>
          <a:ln/>
        </p:spPr>
        <p:txBody>
          <a:bodyPr wrap="square" lIns="0" tIns="0" rIns="0" bIns="0" rtlCol="0" anchor="ctr"/>
          <a:lstStyle/>
          <a:p>
            <a:pPr marL="0" indent="0" algn="r">
              <a:buNone/>
            </a:pPr>
            <a:r>
              <a:rPr lang="en-US" sz="900" b="1" kern="0" spc="250" dirty="0">
                <a:solidFill>
                  <a:srgbClr val="1ABC9C"/>
                </a:solidFill>
                <a:latin typeface="Calibri" pitchFamily="34" charset="0"/>
                <a:ea typeface="Calibri" pitchFamily="34" charset="-122"/>
                <a:cs typeface="Calibri" pitchFamily="34" charset="-120"/>
              </a:rPr>
              <a:t>SECTION 04 · SEGMENTS</a:t>
            </a:r>
            <a:endParaRPr lang="en-US" sz="900" dirty="0"/>
          </a:p>
        </p:txBody>
      </p:sp>
      <p:graphicFrame>
        <p:nvGraphicFramePr>
          <p:cNvPr id="5" name="Chart 0"/>
          <p:cNvGraphicFramePr/>
          <p:nvPr>
            <p:extLst>
              <p:ext uri="{D42A27DB-BD31-4B8C-83A1-F6EECF244321}">
                <p14:modId xmlns:p14="http://schemas.microsoft.com/office/powerpoint/2010/main" val="2628294365"/>
              </p:ext>
            </p:extLst>
          </p:nvPr>
        </p:nvGraphicFramePr>
        <p:xfrm>
          <a:off x="365760" y="1051560"/>
          <a:ext cx="5486400" cy="33832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extLst>
              <p:ext uri="{D42A27DB-BD31-4B8C-83A1-F6EECF244321}">
                <p14:modId xmlns:p14="http://schemas.microsoft.com/office/powerpoint/2010/main" val="3666196367"/>
              </p:ext>
            </p:extLst>
          </p:nvPr>
        </p:nvGraphicFramePr>
        <p:xfrm>
          <a:off x="6080760" y="1051560"/>
          <a:ext cx="5715000" cy="338328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365760" y="4599432"/>
            <a:ext cx="11430000" cy="2212848"/>
          </a:xfrm>
          <a:prstGeom prst="rect">
            <a:avLst/>
          </a:prstGeom>
          <a:solidFill>
            <a:srgbClr val="0D1B2A"/>
          </a:solidFill>
          <a:ln w="12700">
            <a:solidFill>
              <a:srgbClr val="0D1B2A"/>
            </a:solidFill>
            <a:prstDash val="solid"/>
          </a:ln>
          <a:effectLst>
            <a:outerShdw blurRad="127000" dist="50800" dir="8100000" algn="bl" rotWithShape="0">
              <a:srgbClr val="000000">
                <a:alpha val="30000"/>
              </a:srgbClr>
            </a:outerShdw>
          </a:effectLst>
        </p:spPr>
      </p:sp>
      <p:sp>
        <p:nvSpPr>
          <p:cNvPr id="8" name="Text 4"/>
          <p:cNvSpPr/>
          <p:nvPr/>
        </p:nvSpPr>
        <p:spPr>
          <a:xfrm>
            <a:off x="566928" y="4690872"/>
            <a:ext cx="2670048" cy="347472"/>
          </a:xfrm>
          <a:prstGeom prst="rect">
            <a:avLst/>
          </a:prstGeom>
          <a:noFill/>
          <a:ln/>
        </p:spPr>
        <p:txBody>
          <a:bodyPr wrap="square" lIns="0" tIns="0" rIns="0" bIns="0" rtlCol="0" anchor="ctr"/>
          <a:lstStyle/>
          <a:p>
            <a:pPr marL="0" indent="0">
              <a:buNone/>
            </a:pPr>
            <a:r>
              <a:rPr lang="en-US" sz="1400" b="1" dirty="0">
                <a:solidFill>
                  <a:srgbClr val="F39C12"/>
                </a:solidFill>
                <a:latin typeface="Georgia" pitchFamily="34" charset="0"/>
                <a:ea typeface="Georgia" pitchFamily="34" charset="-122"/>
                <a:cs typeface="Georgia" pitchFamily="34" charset="-120"/>
              </a:rPr>
              <a:t>Low CLV = 40.7%</a:t>
            </a:r>
            <a:endParaRPr lang="en-US" sz="1400" dirty="0"/>
          </a:p>
        </p:txBody>
      </p:sp>
      <p:sp>
        <p:nvSpPr>
          <p:cNvPr id="9" name="Text 5"/>
          <p:cNvSpPr/>
          <p:nvPr/>
        </p:nvSpPr>
        <p:spPr>
          <a:xfrm>
            <a:off x="566928" y="5074920"/>
            <a:ext cx="2530835" cy="155448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Most customers haven't spent much yet. They need more reasons to buy again.</a:t>
            </a:r>
            <a:endParaRPr lang="en-US" sz="1400" dirty="0"/>
          </a:p>
        </p:txBody>
      </p:sp>
      <p:sp>
        <p:nvSpPr>
          <p:cNvPr id="10" name="Text 6"/>
          <p:cNvSpPr/>
          <p:nvPr/>
        </p:nvSpPr>
        <p:spPr>
          <a:xfrm>
            <a:off x="3419856" y="4690872"/>
            <a:ext cx="2670048" cy="347472"/>
          </a:xfrm>
          <a:prstGeom prst="rect">
            <a:avLst/>
          </a:prstGeom>
          <a:noFill/>
          <a:ln/>
        </p:spPr>
        <p:txBody>
          <a:bodyPr wrap="square" lIns="0" tIns="0" rIns="0" bIns="0" rtlCol="0" anchor="ctr"/>
          <a:lstStyle/>
          <a:p>
            <a:pPr marL="0" indent="0">
              <a:buNone/>
            </a:pPr>
            <a:r>
              <a:rPr lang="en-US" sz="1400" b="1" dirty="0">
                <a:solidFill>
                  <a:srgbClr val="F39C12"/>
                </a:solidFill>
                <a:latin typeface="Georgia" pitchFamily="34" charset="0"/>
                <a:ea typeface="Georgia" pitchFamily="34" charset="-122"/>
                <a:cs typeface="Georgia" pitchFamily="34" charset="-120"/>
              </a:rPr>
              <a:t>Medium CLV = 38.8%</a:t>
            </a:r>
            <a:endParaRPr lang="en-US" sz="1400" dirty="0"/>
          </a:p>
        </p:txBody>
      </p:sp>
      <p:sp>
        <p:nvSpPr>
          <p:cNvPr id="11" name="Text 7"/>
          <p:cNvSpPr/>
          <p:nvPr/>
        </p:nvSpPr>
        <p:spPr>
          <a:xfrm>
            <a:off x="3419856" y="5074920"/>
            <a:ext cx="2432304" cy="155448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Good customers who shop regularly. Keep them happy with great service.</a:t>
            </a:r>
            <a:endParaRPr lang="en-US" sz="1400" dirty="0"/>
          </a:p>
        </p:txBody>
      </p:sp>
      <p:sp>
        <p:nvSpPr>
          <p:cNvPr id="12" name="Text 8"/>
          <p:cNvSpPr/>
          <p:nvPr/>
        </p:nvSpPr>
        <p:spPr>
          <a:xfrm>
            <a:off x="6272784" y="4690872"/>
            <a:ext cx="2670048" cy="347472"/>
          </a:xfrm>
          <a:prstGeom prst="rect">
            <a:avLst/>
          </a:prstGeom>
          <a:noFill/>
          <a:ln/>
        </p:spPr>
        <p:txBody>
          <a:bodyPr wrap="square" lIns="0" tIns="0" rIns="0" bIns="0" rtlCol="0" anchor="ctr"/>
          <a:lstStyle/>
          <a:p>
            <a:pPr marL="0" indent="0">
              <a:buNone/>
            </a:pPr>
            <a:r>
              <a:rPr lang="en-US" sz="1400" b="1" dirty="0">
                <a:solidFill>
                  <a:srgbClr val="F39C12"/>
                </a:solidFill>
                <a:latin typeface="Georgia" pitchFamily="34" charset="0"/>
                <a:ea typeface="Georgia" pitchFamily="34" charset="-122"/>
                <a:cs typeface="Georgia" pitchFamily="34" charset="-120"/>
              </a:rPr>
              <a:t>High CLV = 1.8%</a:t>
            </a:r>
            <a:endParaRPr lang="en-US" sz="1400" dirty="0"/>
          </a:p>
        </p:txBody>
      </p:sp>
      <p:sp>
        <p:nvSpPr>
          <p:cNvPr id="13" name="Text 9"/>
          <p:cNvSpPr/>
          <p:nvPr/>
        </p:nvSpPr>
        <p:spPr>
          <a:xfrm>
            <a:off x="6272784" y="5074920"/>
            <a:ext cx="2432304" cy="155448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The most valuable customers. Spend the most on keeping them.</a:t>
            </a:r>
            <a:endParaRPr lang="en-US" sz="1400" dirty="0"/>
          </a:p>
        </p:txBody>
      </p:sp>
      <p:sp>
        <p:nvSpPr>
          <p:cNvPr id="14" name="Text 10"/>
          <p:cNvSpPr/>
          <p:nvPr/>
        </p:nvSpPr>
        <p:spPr>
          <a:xfrm>
            <a:off x="9125712" y="4690872"/>
            <a:ext cx="2670048" cy="347472"/>
          </a:xfrm>
          <a:prstGeom prst="rect">
            <a:avLst/>
          </a:prstGeom>
          <a:noFill/>
          <a:ln/>
        </p:spPr>
        <p:txBody>
          <a:bodyPr wrap="square" lIns="0" tIns="0" rIns="0" bIns="0" rtlCol="0" anchor="ctr"/>
          <a:lstStyle/>
          <a:p>
            <a:pPr marL="0" indent="0">
              <a:buNone/>
            </a:pPr>
            <a:r>
              <a:rPr lang="en-US" sz="1400" b="1" dirty="0">
                <a:solidFill>
                  <a:srgbClr val="F39C12"/>
                </a:solidFill>
                <a:latin typeface="Georgia" pitchFamily="34" charset="0"/>
                <a:ea typeface="Georgia" pitchFamily="34" charset="-122"/>
                <a:cs typeface="Georgia" pitchFamily="34" charset="-120"/>
              </a:rPr>
              <a:t>50.2% Repeat Buyers</a:t>
            </a:r>
            <a:endParaRPr lang="en-US" sz="1400" dirty="0"/>
          </a:p>
        </p:txBody>
      </p:sp>
      <p:sp>
        <p:nvSpPr>
          <p:cNvPr id="15" name="Text 11"/>
          <p:cNvSpPr/>
          <p:nvPr/>
        </p:nvSpPr>
        <p:spPr>
          <a:xfrm>
            <a:off x="9125712" y="5074920"/>
            <a:ext cx="2670048" cy="155448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Half of all customers have come back to buy again — that's a great sign.</a:t>
            </a:r>
            <a:endParaRPr lang="en-US" sz="14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B4F72"/>
          </a:solidFill>
          <a:ln w="12700">
            <a:solidFill>
              <a:srgbClr val="1B4F72"/>
            </a:solidFill>
            <a:prstDash val="solid"/>
          </a:ln>
        </p:spPr>
      </p:sp>
      <p:sp>
        <p:nvSpPr>
          <p:cNvPr id="3" name="Text 1"/>
          <p:cNvSpPr/>
          <p:nvPr/>
        </p:nvSpPr>
        <p:spPr>
          <a:xfrm>
            <a:off x="411480" y="0"/>
            <a:ext cx="9875520" cy="96012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Customer Age Groups</a:t>
            </a:r>
            <a:endParaRPr lang="en-US" sz="2600" dirty="0"/>
          </a:p>
        </p:txBody>
      </p:sp>
      <p:sp>
        <p:nvSpPr>
          <p:cNvPr id="4" name="Text 2"/>
          <p:cNvSpPr/>
          <p:nvPr/>
        </p:nvSpPr>
        <p:spPr>
          <a:xfrm>
            <a:off x="9966960" y="0"/>
            <a:ext cx="2011680" cy="960120"/>
          </a:xfrm>
          <a:prstGeom prst="rect">
            <a:avLst/>
          </a:prstGeom>
          <a:noFill/>
          <a:ln/>
        </p:spPr>
        <p:txBody>
          <a:bodyPr wrap="square" lIns="0" tIns="0" rIns="0" bIns="0" rtlCol="0" anchor="ctr"/>
          <a:lstStyle/>
          <a:p>
            <a:pPr marL="0" indent="0" algn="r">
              <a:buNone/>
            </a:pPr>
            <a:r>
              <a:rPr lang="en-US" sz="900" b="1" kern="0" spc="250" dirty="0">
                <a:solidFill>
                  <a:srgbClr val="1ABC9C"/>
                </a:solidFill>
                <a:latin typeface="Calibri" pitchFamily="34" charset="0"/>
                <a:ea typeface="Calibri" pitchFamily="34" charset="-122"/>
                <a:cs typeface="Calibri" pitchFamily="34" charset="-120"/>
              </a:rPr>
              <a:t>SECTION 05 · DEMOGRAPHICS</a:t>
            </a:r>
            <a:endParaRPr lang="en-US" sz="900" dirty="0"/>
          </a:p>
        </p:txBody>
      </p:sp>
      <p:graphicFrame>
        <p:nvGraphicFramePr>
          <p:cNvPr id="5" name="Chart 0"/>
          <p:cNvGraphicFramePr/>
          <p:nvPr>
            <p:extLst>
              <p:ext uri="{D42A27DB-BD31-4B8C-83A1-F6EECF244321}">
                <p14:modId xmlns:p14="http://schemas.microsoft.com/office/powerpoint/2010/main" val="1080239515"/>
              </p:ext>
            </p:extLst>
          </p:nvPr>
        </p:nvGraphicFramePr>
        <p:xfrm>
          <a:off x="365760" y="1051560"/>
          <a:ext cx="7863840" cy="55778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458200" y="1051560"/>
            <a:ext cx="3310128" cy="1719072"/>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7" name="Shape 4"/>
          <p:cNvSpPr/>
          <p:nvPr/>
        </p:nvSpPr>
        <p:spPr>
          <a:xfrm>
            <a:off x="8458200" y="1051560"/>
            <a:ext cx="3310128" cy="50292"/>
          </a:xfrm>
          <a:prstGeom prst="rect">
            <a:avLst/>
          </a:prstGeom>
          <a:solidFill>
            <a:srgbClr val="F39C12"/>
          </a:solidFill>
          <a:ln w="12700">
            <a:solidFill>
              <a:srgbClr val="F39C12"/>
            </a:solidFill>
            <a:prstDash val="solid"/>
          </a:ln>
        </p:spPr>
      </p:sp>
      <p:sp>
        <p:nvSpPr>
          <p:cNvPr id="8" name="Text 5"/>
          <p:cNvSpPr/>
          <p:nvPr/>
        </p:nvSpPr>
        <p:spPr>
          <a:xfrm>
            <a:off x="8641080" y="1161288"/>
            <a:ext cx="2944368" cy="475488"/>
          </a:xfrm>
          <a:prstGeom prst="rect">
            <a:avLst/>
          </a:prstGeom>
          <a:noFill/>
          <a:ln/>
        </p:spPr>
        <p:txBody>
          <a:bodyPr wrap="square" lIns="0" tIns="0" rIns="0" bIns="0" rtlCol="0" anchor="ctr"/>
          <a:lstStyle/>
          <a:p>
            <a:pPr marL="0" indent="0">
              <a:buNone/>
            </a:pPr>
            <a:r>
              <a:rPr lang="en-US" sz="1600" b="1" dirty="0">
                <a:solidFill>
                  <a:srgbClr val="2C3E50"/>
                </a:solidFill>
                <a:latin typeface="Georgia" pitchFamily="34" charset="0"/>
                <a:ea typeface="Georgia" pitchFamily="34" charset="-122"/>
                <a:cs typeface="Georgia" pitchFamily="34" charset="-120"/>
              </a:rPr>
              <a:t>55+ Is the Largest Group</a:t>
            </a:r>
            <a:endParaRPr lang="en-US" sz="1600" dirty="0"/>
          </a:p>
        </p:txBody>
      </p:sp>
      <p:sp>
        <p:nvSpPr>
          <p:cNvPr id="9" name="Text 6"/>
          <p:cNvSpPr/>
          <p:nvPr/>
        </p:nvSpPr>
        <p:spPr>
          <a:xfrm>
            <a:off x="8641080" y="1691640"/>
            <a:ext cx="2944368" cy="950976"/>
          </a:xfrm>
          <a:prstGeom prst="rect">
            <a:avLst/>
          </a:prstGeom>
          <a:noFill/>
          <a:ln/>
        </p:spPr>
        <p:txBody>
          <a:bodyPr wrap="square" lIns="0" tIns="0" rIns="0" bIns="0" rtlCol="0" anchor="t"/>
          <a:lstStyle/>
          <a:p>
            <a:pPr marL="0" indent="0">
              <a:buNone/>
            </a:pPr>
            <a:r>
              <a:rPr lang="en-US" sz="1400" b="1" dirty="0">
                <a:solidFill>
                  <a:schemeClr val="tx1">
                    <a:lumMod val="65000"/>
                    <a:lumOff val="35000"/>
                  </a:schemeClr>
                </a:solidFill>
                <a:latin typeface="Calibri" pitchFamily="34" charset="0"/>
                <a:ea typeface="Calibri" pitchFamily="34" charset="-122"/>
                <a:cs typeface="Calibri" pitchFamily="34" charset="-120"/>
              </a:rPr>
              <a:t>7,243 customers are aged 55+. This is our biggest customer group. We should make sure the site is easy to use for them.</a:t>
            </a:r>
            <a:endParaRPr lang="en-US" sz="1400" b="1" dirty="0">
              <a:solidFill>
                <a:schemeClr val="tx1">
                  <a:lumMod val="65000"/>
                  <a:lumOff val="35000"/>
                </a:schemeClr>
              </a:solidFill>
            </a:endParaRPr>
          </a:p>
        </p:txBody>
      </p:sp>
      <p:sp>
        <p:nvSpPr>
          <p:cNvPr id="10" name="Shape 7"/>
          <p:cNvSpPr/>
          <p:nvPr/>
        </p:nvSpPr>
        <p:spPr>
          <a:xfrm>
            <a:off x="8458200" y="2953512"/>
            <a:ext cx="3310128" cy="1719072"/>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11" name="Shape 8"/>
          <p:cNvSpPr/>
          <p:nvPr/>
        </p:nvSpPr>
        <p:spPr>
          <a:xfrm>
            <a:off x="8458200" y="2953512"/>
            <a:ext cx="3310128" cy="50292"/>
          </a:xfrm>
          <a:prstGeom prst="rect">
            <a:avLst/>
          </a:prstGeom>
          <a:solidFill>
            <a:srgbClr val="1ABC9C"/>
          </a:solidFill>
          <a:ln w="12700">
            <a:solidFill>
              <a:srgbClr val="1ABC9C"/>
            </a:solidFill>
            <a:prstDash val="solid"/>
          </a:ln>
        </p:spPr>
      </p:sp>
      <p:sp>
        <p:nvSpPr>
          <p:cNvPr id="12" name="Text 9"/>
          <p:cNvSpPr/>
          <p:nvPr/>
        </p:nvSpPr>
        <p:spPr>
          <a:xfrm>
            <a:off x="8641080" y="3063240"/>
            <a:ext cx="2944368" cy="475488"/>
          </a:xfrm>
          <a:prstGeom prst="rect">
            <a:avLst/>
          </a:prstGeom>
          <a:noFill/>
          <a:ln/>
        </p:spPr>
        <p:txBody>
          <a:bodyPr wrap="square" lIns="0" tIns="0" rIns="0" bIns="0" rtlCol="0" anchor="ctr"/>
          <a:lstStyle/>
          <a:p>
            <a:r>
              <a:rPr lang="en-US" sz="1600" b="1" dirty="0">
                <a:solidFill>
                  <a:srgbClr val="2C3E50"/>
                </a:solidFill>
                <a:latin typeface="Georgia" pitchFamily="34" charset="0"/>
              </a:rPr>
              <a:t>Young Customers Are Few</a:t>
            </a:r>
          </a:p>
        </p:txBody>
      </p:sp>
      <p:sp>
        <p:nvSpPr>
          <p:cNvPr id="13" name="Text 10"/>
          <p:cNvSpPr/>
          <p:nvPr/>
        </p:nvSpPr>
        <p:spPr>
          <a:xfrm>
            <a:off x="8641080" y="3593592"/>
            <a:ext cx="2944368" cy="950976"/>
          </a:xfrm>
          <a:prstGeom prst="rect">
            <a:avLst/>
          </a:prstGeom>
          <a:noFill/>
          <a:ln/>
        </p:spPr>
        <p:txBody>
          <a:bodyPr wrap="square" lIns="0" tIns="0" rIns="0" bIns="0" rtlCol="0" anchor="t"/>
          <a:lstStyle/>
          <a:p>
            <a:r>
              <a:rPr lang="en-US" sz="1400" b="1" dirty="0">
                <a:solidFill>
                  <a:schemeClr val="tx1">
                    <a:lumMod val="65000"/>
                    <a:lumOff val="35000"/>
                  </a:schemeClr>
                </a:solidFill>
                <a:latin typeface="Calibri" pitchFamily="34" charset="0"/>
                <a:ea typeface="Calibri" pitchFamily="34" charset="-122"/>
                <a:cs typeface="Calibri" pitchFamily="34" charset="-120"/>
              </a:rPr>
              <a:t>Only 2,414 customers are aged 18–24. This is the smallest group and a big growth opportunity.</a:t>
            </a:r>
          </a:p>
        </p:txBody>
      </p:sp>
      <p:sp>
        <p:nvSpPr>
          <p:cNvPr id="14" name="Shape 11"/>
          <p:cNvSpPr/>
          <p:nvPr/>
        </p:nvSpPr>
        <p:spPr>
          <a:xfrm>
            <a:off x="8458200" y="4855464"/>
            <a:ext cx="3310128" cy="1719072"/>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15" name="Shape 12"/>
          <p:cNvSpPr/>
          <p:nvPr/>
        </p:nvSpPr>
        <p:spPr>
          <a:xfrm>
            <a:off x="8458200" y="4855464"/>
            <a:ext cx="3310128" cy="50292"/>
          </a:xfrm>
          <a:prstGeom prst="rect">
            <a:avLst/>
          </a:prstGeom>
          <a:solidFill>
            <a:srgbClr val="1B4F72"/>
          </a:solidFill>
          <a:ln w="12700">
            <a:solidFill>
              <a:srgbClr val="1B4F72"/>
            </a:solidFill>
            <a:prstDash val="solid"/>
          </a:ln>
        </p:spPr>
      </p:sp>
      <p:sp>
        <p:nvSpPr>
          <p:cNvPr id="16" name="Text 13"/>
          <p:cNvSpPr/>
          <p:nvPr/>
        </p:nvSpPr>
        <p:spPr>
          <a:xfrm>
            <a:off x="8641080" y="4965192"/>
            <a:ext cx="2695614" cy="475488"/>
          </a:xfrm>
          <a:prstGeom prst="rect">
            <a:avLst/>
          </a:prstGeom>
          <a:noFill/>
          <a:ln/>
        </p:spPr>
        <p:txBody>
          <a:bodyPr wrap="square" lIns="0" tIns="0" rIns="0" bIns="0" rtlCol="0" anchor="ctr"/>
          <a:lstStyle/>
          <a:p>
            <a:r>
              <a:rPr lang="en-US" sz="1600" b="1" dirty="0">
                <a:solidFill>
                  <a:srgbClr val="2C3E50"/>
                </a:solidFill>
                <a:latin typeface="Georgia" pitchFamily="34" charset="0"/>
              </a:rPr>
              <a:t>Middle Age Groups Are Similar</a:t>
            </a:r>
          </a:p>
        </p:txBody>
      </p:sp>
      <p:sp>
        <p:nvSpPr>
          <p:cNvPr id="17" name="Text 14"/>
          <p:cNvSpPr/>
          <p:nvPr/>
        </p:nvSpPr>
        <p:spPr>
          <a:xfrm>
            <a:off x="8641080" y="5542199"/>
            <a:ext cx="2944368" cy="950976"/>
          </a:xfrm>
          <a:prstGeom prst="rect">
            <a:avLst/>
          </a:prstGeom>
          <a:noFill/>
          <a:ln/>
        </p:spPr>
        <p:txBody>
          <a:bodyPr wrap="square" lIns="0" tIns="0" rIns="0" bIns="0" rtlCol="0" anchor="t"/>
          <a:lstStyle/>
          <a:p>
            <a:r>
              <a:rPr lang="en-US" sz="1400" b="1" dirty="0">
                <a:solidFill>
                  <a:schemeClr val="tx1">
                    <a:lumMod val="65000"/>
                    <a:lumOff val="35000"/>
                  </a:schemeClr>
                </a:solidFill>
                <a:latin typeface="Calibri" pitchFamily="34" charset="0"/>
                <a:ea typeface="Calibri" pitchFamily="34" charset="-122"/>
                <a:cs typeface="Calibri" pitchFamily="34" charset="-120"/>
              </a:rPr>
              <a:t>The 25–34, 35–44 and 45–54 groups each have around 3,400–3,500 customers — quite balanced.</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B4F72"/>
          </a:solidFill>
          <a:ln w="12700">
            <a:solidFill>
              <a:srgbClr val="1B4F72"/>
            </a:solidFill>
            <a:prstDash val="solid"/>
          </a:ln>
        </p:spPr>
      </p:sp>
      <p:sp>
        <p:nvSpPr>
          <p:cNvPr id="3" name="Text 1"/>
          <p:cNvSpPr/>
          <p:nvPr/>
        </p:nvSpPr>
        <p:spPr>
          <a:xfrm>
            <a:off x="411480" y="0"/>
            <a:ext cx="9875520" cy="96012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How Much Each Age Group Spends</a:t>
            </a:r>
            <a:endParaRPr lang="en-US" sz="2600" dirty="0"/>
          </a:p>
        </p:txBody>
      </p:sp>
      <p:sp>
        <p:nvSpPr>
          <p:cNvPr id="4" name="Text 2"/>
          <p:cNvSpPr/>
          <p:nvPr/>
        </p:nvSpPr>
        <p:spPr>
          <a:xfrm>
            <a:off x="9966960" y="0"/>
            <a:ext cx="2011680" cy="960120"/>
          </a:xfrm>
          <a:prstGeom prst="rect">
            <a:avLst/>
          </a:prstGeom>
          <a:noFill/>
          <a:ln/>
        </p:spPr>
        <p:txBody>
          <a:bodyPr wrap="square" lIns="0" tIns="0" rIns="0" bIns="0" rtlCol="0" anchor="ctr"/>
          <a:lstStyle/>
          <a:p>
            <a:pPr marL="0" indent="0" algn="r">
              <a:buNone/>
            </a:pPr>
            <a:r>
              <a:rPr lang="en-US" sz="900" b="1" kern="0" spc="250" dirty="0">
                <a:solidFill>
                  <a:srgbClr val="1ABC9C"/>
                </a:solidFill>
                <a:latin typeface="Calibri" pitchFamily="34" charset="0"/>
                <a:ea typeface="Calibri" pitchFamily="34" charset="-122"/>
                <a:cs typeface="Calibri" pitchFamily="34" charset="-120"/>
              </a:rPr>
              <a:t>SECTION 05 · DEMOGRAPHICS</a:t>
            </a:r>
            <a:endParaRPr lang="en-US" sz="900" dirty="0"/>
          </a:p>
        </p:txBody>
      </p:sp>
      <p:graphicFrame>
        <p:nvGraphicFramePr>
          <p:cNvPr id="5" name="Chart 0"/>
          <p:cNvGraphicFramePr/>
          <p:nvPr>
            <p:extLst>
              <p:ext uri="{D42A27DB-BD31-4B8C-83A1-F6EECF244321}">
                <p14:modId xmlns:p14="http://schemas.microsoft.com/office/powerpoint/2010/main" val="750573088"/>
              </p:ext>
            </p:extLst>
          </p:nvPr>
        </p:nvGraphicFramePr>
        <p:xfrm>
          <a:off x="365760" y="1051560"/>
          <a:ext cx="7863840" cy="55778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458200" y="1051560"/>
            <a:ext cx="3310128" cy="1719072"/>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7" name="Shape 4"/>
          <p:cNvSpPr/>
          <p:nvPr/>
        </p:nvSpPr>
        <p:spPr>
          <a:xfrm>
            <a:off x="8458200" y="1051560"/>
            <a:ext cx="3310128" cy="50292"/>
          </a:xfrm>
          <a:prstGeom prst="rect">
            <a:avLst/>
          </a:prstGeom>
          <a:solidFill>
            <a:srgbClr val="F39C12"/>
          </a:solidFill>
          <a:ln w="12700">
            <a:solidFill>
              <a:srgbClr val="F39C12"/>
            </a:solidFill>
            <a:prstDash val="solid"/>
          </a:ln>
        </p:spPr>
      </p:sp>
      <p:sp>
        <p:nvSpPr>
          <p:cNvPr id="8" name="Text 5"/>
          <p:cNvSpPr/>
          <p:nvPr/>
        </p:nvSpPr>
        <p:spPr>
          <a:xfrm>
            <a:off x="8641080" y="1161288"/>
            <a:ext cx="2944368" cy="475488"/>
          </a:xfrm>
          <a:prstGeom prst="rect">
            <a:avLst/>
          </a:prstGeom>
          <a:noFill/>
          <a:ln/>
        </p:spPr>
        <p:txBody>
          <a:bodyPr wrap="square" lIns="0" tIns="0" rIns="0" bIns="0" rtlCol="0" anchor="ctr"/>
          <a:lstStyle/>
          <a:p>
            <a:pPr marL="0" indent="0">
              <a:buNone/>
            </a:pPr>
            <a:r>
              <a:rPr lang="en-US" sz="1600" b="1" dirty="0">
                <a:solidFill>
                  <a:srgbClr val="2C3E50"/>
                </a:solidFill>
                <a:latin typeface="Georgia" pitchFamily="34" charset="0"/>
                <a:ea typeface="Georgia" pitchFamily="34" charset="-122"/>
                <a:cs typeface="Georgia" pitchFamily="34" charset="-120"/>
              </a:rPr>
              <a:t>55+ Spends the Most</a:t>
            </a:r>
            <a:endParaRPr lang="en-US" sz="1600" dirty="0"/>
          </a:p>
        </p:txBody>
      </p:sp>
      <p:sp>
        <p:nvSpPr>
          <p:cNvPr id="9" name="Text 6"/>
          <p:cNvSpPr/>
          <p:nvPr/>
        </p:nvSpPr>
        <p:spPr>
          <a:xfrm>
            <a:off x="8641080" y="1691640"/>
            <a:ext cx="2944368" cy="950976"/>
          </a:xfrm>
          <a:prstGeom prst="rect">
            <a:avLst/>
          </a:prstGeom>
          <a:noFill/>
          <a:ln/>
        </p:spPr>
        <p:txBody>
          <a:bodyPr wrap="square" lIns="0" tIns="0" rIns="0" bIns="0" rtlCol="0" anchor="t"/>
          <a:lstStyle/>
          <a:p>
            <a:pPr marL="0" indent="0">
              <a:buNone/>
            </a:pPr>
            <a:r>
              <a:rPr lang="en-US" sz="1400" b="1" dirty="0">
                <a:solidFill>
                  <a:schemeClr val="tx1">
                    <a:lumMod val="65000"/>
                    <a:lumOff val="35000"/>
                  </a:schemeClr>
                </a:solidFill>
                <a:latin typeface="Calibri" pitchFamily="34" charset="0"/>
                <a:ea typeface="Calibri" pitchFamily="34" charset="-122"/>
                <a:cs typeface="Calibri" pitchFamily="34" charset="-120"/>
              </a:rPr>
              <a:t>$1.63M in total revenue — more than the next two age groups combined. Their spending power is huge.</a:t>
            </a:r>
            <a:endParaRPr lang="en-US" sz="1400" b="1" dirty="0">
              <a:solidFill>
                <a:schemeClr val="tx1">
                  <a:lumMod val="65000"/>
                  <a:lumOff val="35000"/>
                </a:schemeClr>
              </a:solidFill>
            </a:endParaRPr>
          </a:p>
        </p:txBody>
      </p:sp>
      <p:sp>
        <p:nvSpPr>
          <p:cNvPr id="10" name="Shape 7"/>
          <p:cNvSpPr/>
          <p:nvPr/>
        </p:nvSpPr>
        <p:spPr>
          <a:xfrm>
            <a:off x="8458200" y="2953512"/>
            <a:ext cx="3310128" cy="1719072"/>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11" name="Shape 8"/>
          <p:cNvSpPr/>
          <p:nvPr/>
        </p:nvSpPr>
        <p:spPr>
          <a:xfrm>
            <a:off x="8458200" y="2953512"/>
            <a:ext cx="3310128" cy="50292"/>
          </a:xfrm>
          <a:prstGeom prst="rect">
            <a:avLst/>
          </a:prstGeom>
          <a:solidFill>
            <a:srgbClr val="1ABC9C"/>
          </a:solidFill>
          <a:ln w="12700">
            <a:solidFill>
              <a:srgbClr val="1ABC9C"/>
            </a:solidFill>
            <a:prstDash val="solid"/>
          </a:ln>
        </p:spPr>
      </p:sp>
      <p:sp>
        <p:nvSpPr>
          <p:cNvPr id="12" name="Text 9"/>
          <p:cNvSpPr/>
          <p:nvPr/>
        </p:nvSpPr>
        <p:spPr>
          <a:xfrm>
            <a:off x="8641080" y="3063240"/>
            <a:ext cx="2944368" cy="475488"/>
          </a:xfrm>
          <a:prstGeom prst="rect">
            <a:avLst/>
          </a:prstGeom>
          <a:noFill/>
          <a:ln/>
        </p:spPr>
        <p:txBody>
          <a:bodyPr wrap="square" lIns="0" tIns="0" rIns="0" bIns="0" rtlCol="0" anchor="ctr"/>
          <a:lstStyle/>
          <a:p>
            <a:r>
              <a:rPr lang="en-US" sz="1600" b="1" dirty="0">
                <a:solidFill>
                  <a:srgbClr val="2C3E50"/>
                </a:solidFill>
                <a:latin typeface="Georgia" pitchFamily="34" charset="0"/>
              </a:rPr>
              <a:t>25–34 and 35–44 Are Close</a:t>
            </a:r>
          </a:p>
        </p:txBody>
      </p:sp>
      <p:sp>
        <p:nvSpPr>
          <p:cNvPr id="13" name="Text 10"/>
          <p:cNvSpPr/>
          <p:nvPr/>
        </p:nvSpPr>
        <p:spPr>
          <a:xfrm>
            <a:off x="8641080" y="3593592"/>
            <a:ext cx="2944368" cy="950976"/>
          </a:xfrm>
          <a:prstGeom prst="rect">
            <a:avLst/>
          </a:prstGeom>
          <a:noFill/>
          <a:ln/>
        </p:spPr>
        <p:txBody>
          <a:bodyPr wrap="square" lIns="0" tIns="0" rIns="0" bIns="0" rtlCol="0" anchor="t"/>
          <a:lstStyle/>
          <a:p>
            <a:r>
              <a:rPr lang="en-US" sz="1400" b="1" dirty="0">
                <a:solidFill>
                  <a:schemeClr val="tx1">
                    <a:lumMod val="65000"/>
                    <a:lumOff val="35000"/>
                  </a:schemeClr>
                </a:solidFill>
                <a:latin typeface="Calibri" pitchFamily="34" charset="0"/>
                <a:ea typeface="Calibri" pitchFamily="34" charset="-122"/>
                <a:cs typeface="Calibri" pitchFamily="34" charset="-120"/>
              </a:rPr>
              <a:t>Both groups bring in about $770K–$774K each. They are consistent spenders.</a:t>
            </a:r>
          </a:p>
        </p:txBody>
      </p:sp>
      <p:sp>
        <p:nvSpPr>
          <p:cNvPr id="14" name="Shape 11"/>
          <p:cNvSpPr/>
          <p:nvPr/>
        </p:nvSpPr>
        <p:spPr>
          <a:xfrm>
            <a:off x="8458200" y="4855464"/>
            <a:ext cx="3310128" cy="1719072"/>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15" name="Shape 12"/>
          <p:cNvSpPr/>
          <p:nvPr/>
        </p:nvSpPr>
        <p:spPr>
          <a:xfrm>
            <a:off x="8458200" y="4855464"/>
            <a:ext cx="3310128" cy="50292"/>
          </a:xfrm>
          <a:prstGeom prst="rect">
            <a:avLst/>
          </a:prstGeom>
          <a:solidFill>
            <a:srgbClr val="1B4F72"/>
          </a:solidFill>
          <a:ln w="12700">
            <a:solidFill>
              <a:srgbClr val="1B4F72"/>
            </a:solidFill>
            <a:prstDash val="solid"/>
          </a:ln>
        </p:spPr>
      </p:sp>
      <p:sp>
        <p:nvSpPr>
          <p:cNvPr id="16" name="Text 13"/>
          <p:cNvSpPr/>
          <p:nvPr/>
        </p:nvSpPr>
        <p:spPr>
          <a:xfrm>
            <a:off x="8641080" y="4965192"/>
            <a:ext cx="2944368" cy="475488"/>
          </a:xfrm>
          <a:prstGeom prst="rect">
            <a:avLst/>
          </a:prstGeom>
          <a:noFill/>
          <a:ln/>
        </p:spPr>
        <p:txBody>
          <a:bodyPr wrap="square" lIns="0" tIns="0" rIns="0" bIns="0" rtlCol="0" anchor="ctr"/>
          <a:lstStyle/>
          <a:p>
            <a:r>
              <a:rPr lang="en-US" sz="1600" b="1" dirty="0">
                <a:solidFill>
                  <a:srgbClr val="2C3E50"/>
                </a:solidFill>
                <a:latin typeface="Georgia" pitchFamily="34" charset="0"/>
              </a:rPr>
              <a:t>18–24 Spends the Least</a:t>
            </a:r>
          </a:p>
        </p:txBody>
      </p:sp>
      <p:sp>
        <p:nvSpPr>
          <p:cNvPr id="17" name="Text 14"/>
          <p:cNvSpPr/>
          <p:nvPr/>
        </p:nvSpPr>
        <p:spPr>
          <a:xfrm>
            <a:off x="8641080" y="5495544"/>
            <a:ext cx="2944368" cy="950976"/>
          </a:xfrm>
          <a:prstGeom prst="rect">
            <a:avLst/>
          </a:prstGeom>
          <a:noFill/>
          <a:ln/>
        </p:spPr>
        <p:txBody>
          <a:bodyPr wrap="square" lIns="0" tIns="0" rIns="0" bIns="0" rtlCol="0" anchor="t"/>
          <a:lstStyle/>
          <a:p>
            <a:r>
              <a:rPr lang="en-US" sz="1400" b="1" dirty="0">
                <a:solidFill>
                  <a:schemeClr val="tx1">
                    <a:lumMod val="65000"/>
                    <a:lumOff val="35000"/>
                  </a:schemeClr>
                </a:solidFill>
                <a:latin typeface="Calibri" pitchFamily="34" charset="0"/>
                <a:ea typeface="Calibri" pitchFamily="34" charset="-122"/>
                <a:cs typeface="Calibri" pitchFamily="34" charset="-120"/>
              </a:rPr>
              <a:t>$541K total. They may need discounts or deals to shop more on the platform.</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F39C12"/>
          </a:solidFill>
          <a:ln w="12700">
            <a:solidFill>
              <a:srgbClr val="F39C12"/>
            </a:solidFill>
            <a:prstDash val="solid"/>
          </a:ln>
        </p:spPr>
      </p:sp>
      <p:sp>
        <p:nvSpPr>
          <p:cNvPr id="3" name="Text 1"/>
          <p:cNvSpPr/>
          <p:nvPr/>
        </p:nvSpPr>
        <p:spPr>
          <a:xfrm>
            <a:off x="411480" y="0"/>
            <a:ext cx="9875520" cy="960120"/>
          </a:xfrm>
          <a:prstGeom prst="rect">
            <a:avLst/>
          </a:prstGeom>
          <a:noFill/>
          <a:ln/>
        </p:spPr>
        <p:txBody>
          <a:bodyPr wrap="square" lIns="0" tIns="0" rIns="0" bIns="0" rtlCol="0" anchor="ctr"/>
          <a:lstStyle/>
          <a:p>
            <a:pPr marL="0" indent="0">
              <a:buNone/>
            </a:pPr>
            <a:r>
              <a:rPr lang="en-US" sz="2600" b="1" dirty="0">
                <a:solidFill>
                  <a:srgbClr val="0D1B2A"/>
                </a:solidFill>
                <a:latin typeface="Georgia" pitchFamily="34" charset="0"/>
                <a:ea typeface="Georgia" pitchFamily="34" charset="-122"/>
                <a:cs typeface="Georgia" pitchFamily="34" charset="-120"/>
              </a:rPr>
              <a:t>Where Are Our Customers From?</a:t>
            </a:r>
            <a:endParaRPr lang="en-US" sz="2600" dirty="0"/>
          </a:p>
        </p:txBody>
      </p:sp>
      <p:sp>
        <p:nvSpPr>
          <p:cNvPr id="4" name="Text 2"/>
          <p:cNvSpPr/>
          <p:nvPr/>
        </p:nvSpPr>
        <p:spPr>
          <a:xfrm>
            <a:off x="9966960" y="0"/>
            <a:ext cx="2011680" cy="960120"/>
          </a:xfrm>
          <a:prstGeom prst="rect">
            <a:avLst/>
          </a:prstGeom>
          <a:noFill/>
          <a:ln/>
        </p:spPr>
        <p:txBody>
          <a:bodyPr wrap="square" lIns="0" tIns="0" rIns="0" bIns="0" rtlCol="0" anchor="ctr"/>
          <a:lstStyle/>
          <a:p>
            <a:pPr marL="0" indent="0" algn="r">
              <a:buNone/>
            </a:pPr>
            <a:r>
              <a:rPr lang="en-US" sz="900" b="1" kern="0" spc="250" dirty="0">
                <a:solidFill>
                  <a:srgbClr val="0D1B2A"/>
                </a:solidFill>
                <a:latin typeface="Calibri" pitchFamily="34" charset="0"/>
                <a:ea typeface="Calibri" pitchFamily="34" charset="-122"/>
                <a:cs typeface="Calibri" pitchFamily="34" charset="-120"/>
              </a:rPr>
              <a:t>SECTION 05 · GEOGRAPHY</a:t>
            </a:r>
            <a:endParaRPr lang="en-US" sz="900" dirty="0"/>
          </a:p>
        </p:txBody>
      </p:sp>
      <p:graphicFrame>
        <p:nvGraphicFramePr>
          <p:cNvPr id="5" name="Chart 0"/>
          <p:cNvGraphicFramePr/>
          <p:nvPr>
            <p:extLst>
              <p:ext uri="{D42A27DB-BD31-4B8C-83A1-F6EECF244321}">
                <p14:modId xmlns:p14="http://schemas.microsoft.com/office/powerpoint/2010/main" val="1150249852"/>
              </p:ext>
            </p:extLst>
          </p:nvPr>
        </p:nvGraphicFramePr>
        <p:xfrm>
          <a:off x="365760" y="1051560"/>
          <a:ext cx="7863840" cy="55778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458200" y="1051560"/>
            <a:ext cx="3310128" cy="1719072"/>
          </a:xfrm>
          <a:prstGeom prst="rect">
            <a:avLst/>
          </a:prstGeom>
          <a:solidFill>
            <a:srgbClr val="112233"/>
          </a:solidFill>
          <a:ln w="9525">
            <a:solidFill>
              <a:srgbClr val="1E3A5F"/>
            </a:solidFill>
            <a:prstDash val="solid"/>
          </a:ln>
          <a:effectLst>
            <a:outerShdw blurRad="127000" dist="50800" dir="8100000" algn="bl" rotWithShape="0">
              <a:srgbClr val="000000">
                <a:alpha val="30000"/>
              </a:srgbClr>
            </a:outerShdw>
          </a:effectLst>
        </p:spPr>
      </p:sp>
      <p:sp>
        <p:nvSpPr>
          <p:cNvPr id="7" name="Shape 4"/>
          <p:cNvSpPr/>
          <p:nvPr/>
        </p:nvSpPr>
        <p:spPr>
          <a:xfrm>
            <a:off x="8458200" y="1051560"/>
            <a:ext cx="3310128" cy="50292"/>
          </a:xfrm>
          <a:prstGeom prst="rect">
            <a:avLst/>
          </a:prstGeom>
          <a:solidFill>
            <a:srgbClr val="F39C12"/>
          </a:solidFill>
          <a:ln w="12700">
            <a:solidFill>
              <a:srgbClr val="F39C12"/>
            </a:solidFill>
            <a:prstDash val="solid"/>
          </a:ln>
        </p:spPr>
      </p:sp>
      <p:sp>
        <p:nvSpPr>
          <p:cNvPr id="8" name="Text 5"/>
          <p:cNvSpPr/>
          <p:nvPr/>
        </p:nvSpPr>
        <p:spPr>
          <a:xfrm>
            <a:off x="8641080" y="1161288"/>
            <a:ext cx="2944368" cy="475488"/>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USA Leads</a:t>
            </a:r>
            <a:endParaRPr lang="en-US" sz="1600" dirty="0"/>
          </a:p>
        </p:txBody>
      </p:sp>
      <p:sp>
        <p:nvSpPr>
          <p:cNvPr id="9" name="Text 6"/>
          <p:cNvSpPr/>
          <p:nvPr/>
        </p:nvSpPr>
        <p:spPr>
          <a:xfrm>
            <a:off x="8641080" y="1691640"/>
            <a:ext cx="2944368" cy="950976"/>
          </a:xfrm>
          <a:prstGeom prst="rect">
            <a:avLst/>
          </a:prstGeom>
          <a:noFill/>
          <a:ln/>
        </p:spPr>
        <p:txBody>
          <a:bodyPr wrap="square" lIns="0" tIns="0" rIns="0" bIns="0" rtlCol="0" anchor="t"/>
          <a:lstStyle/>
          <a:p>
            <a:pPr marL="0" indent="0">
              <a:buNone/>
            </a:pPr>
            <a:r>
              <a:rPr lang="en-US" sz="1400" b="1" dirty="0">
                <a:solidFill>
                  <a:srgbClr val="95A5A6"/>
                </a:solidFill>
                <a:latin typeface="Calibri" pitchFamily="34" charset="0"/>
                <a:ea typeface="Calibri" pitchFamily="34" charset="-122"/>
                <a:cs typeface="Calibri" pitchFamily="34" charset="-120"/>
              </a:rPr>
              <a:t>3,648 customers — the biggest market by far. Should be the #1 focus for campaigns.</a:t>
            </a:r>
            <a:endParaRPr lang="en-US" sz="1400" b="1" dirty="0"/>
          </a:p>
        </p:txBody>
      </p:sp>
      <p:sp>
        <p:nvSpPr>
          <p:cNvPr id="10" name="Shape 7"/>
          <p:cNvSpPr/>
          <p:nvPr/>
        </p:nvSpPr>
        <p:spPr>
          <a:xfrm>
            <a:off x="8458200" y="2953512"/>
            <a:ext cx="3310128" cy="1719072"/>
          </a:xfrm>
          <a:prstGeom prst="rect">
            <a:avLst/>
          </a:prstGeom>
          <a:solidFill>
            <a:srgbClr val="112233"/>
          </a:solidFill>
          <a:ln w="9525">
            <a:solidFill>
              <a:srgbClr val="1E3A5F"/>
            </a:solidFill>
            <a:prstDash val="solid"/>
          </a:ln>
          <a:effectLst>
            <a:outerShdw blurRad="127000" dist="50800" dir="8100000" algn="bl" rotWithShape="0">
              <a:srgbClr val="000000">
                <a:alpha val="30000"/>
              </a:srgbClr>
            </a:outerShdw>
          </a:effectLst>
        </p:spPr>
      </p:sp>
      <p:sp>
        <p:nvSpPr>
          <p:cNvPr id="11" name="Shape 8"/>
          <p:cNvSpPr/>
          <p:nvPr/>
        </p:nvSpPr>
        <p:spPr>
          <a:xfrm>
            <a:off x="8458200" y="2953512"/>
            <a:ext cx="3310128" cy="50292"/>
          </a:xfrm>
          <a:prstGeom prst="rect">
            <a:avLst/>
          </a:prstGeom>
          <a:solidFill>
            <a:srgbClr val="1ABC9C"/>
          </a:solidFill>
          <a:ln w="12700">
            <a:solidFill>
              <a:srgbClr val="1ABC9C"/>
            </a:solidFill>
            <a:prstDash val="solid"/>
          </a:ln>
        </p:spPr>
      </p:sp>
      <p:sp>
        <p:nvSpPr>
          <p:cNvPr id="12" name="Text 9"/>
          <p:cNvSpPr/>
          <p:nvPr/>
        </p:nvSpPr>
        <p:spPr>
          <a:xfrm>
            <a:off x="8641080" y="3063240"/>
            <a:ext cx="2944368" cy="475488"/>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India &amp; UK Are Close</a:t>
            </a:r>
            <a:endParaRPr lang="en-US" sz="1600" dirty="0"/>
          </a:p>
        </p:txBody>
      </p:sp>
      <p:sp>
        <p:nvSpPr>
          <p:cNvPr id="13" name="Text 10"/>
          <p:cNvSpPr/>
          <p:nvPr/>
        </p:nvSpPr>
        <p:spPr>
          <a:xfrm>
            <a:off x="8641080" y="3593592"/>
            <a:ext cx="2944368" cy="950976"/>
          </a:xfrm>
          <a:prstGeom prst="rect">
            <a:avLst/>
          </a:prstGeom>
          <a:noFill/>
          <a:ln/>
        </p:spPr>
        <p:txBody>
          <a:bodyPr wrap="square" lIns="0" tIns="0" rIns="0" bIns="0" rtlCol="0" anchor="t"/>
          <a:lstStyle/>
          <a:p>
            <a:r>
              <a:rPr lang="en-US" sz="1400" b="1" dirty="0">
                <a:solidFill>
                  <a:srgbClr val="95A5A6"/>
                </a:solidFill>
                <a:latin typeface="Calibri" pitchFamily="34" charset="0"/>
                <a:ea typeface="Calibri" pitchFamily="34" charset="-122"/>
                <a:cs typeface="Calibri" pitchFamily="34" charset="-120"/>
              </a:rPr>
              <a:t>India (1,589) and UK (1,585) are the 2nd and 3rd largest markets — similar in size.</a:t>
            </a:r>
          </a:p>
        </p:txBody>
      </p:sp>
      <p:sp>
        <p:nvSpPr>
          <p:cNvPr id="14" name="Shape 11"/>
          <p:cNvSpPr/>
          <p:nvPr/>
        </p:nvSpPr>
        <p:spPr>
          <a:xfrm>
            <a:off x="8458200" y="4855464"/>
            <a:ext cx="3310128" cy="1719072"/>
          </a:xfrm>
          <a:prstGeom prst="rect">
            <a:avLst/>
          </a:prstGeom>
          <a:solidFill>
            <a:srgbClr val="112233"/>
          </a:solidFill>
          <a:ln w="9525">
            <a:solidFill>
              <a:srgbClr val="1E3A5F"/>
            </a:solidFill>
            <a:prstDash val="solid"/>
          </a:ln>
          <a:effectLst>
            <a:outerShdw blurRad="127000" dist="50800" dir="8100000" algn="bl" rotWithShape="0">
              <a:srgbClr val="000000">
                <a:alpha val="30000"/>
              </a:srgbClr>
            </a:outerShdw>
          </a:effectLst>
        </p:spPr>
      </p:sp>
      <p:sp>
        <p:nvSpPr>
          <p:cNvPr id="15" name="Shape 12"/>
          <p:cNvSpPr/>
          <p:nvPr/>
        </p:nvSpPr>
        <p:spPr>
          <a:xfrm>
            <a:off x="8458200" y="4855464"/>
            <a:ext cx="3310128" cy="50292"/>
          </a:xfrm>
          <a:prstGeom prst="rect">
            <a:avLst/>
          </a:prstGeom>
          <a:solidFill>
            <a:srgbClr val="1B4F72"/>
          </a:solidFill>
          <a:ln w="12700">
            <a:solidFill>
              <a:srgbClr val="1B4F72"/>
            </a:solidFill>
            <a:prstDash val="solid"/>
          </a:ln>
        </p:spPr>
      </p:sp>
      <p:sp>
        <p:nvSpPr>
          <p:cNvPr id="16" name="Text 13"/>
          <p:cNvSpPr/>
          <p:nvPr/>
        </p:nvSpPr>
        <p:spPr>
          <a:xfrm>
            <a:off x="8641080" y="4965192"/>
            <a:ext cx="2944368" cy="475488"/>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17 Countries Total</a:t>
            </a:r>
            <a:endParaRPr lang="en-US" sz="1600" dirty="0"/>
          </a:p>
        </p:txBody>
      </p:sp>
      <p:sp>
        <p:nvSpPr>
          <p:cNvPr id="17" name="Text 14"/>
          <p:cNvSpPr/>
          <p:nvPr/>
        </p:nvSpPr>
        <p:spPr>
          <a:xfrm>
            <a:off x="8641080" y="5495544"/>
            <a:ext cx="2944368" cy="950976"/>
          </a:xfrm>
          <a:prstGeom prst="rect">
            <a:avLst/>
          </a:prstGeom>
          <a:noFill/>
          <a:ln/>
        </p:spPr>
        <p:txBody>
          <a:bodyPr wrap="square" lIns="0" tIns="0" rIns="0" bIns="0" rtlCol="0" anchor="t"/>
          <a:lstStyle/>
          <a:p>
            <a:r>
              <a:rPr lang="en-US" sz="1400" b="1" dirty="0">
                <a:solidFill>
                  <a:srgbClr val="95A5A6"/>
                </a:solidFill>
                <a:latin typeface="Calibri" pitchFamily="34" charset="0"/>
                <a:ea typeface="Calibri" pitchFamily="34" charset="-122"/>
                <a:cs typeface="Calibri" pitchFamily="34" charset="-120"/>
              </a:rPr>
              <a:t>Our customers come from across the world — this is a global platform.</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B4F72"/>
          </a:solidFill>
          <a:ln w="12700">
            <a:solidFill>
              <a:srgbClr val="1B4F72"/>
            </a:solidFill>
            <a:prstDash val="solid"/>
          </a:ln>
        </p:spPr>
      </p:sp>
      <p:sp>
        <p:nvSpPr>
          <p:cNvPr id="3" name="Text 1"/>
          <p:cNvSpPr/>
          <p:nvPr/>
        </p:nvSpPr>
        <p:spPr>
          <a:xfrm>
            <a:off x="411480" y="0"/>
            <a:ext cx="9875520" cy="96012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Which Categories Make the Most Money?</a:t>
            </a:r>
            <a:endParaRPr lang="en-US" sz="2600" dirty="0"/>
          </a:p>
        </p:txBody>
      </p:sp>
      <p:sp>
        <p:nvSpPr>
          <p:cNvPr id="4" name="Text 2"/>
          <p:cNvSpPr/>
          <p:nvPr/>
        </p:nvSpPr>
        <p:spPr>
          <a:xfrm>
            <a:off x="9966960" y="0"/>
            <a:ext cx="2011680" cy="960120"/>
          </a:xfrm>
          <a:prstGeom prst="rect">
            <a:avLst/>
          </a:prstGeom>
          <a:noFill/>
          <a:ln/>
        </p:spPr>
        <p:txBody>
          <a:bodyPr wrap="square" lIns="0" tIns="0" rIns="0" bIns="0" rtlCol="0" anchor="ctr"/>
          <a:lstStyle/>
          <a:p>
            <a:pPr marL="0" indent="0" algn="r">
              <a:buNone/>
            </a:pPr>
            <a:r>
              <a:rPr lang="en-US" sz="900" b="1" kern="0" spc="250" dirty="0">
                <a:solidFill>
                  <a:srgbClr val="1ABC9C"/>
                </a:solidFill>
                <a:latin typeface="Calibri" pitchFamily="34" charset="0"/>
                <a:ea typeface="Calibri" pitchFamily="34" charset="-122"/>
                <a:cs typeface="Calibri" pitchFamily="34" charset="-120"/>
              </a:rPr>
              <a:t>SECTION 06 · WHAT THEY BUY</a:t>
            </a:r>
            <a:endParaRPr lang="en-US" sz="900" dirty="0"/>
          </a:p>
        </p:txBody>
      </p:sp>
      <p:graphicFrame>
        <p:nvGraphicFramePr>
          <p:cNvPr id="5" name="Chart 0"/>
          <p:cNvGraphicFramePr/>
          <p:nvPr>
            <p:extLst>
              <p:ext uri="{D42A27DB-BD31-4B8C-83A1-F6EECF244321}">
                <p14:modId xmlns:p14="http://schemas.microsoft.com/office/powerpoint/2010/main" val="4123642070"/>
              </p:ext>
            </p:extLst>
          </p:nvPr>
        </p:nvGraphicFramePr>
        <p:xfrm>
          <a:off x="365760" y="1051560"/>
          <a:ext cx="7863840" cy="55778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458200" y="1051560"/>
            <a:ext cx="3310128" cy="1261872"/>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7" name="Shape 4"/>
          <p:cNvSpPr/>
          <p:nvPr/>
        </p:nvSpPr>
        <p:spPr>
          <a:xfrm>
            <a:off x="8458200" y="1051560"/>
            <a:ext cx="3310128" cy="50292"/>
          </a:xfrm>
          <a:prstGeom prst="rect">
            <a:avLst/>
          </a:prstGeom>
          <a:solidFill>
            <a:srgbClr val="F39C12"/>
          </a:solidFill>
          <a:ln w="12700">
            <a:solidFill>
              <a:srgbClr val="F39C12"/>
            </a:solidFill>
            <a:prstDash val="solid"/>
          </a:ln>
        </p:spPr>
      </p:sp>
      <p:sp>
        <p:nvSpPr>
          <p:cNvPr id="8" name="Text 5"/>
          <p:cNvSpPr/>
          <p:nvPr/>
        </p:nvSpPr>
        <p:spPr>
          <a:xfrm>
            <a:off x="8641080" y="1143000"/>
            <a:ext cx="2944368" cy="384048"/>
          </a:xfrm>
          <a:prstGeom prst="rect">
            <a:avLst/>
          </a:prstGeom>
          <a:noFill/>
          <a:ln/>
        </p:spPr>
        <p:txBody>
          <a:bodyPr wrap="square" lIns="0" tIns="0" rIns="0" bIns="0" rtlCol="0" anchor="ctr"/>
          <a:lstStyle/>
          <a:p>
            <a:pPr marL="0" indent="0">
              <a:buNone/>
            </a:pPr>
            <a:r>
              <a:rPr lang="en-US" sz="1600" b="1" dirty="0">
                <a:solidFill>
                  <a:srgbClr val="2C3E50"/>
                </a:solidFill>
                <a:latin typeface="Georgia" pitchFamily="34" charset="0"/>
                <a:ea typeface="Georgia" pitchFamily="34" charset="-122"/>
                <a:cs typeface="Georgia" pitchFamily="34" charset="-120"/>
              </a:rPr>
              <a:t>Beauty: $1.26M</a:t>
            </a:r>
            <a:endParaRPr lang="en-US" sz="1600" dirty="0"/>
          </a:p>
        </p:txBody>
      </p:sp>
      <p:sp>
        <p:nvSpPr>
          <p:cNvPr id="9" name="Text 6"/>
          <p:cNvSpPr/>
          <p:nvPr/>
        </p:nvSpPr>
        <p:spPr>
          <a:xfrm>
            <a:off x="8641080" y="1563624"/>
            <a:ext cx="2944368" cy="658368"/>
          </a:xfrm>
          <a:prstGeom prst="rect">
            <a:avLst/>
          </a:prstGeom>
          <a:noFill/>
          <a:ln/>
        </p:spPr>
        <p:txBody>
          <a:bodyPr wrap="square" lIns="0" tIns="0" rIns="0" bIns="0" rtlCol="0" anchor="t"/>
          <a:lstStyle/>
          <a:p>
            <a:pPr marL="0" indent="0">
              <a:buNone/>
            </a:pPr>
            <a:r>
              <a:rPr lang="en-US" sz="1400" b="1" dirty="0">
                <a:solidFill>
                  <a:schemeClr val="tx1">
                    <a:lumMod val="65000"/>
                    <a:lumOff val="35000"/>
                  </a:schemeClr>
                </a:solidFill>
                <a:latin typeface="Calibri" pitchFamily="34" charset="0"/>
                <a:ea typeface="Calibri" pitchFamily="34" charset="-122"/>
                <a:cs typeface="Calibri" pitchFamily="34" charset="-120"/>
              </a:rPr>
              <a:t>Top earner — makes up 28% of all revenue. Very popular with the 55+ group.</a:t>
            </a:r>
            <a:endParaRPr lang="en-US" sz="1400" b="1" dirty="0">
              <a:solidFill>
                <a:schemeClr val="tx1">
                  <a:lumMod val="65000"/>
                  <a:lumOff val="35000"/>
                </a:schemeClr>
              </a:solidFill>
            </a:endParaRPr>
          </a:p>
        </p:txBody>
      </p:sp>
      <p:sp>
        <p:nvSpPr>
          <p:cNvPr id="10" name="Shape 7"/>
          <p:cNvSpPr/>
          <p:nvPr/>
        </p:nvSpPr>
        <p:spPr>
          <a:xfrm>
            <a:off x="8458200" y="2478024"/>
            <a:ext cx="3310128" cy="1261872"/>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11" name="Shape 8"/>
          <p:cNvSpPr/>
          <p:nvPr/>
        </p:nvSpPr>
        <p:spPr>
          <a:xfrm>
            <a:off x="8458200" y="2478024"/>
            <a:ext cx="3310128" cy="50292"/>
          </a:xfrm>
          <a:prstGeom prst="rect">
            <a:avLst/>
          </a:prstGeom>
          <a:solidFill>
            <a:srgbClr val="1B4F72"/>
          </a:solidFill>
          <a:ln w="12700">
            <a:solidFill>
              <a:srgbClr val="1B4F72"/>
            </a:solidFill>
            <a:prstDash val="solid"/>
          </a:ln>
        </p:spPr>
      </p:sp>
      <p:sp>
        <p:nvSpPr>
          <p:cNvPr id="12" name="Text 9"/>
          <p:cNvSpPr/>
          <p:nvPr/>
        </p:nvSpPr>
        <p:spPr>
          <a:xfrm>
            <a:off x="8641080" y="2569464"/>
            <a:ext cx="2944368" cy="384048"/>
          </a:xfrm>
          <a:prstGeom prst="rect">
            <a:avLst/>
          </a:prstGeom>
          <a:noFill/>
          <a:ln/>
        </p:spPr>
        <p:txBody>
          <a:bodyPr wrap="square" lIns="0" tIns="0" rIns="0" bIns="0" rtlCol="0" anchor="ctr"/>
          <a:lstStyle/>
          <a:p>
            <a:r>
              <a:rPr lang="en-US" sz="1600" b="1" dirty="0">
                <a:solidFill>
                  <a:srgbClr val="2C3E50"/>
                </a:solidFill>
                <a:latin typeface="Georgia" pitchFamily="34" charset="0"/>
              </a:rPr>
              <a:t>Books: $746K</a:t>
            </a:r>
          </a:p>
        </p:txBody>
      </p:sp>
      <p:sp>
        <p:nvSpPr>
          <p:cNvPr id="13" name="Text 10"/>
          <p:cNvSpPr/>
          <p:nvPr/>
        </p:nvSpPr>
        <p:spPr>
          <a:xfrm>
            <a:off x="8641080" y="2990088"/>
            <a:ext cx="2944368" cy="658368"/>
          </a:xfrm>
          <a:prstGeom prst="rect">
            <a:avLst/>
          </a:prstGeom>
          <a:noFill/>
          <a:ln/>
        </p:spPr>
        <p:txBody>
          <a:bodyPr wrap="square" lIns="0" tIns="0" rIns="0" bIns="0" rtlCol="0" anchor="t"/>
          <a:lstStyle/>
          <a:p>
            <a:r>
              <a:rPr lang="en-US" sz="1400" b="1" dirty="0">
                <a:solidFill>
                  <a:schemeClr val="tx1">
                    <a:lumMod val="65000"/>
                    <a:lumOff val="35000"/>
                  </a:schemeClr>
                </a:solidFill>
                <a:latin typeface="Calibri" pitchFamily="34" charset="0"/>
                <a:ea typeface="Calibri" pitchFamily="34" charset="-122"/>
                <a:cs typeface="Calibri" pitchFamily="34" charset="-120"/>
              </a:rPr>
              <a:t>Second best. Consistent orders from all age groups.</a:t>
            </a:r>
          </a:p>
        </p:txBody>
      </p:sp>
      <p:sp>
        <p:nvSpPr>
          <p:cNvPr id="14" name="Shape 11"/>
          <p:cNvSpPr/>
          <p:nvPr/>
        </p:nvSpPr>
        <p:spPr>
          <a:xfrm>
            <a:off x="8458200" y="3904488"/>
            <a:ext cx="3310128" cy="1261872"/>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15" name="Shape 12"/>
          <p:cNvSpPr/>
          <p:nvPr/>
        </p:nvSpPr>
        <p:spPr>
          <a:xfrm>
            <a:off x="8458200" y="3904488"/>
            <a:ext cx="3310128" cy="50292"/>
          </a:xfrm>
          <a:prstGeom prst="rect">
            <a:avLst/>
          </a:prstGeom>
          <a:solidFill>
            <a:srgbClr val="1ABC9C"/>
          </a:solidFill>
          <a:ln w="12700">
            <a:solidFill>
              <a:srgbClr val="1ABC9C"/>
            </a:solidFill>
            <a:prstDash val="solid"/>
          </a:ln>
        </p:spPr>
      </p:sp>
      <p:sp>
        <p:nvSpPr>
          <p:cNvPr id="16" name="Text 13"/>
          <p:cNvSpPr/>
          <p:nvPr/>
        </p:nvSpPr>
        <p:spPr>
          <a:xfrm>
            <a:off x="8641080" y="3995928"/>
            <a:ext cx="2944368" cy="384048"/>
          </a:xfrm>
          <a:prstGeom prst="rect">
            <a:avLst/>
          </a:prstGeom>
          <a:noFill/>
          <a:ln/>
        </p:spPr>
        <p:txBody>
          <a:bodyPr wrap="square" lIns="0" tIns="0" rIns="0" bIns="0" rtlCol="0" anchor="ctr"/>
          <a:lstStyle/>
          <a:p>
            <a:r>
              <a:rPr lang="en-US" sz="1600" b="1" dirty="0">
                <a:solidFill>
                  <a:srgbClr val="2C3E50"/>
                </a:solidFill>
                <a:latin typeface="Georgia" pitchFamily="34" charset="0"/>
              </a:rPr>
              <a:t>Fashion: $689K</a:t>
            </a:r>
          </a:p>
        </p:txBody>
      </p:sp>
      <p:sp>
        <p:nvSpPr>
          <p:cNvPr id="17" name="Text 14"/>
          <p:cNvSpPr/>
          <p:nvPr/>
        </p:nvSpPr>
        <p:spPr>
          <a:xfrm>
            <a:off x="8641080" y="4416552"/>
            <a:ext cx="2944368" cy="658368"/>
          </a:xfrm>
          <a:prstGeom prst="rect">
            <a:avLst/>
          </a:prstGeom>
          <a:noFill/>
          <a:ln/>
        </p:spPr>
        <p:txBody>
          <a:bodyPr wrap="square" lIns="0" tIns="0" rIns="0" bIns="0" rtlCol="0" anchor="t"/>
          <a:lstStyle/>
          <a:p>
            <a:r>
              <a:rPr lang="en-US" sz="1400" b="1" dirty="0">
                <a:solidFill>
                  <a:schemeClr val="tx1">
                    <a:lumMod val="65000"/>
                    <a:lumOff val="35000"/>
                  </a:schemeClr>
                </a:solidFill>
                <a:latin typeface="Calibri" pitchFamily="34" charset="0"/>
                <a:ea typeface="Calibri" pitchFamily="34" charset="-122"/>
                <a:cs typeface="Calibri" pitchFamily="34" charset="-120"/>
              </a:rPr>
              <a:t>Third place. High value orders, especially from younger shoppers.</a:t>
            </a:r>
          </a:p>
        </p:txBody>
      </p:sp>
      <p:sp>
        <p:nvSpPr>
          <p:cNvPr id="18" name="Shape 15"/>
          <p:cNvSpPr/>
          <p:nvPr/>
        </p:nvSpPr>
        <p:spPr>
          <a:xfrm>
            <a:off x="8458200" y="5330952"/>
            <a:ext cx="3310128" cy="1261872"/>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19" name="Shape 16"/>
          <p:cNvSpPr/>
          <p:nvPr/>
        </p:nvSpPr>
        <p:spPr>
          <a:xfrm>
            <a:off x="8458200" y="5330952"/>
            <a:ext cx="3310128" cy="50292"/>
          </a:xfrm>
          <a:prstGeom prst="rect">
            <a:avLst/>
          </a:prstGeom>
          <a:solidFill>
            <a:srgbClr val="95A5A6"/>
          </a:solidFill>
          <a:ln w="12700">
            <a:solidFill>
              <a:srgbClr val="95A5A6"/>
            </a:solidFill>
            <a:prstDash val="solid"/>
          </a:ln>
        </p:spPr>
      </p:sp>
      <p:sp>
        <p:nvSpPr>
          <p:cNvPr id="20" name="Text 17"/>
          <p:cNvSpPr/>
          <p:nvPr/>
        </p:nvSpPr>
        <p:spPr>
          <a:xfrm>
            <a:off x="8641080" y="5422392"/>
            <a:ext cx="2944368" cy="384048"/>
          </a:xfrm>
          <a:prstGeom prst="rect">
            <a:avLst/>
          </a:prstGeom>
          <a:noFill/>
          <a:ln/>
        </p:spPr>
        <p:txBody>
          <a:bodyPr wrap="square" lIns="0" tIns="0" rIns="0" bIns="0" rtlCol="0" anchor="ctr"/>
          <a:lstStyle/>
          <a:p>
            <a:r>
              <a:rPr lang="en-US" sz="1600" b="1" dirty="0">
                <a:solidFill>
                  <a:srgbClr val="2C3E50"/>
                </a:solidFill>
                <a:latin typeface="Georgia" pitchFamily="34" charset="0"/>
              </a:rPr>
              <a:t>Toys: $290K</a:t>
            </a:r>
          </a:p>
        </p:txBody>
      </p:sp>
      <p:sp>
        <p:nvSpPr>
          <p:cNvPr id="21" name="Text 18"/>
          <p:cNvSpPr/>
          <p:nvPr/>
        </p:nvSpPr>
        <p:spPr>
          <a:xfrm>
            <a:off x="8641080" y="5843016"/>
            <a:ext cx="2944368" cy="658368"/>
          </a:xfrm>
          <a:prstGeom prst="rect">
            <a:avLst/>
          </a:prstGeom>
          <a:noFill/>
          <a:ln/>
        </p:spPr>
        <p:txBody>
          <a:bodyPr wrap="square" lIns="0" tIns="0" rIns="0" bIns="0" rtlCol="0" anchor="t"/>
          <a:lstStyle/>
          <a:p>
            <a:r>
              <a:rPr lang="en-US" sz="1400" b="1" dirty="0">
                <a:solidFill>
                  <a:schemeClr val="tx1">
                    <a:lumMod val="65000"/>
                    <a:lumOff val="35000"/>
                  </a:schemeClr>
                </a:solidFill>
                <a:latin typeface="Calibri" pitchFamily="34" charset="0"/>
                <a:ea typeface="Calibri" pitchFamily="34" charset="-122"/>
                <a:cs typeface="Calibri" pitchFamily="34" charset="-120"/>
              </a:rPr>
              <a:t>Lowest revenue. Needs promotions or better placement to grow.</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B4F72"/>
          </a:solidFill>
          <a:ln w="12700">
            <a:solidFill>
              <a:srgbClr val="1B4F72"/>
            </a:solidFill>
            <a:prstDash val="solid"/>
          </a:ln>
        </p:spPr>
      </p:sp>
      <p:sp>
        <p:nvSpPr>
          <p:cNvPr id="3" name="Text 1"/>
          <p:cNvSpPr/>
          <p:nvPr/>
        </p:nvSpPr>
        <p:spPr>
          <a:xfrm>
            <a:off x="411480" y="0"/>
            <a:ext cx="9875520" cy="96012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How Do Customers Pay?</a:t>
            </a:r>
            <a:endParaRPr lang="en-US" sz="2600" dirty="0"/>
          </a:p>
        </p:txBody>
      </p:sp>
      <p:sp>
        <p:nvSpPr>
          <p:cNvPr id="4" name="Text 2"/>
          <p:cNvSpPr/>
          <p:nvPr/>
        </p:nvSpPr>
        <p:spPr>
          <a:xfrm>
            <a:off x="9966960" y="0"/>
            <a:ext cx="2011680" cy="960120"/>
          </a:xfrm>
          <a:prstGeom prst="rect">
            <a:avLst/>
          </a:prstGeom>
          <a:noFill/>
          <a:ln/>
        </p:spPr>
        <p:txBody>
          <a:bodyPr wrap="square" lIns="0" tIns="0" rIns="0" bIns="0" rtlCol="0" anchor="ctr"/>
          <a:lstStyle/>
          <a:p>
            <a:pPr marL="0" indent="0" algn="r">
              <a:buNone/>
            </a:pPr>
            <a:r>
              <a:rPr lang="en-US" sz="900" b="1" kern="0" spc="250" dirty="0">
                <a:solidFill>
                  <a:srgbClr val="1ABC9C"/>
                </a:solidFill>
                <a:latin typeface="Calibri" pitchFamily="34" charset="0"/>
                <a:ea typeface="Calibri" pitchFamily="34" charset="-122"/>
                <a:cs typeface="Calibri" pitchFamily="34" charset="-120"/>
              </a:rPr>
              <a:t>SECTION 07 · HOW THEY SHOP</a:t>
            </a:r>
            <a:endParaRPr lang="en-US" sz="900" dirty="0"/>
          </a:p>
        </p:txBody>
      </p:sp>
      <p:graphicFrame>
        <p:nvGraphicFramePr>
          <p:cNvPr id="5" name="Chart 0"/>
          <p:cNvGraphicFramePr/>
          <p:nvPr>
            <p:extLst>
              <p:ext uri="{D42A27DB-BD31-4B8C-83A1-F6EECF244321}">
                <p14:modId xmlns:p14="http://schemas.microsoft.com/office/powerpoint/2010/main" val="4216077277"/>
              </p:ext>
            </p:extLst>
          </p:nvPr>
        </p:nvGraphicFramePr>
        <p:xfrm>
          <a:off x="365760" y="1051560"/>
          <a:ext cx="7863840" cy="55778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458200" y="1051560"/>
            <a:ext cx="3310128" cy="1261872"/>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txBody>
          <a:bodyPr/>
          <a:lstStyle/>
          <a:p>
            <a:endParaRPr lang="en-US" dirty="0"/>
          </a:p>
        </p:txBody>
      </p:sp>
      <p:sp>
        <p:nvSpPr>
          <p:cNvPr id="7" name="Shape 4"/>
          <p:cNvSpPr/>
          <p:nvPr/>
        </p:nvSpPr>
        <p:spPr>
          <a:xfrm>
            <a:off x="8458200" y="1051560"/>
            <a:ext cx="3310128" cy="50292"/>
          </a:xfrm>
          <a:prstGeom prst="rect">
            <a:avLst/>
          </a:prstGeom>
          <a:solidFill>
            <a:srgbClr val="F39C12"/>
          </a:solidFill>
          <a:ln w="12700">
            <a:solidFill>
              <a:srgbClr val="F39C12"/>
            </a:solidFill>
            <a:prstDash val="solid"/>
          </a:ln>
        </p:spPr>
      </p:sp>
      <p:sp>
        <p:nvSpPr>
          <p:cNvPr id="8" name="Text 5"/>
          <p:cNvSpPr/>
          <p:nvPr/>
        </p:nvSpPr>
        <p:spPr>
          <a:xfrm>
            <a:off x="8641080" y="1143000"/>
            <a:ext cx="2944368" cy="384048"/>
          </a:xfrm>
          <a:prstGeom prst="rect">
            <a:avLst/>
          </a:prstGeom>
          <a:noFill/>
          <a:ln/>
        </p:spPr>
        <p:txBody>
          <a:bodyPr wrap="square" lIns="0" tIns="0" rIns="0" bIns="0" rtlCol="0" anchor="ctr"/>
          <a:lstStyle/>
          <a:p>
            <a:pPr marL="0" indent="0">
              <a:buNone/>
            </a:pPr>
            <a:r>
              <a:rPr lang="en-US" sz="1600" b="1" dirty="0">
                <a:solidFill>
                  <a:srgbClr val="2C3E50"/>
                </a:solidFill>
                <a:latin typeface="Georgia" pitchFamily="34" charset="0"/>
                <a:ea typeface="Georgia" pitchFamily="34" charset="-122"/>
                <a:cs typeface="Georgia" pitchFamily="34" charset="-120"/>
              </a:rPr>
              <a:t>Card Dominates</a:t>
            </a:r>
            <a:endParaRPr lang="en-US" sz="1600" dirty="0"/>
          </a:p>
        </p:txBody>
      </p:sp>
      <p:sp>
        <p:nvSpPr>
          <p:cNvPr id="9" name="Text 6"/>
          <p:cNvSpPr/>
          <p:nvPr/>
        </p:nvSpPr>
        <p:spPr>
          <a:xfrm>
            <a:off x="8641080" y="1563624"/>
            <a:ext cx="2944368" cy="658368"/>
          </a:xfrm>
          <a:prstGeom prst="rect">
            <a:avLst/>
          </a:prstGeom>
          <a:noFill/>
          <a:ln/>
        </p:spPr>
        <p:txBody>
          <a:bodyPr wrap="square" lIns="0" tIns="0" rIns="0" bIns="0" rtlCol="0" anchor="t"/>
          <a:lstStyle/>
          <a:p>
            <a:pPr marL="0" indent="0">
              <a:buNone/>
            </a:pPr>
            <a:r>
              <a:rPr lang="en-US" sz="1400" b="1" dirty="0">
                <a:solidFill>
                  <a:schemeClr val="tx1">
                    <a:lumMod val="65000"/>
                    <a:lumOff val="35000"/>
                  </a:schemeClr>
                </a:solidFill>
                <a:latin typeface="Calibri" pitchFamily="34" charset="0"/>
                <a:ea typeface="Calibri" pitchFamily="34" charset="-122"/>
                <a:cs typeface="Calibri" pitchFamily="34" charset="-120"/>
              </a:rPr>
              <a:t>13,522 customers pay by credit/debit card. That's 83% of all buyers. Make sure card checkout is fast and easy.</a:t>
            </a:r>
            <a:endParaRPr lang="en-US" sz="1400" b="1" dirty="0">
              <a:solidFill>
                <a:schemeClr val="tx1">
                  <a:lumMod val="65000"/>
                  <a:lumOff val="35000"/>
                </a:schemeClr>
              </a:solidFill>
            </a:endParaRPr>
          </a:p>
        </p:txBody>
      </p:sp>
      <p:sp>
        <p:nvSpPr>
          <p:cNvPr id="10" name="Shape 7"/>
          <p:cNvSpPr/>
          <p:nvPr/>
        </p:nvSpPr>
        <p:spPr>
          <a:xfrm>
            <a:off x="8458200" y="2478024"/>
            <a:ext cx="3310128" cy="1261872"/>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11" name="Shape 8"/>
          <p:cNvSpPr/>
          <p:nvPr/>
        </p:nvSpPr>
        <p:spPr>
          <a:xfrm>
            <a:off x="8458200" y="2478024"/>
            <a:ext cx="3310128" cy="50292"/>
          </a:xfrm>
          <a:prstGeom prst="rect">
            <a:avLst/>
          </a:prstGeom>
          <a:solidFill>
            <a:srgbClr val="1ABC9C"/>
          </a:solidFill>
          <a:ln w="12700">
            <a:solidFill>
              <a:srgbClr val="1ABC9C"/>
            </a:solidFill>
            <a:prstDash val="solid"/>
          </a:ln>
        </p:spPr>
      </p:sp>
      <p:sp>
        <p:nvSpPr>
          <p:cNvPr id="12" name="Text 9"/>
          <p:cNvSpPr/>
          <p:nvPr/>
        </p:nvSpPr>
        <p:spPr>
          <a:xfrm>
            <a:off x="8641080" y="2569464"/>
            <a:ext cx="2944368" cy="384048"/>
          </a:xfrm>
          <a:prstGeom prst="rect">
            <a:avLst/>
          </a:prstGeom>
          <a:noFill/>
          <a:ln/>
        </p:spPr>
        <p:txBody>
          <a:bodyPr wrap="square" lIns="0" tIns="0" rIns="0" bIns="0" rtlCol="0" anchor="ctr"/>
          <a:lstStyle/>
          <a:p>
            <a:r>
              <a:rPr lang="en-US" sz="1600" b="1" dirty="0">
                <a:solidFill>
                  <a:srgbClr val="2C3E50"/>
                </a:solidFill>
                <a:latin typeface="Georgia" pitchFamily="34" charset="0"/>
              </a:rPr>
              <a:t>PayPal is 2nd</a:t>
            </a:r>
          </a:p>
        </p:txBody>
      </p:sp>
      <p:sp>
        <p:nvSpPr>
          <p:cNvPr id="13" name="Text 10"/>
          <p:cNvSpPr/>
          <p:nvPr/>
        </p:nvSpPr>
        <p:spPr>
          <a:xfrm>
            <a:off x="8641080" y="2990088"/>
            <a:ext cx="2944368" cy="658368"/>
          </a:xfrm>
          <a:prstGeom prst="rect">
            <a:avLst/>
          </a:prstGeom>
          <a:noFill/>
          <a:ln/>
        </p:spPr>
        <p:txBody>
          <a:bodyPr wrap="square" lIns="0" tIns="0" rIns="0" bIns="0" rtlCol="0" anchor="t"/>
          <a:lstStyle/>
          <a:p>
            <a:r>
              <a:rPr lang="en-US" sz="1400" b="1" dirty="0">
                <a:solidFill>
                  <a:schemeClr val="tx1">
                    <a:lumMod val="65000"/>
                    <a:lumOff val="35000"/>
                  </a:schemeClr>
                </a:solidFill>
                <a:latin typeface="Calibri" pitchFamily="34" charset="0"/>
                <a:ea typeface="Calibri" pitchFamily="34" charset="-122"/>
                <a:cs typeface="Calibri" pitchFamily="34" charset="-120"/>
              </a:rPr>
              <a:t>1,451 customers use PayPal. A solid alternative — keep the integration working well.</a:t>
            </a:r>
          </a:p>
        </p:txBody>
      </p:sp>
      <p:sp>
        <p:nvSpPr>
          <p:cNvPr id="14" name="Shape 11"/>
          <p:cNvSpPr/>
          <p:nvPr/>
        </p:nvSpPr>
        <p:spPr>
          <a:xfrm>
            <a:off x="8458200" y="3904488"/>
            <a:ext cx="3310128" cy="1261872"/>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15" name="Shape 12"/>
          <p:cNvSpPr/>
          <p:nvPr/>
        </p:nvSpPr>
        <p:spPr>
          <a:xfrm>
            <a:off x="8458200" y="3904488"/>
            <a:ext cx="3310128" cy="50292"/>
          </a:xfrm>
          <a:prstGeom prst="rect">
            <a:avLst/>
          </a:prstGeom>
          <a:solidFill>
            <a:srgbClr val="1B4F72"/>
          </a:solidFill>
          <a:ln w="12700">
            <a:solidFill>
              <a:srgbClr val="1B4F72"/>
            </a:solidFill>
            <a:prstDash val="solid"/>
          </a:ln>
        </p:spPr>
      </p:sp>
      <p:sp>
        <p:nvSpPr>
          <p:cNvPr id="16" name="Text 13"/>
          <p:cNvSpPr/>
          <p:nvPr/>
        </p:nvSpPr>
        <p:spPr>
          <a:xfrm>
            <a:off x="8641080" y="3995928"/>
            <a:ext cx="2944368" cy="384048"/>
          </a:xfrm>
          <a:prstGeom prst="rect">
            <a:avLst/>
          </a:prstGeom>
          <a:noFill/>
          <a:ln/>
        </p:spPr>
        <p:txBody>
          <a:bodyPr wrap="square" lIns="0" tIns="0" rIns="0" bIns="0" rtlCol="0" anchor="ctr"/>
          <a:lstStyle/>
          <a:p>
            <a:r>
              <a:rPr lang="en-US" sz="1600" b="1" dirty="0">
                <a:solidFill>
                  <a:srgbClr val="2C3E50"/>
                </a:solidFill>
                <a:latin typeface="Georgia" pitchFamily="34" charset="0"/>
              </a:rPr>
              <a:t>Wallet is Growing</a:t>
            </a:r>
          </a:p>
        </p:txBody>
      </p:sp>
      <p:sp>
        <p:nvSpPr>
          <p:cNvPr id="17" name="Text 14"/>
          <p:cNvSpPr/>
          <p:nvPr/>
        </p:nvSpPr>
        <p:spPr>
          <a:xfrm>
            <a:off x="8641080" y="4416552"/>
            <a:ext cx="2944368" cy="658368"/>
          </a:xfrm>
          <a:prstGeom prst="rect">
            <a:avLst/>
          </a:prstGeom>
          <a:noFill/>
          <a:ln/>
        </p:spPr>
        <p:txBody>
          <a:bodyPr wrap="square" lIns="0" tIns="0" rIns="0" bIns="0" rtlCol="0" anchor="t"/>
          <a:lstStyle/>
          <a:p>
            <a:r>
              <a:rPr lang="en-US" sz="1400" b="1" dirty="0">
                <a:solidFill>
                  <a:schemeClr val="tx1">
                    <a:lumMod val="65000"/>
                    <a:lumOff val="35000"/>
                  </a:schemeClr>
                </a:solidFill>
                <a:latin typeface="Calibri" pitchFamily="34" charset="0"/>
                <a:ea typeface="Calibri" pitchFamily="34" charset="-122"/>
                <a:cs typeface="Calibri" pitchFamily="34" charset="-120"/>
              </a:rPr>
              <a:t>799 customers use digital wallets (like Apple Pay). This method is growing, especially on mobile.</a:t>
            </a:r>
          </a:p>
        </p:txBody>
      </p:sp>
      <p:sp>
        <p:nvSpPr>
          <p:cNvPr id="18" name="Shape 15"/>
          <p:cNvSpPr/>
          <p:nvPr/>
        </p:nvSpPr>
        <p:spPr>
          <a:xfrm>
            <a:off x="8458200" y="5330952"/>
            <a:ext cx="3310128" cy="1261872"/>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19" name="Shape 16"/>
          <p:cNvSpPr/>
          <p:nvPr/>
        </p:nvSpPr>
        <p:spPr>
          <a:xfrm>
            <a:off x="8458200" y="5330952"/>
            <a:ext cx="3310128" cy="50292"/>
          </a:xfrm>
          <a:prstGeom prst="rect">
            <a:avLst/>
          </a:prstGeom>
          <a:solidFill>
            <a:srgbClr val="95A5A6"/>
          </a:solidFill>
          <a:ln w="12700">
            <a:solidFill>
              <a:srgbClr val="95A5A6"/>
            </a:solidFill>
            <a:prstDash val="solid"/>
          </a:ln>
        </p:spPr>
      </p:sp>
      <p:sp>
        <p:nvSpPr>
          <p:cNvPr id="20" name="Text 17"/>
          <p:cNvSpPr/>
          <p:nvPr/>
        </p:nvSpPr>
        <p:spPr>
          <a:xfrm>
            <a:off x="8641080" y="5422392"/>
            <a:ext cx="2944368" cy="384048"/>
          </a:xfrm>
          <a:prstGeom prst="rect">
            <a:avLst/>
          </a:prstGeom>
          <a:noFill/>
          <a:ln/>
        </p:spPr>
        <p:txBody>
          <a:bodyPr wrap="square" lIns="0" tIns="0" rIns="0" bIns="0" rtlCol="0" anchor="ctr"/>
          <a:lstStyle/>
          <a:p>
            <a:r>
              <a:rPr lang="en-US" sz="1600" b="1" dirty="0">
                <a:solidFill>
                  <a:srgbClr val="2C3E50"/>
                </a:solidFill>
                <a:latin typeface="Georgia" pitchFamily="34" charset="0"/>
              </a:rPr>
              <a:t>COD is Small</a:t>
            </a:r>
          </a:p>
        </p:txBody>
      </p:sp>
      <p:sp>
        <p:nvSpPr>
          <p:cNvPr id="21" name="Text 18"/>
          <p:cNvSpPr/>
          <p:nvPr/>
        </p:nvSpPr>
        <p:spPr>
          <a:xfrm>
            <a:off x="8641080" y="5843016"/>
            <a:ext cx="2944368" cy="658368"/>
          </a:xfrm>
          <a:prstGeom prst="rect">
            <a:avLst/>
          </a:prstGeom>
          <a:noFill/>
          <a:ln/>
        </p:spPr>
        <p:txBody>
          <a:bodyPr wrap="square" lIns="0" tIns="0" rIns="0" bIns="0" rtlCol="0" anchor="t"/>
          <a:lstStyle/>
          <a:p>
            <a:r>
              <a:rPr lang="en-US" sz="1400" b="1" dirty="0">
                <a:solidFill>
                  <a:schemeClr val="tx1">
                    <a:lumMod val="65000"/>
                    <a:lumOff val="35000"/>
                  </a:schemeClr>
                </a:solidFill>
                <a:latin typeface="Calibri" pitchFamily="34" charset="0"/>
                <a:ea typeface="Calibri" pitchFamily="34" charset="-122"/>
                <a:cs typeface="Calibri" pitchFamily="34" charset="-120"/>
              </a:rPr>
              <a:t>Only 496 customers use Cash on Delivery — mostly in emerging markets like India and Brazil.</a:t>
            </a:r>
          </a:p>
        </p:txBody>
      </p:sp>
    </p:spTree>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F39C12"/>
          </a:solidFill>
          <a:ln w="12700">
            <a:solidFill>
              <a:srgbClr val="F39C12"/>
            </a:solidFill>
            <a:prstDash val="solid"/>
          </a:ln>
        </p:spPr>
      </p:sp>
      <p:sp>
        <p:nvSpPr>
          <p:cNvPr id="3" name="Text 1"/>
          <p:cNvSpPr/>
          <p:nvPr/>
        </p:nvSpPr>
        <p:spPr>
          <a:xfrm>
            <a:off x="411480" y="0"/>
            <a:ext cx="9875520" cy="960120"/>
          </a:xfrm>
          <a:prstGeom prst="rect">
            <a:avLst/>
          </a:prstGeom>
          <a:noFill/>
          <a:ln/>
        </p:spPr>
        <p:txBody>
          <a:bodyPr wrap="square" lIns="0" tIns="0" rIns="0" bIns="0" rtlCol="0" anchor="ctr"/>
          <a:lstStyle/>
          <a:p>
            <a:pPr marL="0" indent="0">
              <a:buNone/>
            </a:pPr>
            <a:r>
              <a:rPr lang="en-US" sz="2600" b="1" dirty="0">
                <a:solidFill>
                  <a:srgbClr val="0D1B2A"/>
                </a:solidFill>
                <a:latin typeface="Georgia" pitchFamily="34" charset="0"/>
                <a:ea typeface="Georgia" pitchFamily="34" charset="-122"/>
                <a:cs typeface="Georgia" pitchFamily="34" charset="-120"/>
              </a:rPr>
              <a:t>What Device Do Customers Use to Order?</a:t>
            </a:r>
            <a:endParaRPr lang="en-US" sz="2600" dirty="0"/>
          </a:p>
        </p:txBody>
      </p:sp>
      <p:sp>
        <p:nvSpPr>
          <p:cNvPr id="4" name="Text 2"/>
          <p:cNvSpPr/>
          <p:nvPr/>
        </p:nvSpPr>
        <p:spPr>
          <a:xfrm>
            <a:off x="9966960" y="0"/>
            <a:ext cx="2011680" cy="960120"/>
          </a:xfrm>
          <a:prstGeom prst="rect">
            <a:avLst/>
          </a:prstGeom>
          <a:noFill/>
          <a:ln/>
        </p:spPr>
        <p:txBody>
          <a:bodyPr wrap="square" lIns="0" tIns="0" rIns="0" bIns="0" rtlCol="0" anchor="ctr"/>
          <a:lstStyle/>
          <a:p>
            <a:pPr marL="0" indent="0" algn="r">
              <a:buNone/>
            </a:pPr>
            <a:r>
              <a:rPr lang="en-US" sz="900" b="1" kern="0" spc="250" dirty="0">
                <a:solidFill>
                  <a:srgbClr val="0D1B2A"/>
                </a:solidFill>
                <a:latin typeface="Calibri" pitchFamily="34" charset="0"/>
                <a:ea typeface="Calibri" pitchFamily="34" charset="-122"/>
                <a:cs typeface="Calibri" pitchFamily="34" charset="-120"/>
              </a:rPr>
              <a:t>SECTION 07 · HOW THEY SHOP</a:t>
            </a:r>
            <a:endParaRPr lang="en-US" sz="900" dirty="0"/>
          </a:p>
        </p:txBody>
      </p:sp>
      <p:graphicFrame>
        <p:nvGraphicFramePr>
          <p:cNvPr id="5" name="Chart 0"/>
          <p:cNvGraphicFramePr/>
          <p:nvPr>
            <p:extLst>
              <p:ext uri="{D42A27DB-BD31-4B8C-83A1-F6EECF244321}">
                <p14:modId xmlns:p14="http://schemas.microsoft.com/office/powerpoint/2010/main" val="2243622273"/>
              </p:ext>
            </p:extLst>
          </p:nvPr>
        </p:nvGraphicFramePr>
        <p:xfrm>
          <a:off x="365760" y="1051560"/>
          <a:ext cx="5303520" cy="5468112"/>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943600" y="1051560"/>
            <a:ext cx="5852160" cy="1664208"/>
          </a:xfrm>
          <a:prstGeom prst="rect">
            <a:avLst/>
          </a:prstGeom>
          <a:solidFill>
            <a:srgbClr val="112233"/>
          </a:solidFill>
          <a:ln w="9525">
            <a:solidFill>
              <a:srgbClr val="1E3A5F"/>
            </a:solidFill>
            <a:prstDash val="solid"/>
          </a:ln>
          <a:effectLst>
            <a:outerShdw blurRad="127000" dist="50800" dir="8100000" algn="bl" rotWithShape="0">
              <a:srgbClr val="000000">
                <a:alpha val="30000"/>
              </a:srgbClr>
            </a:outerShdw>
          </a:effectLst>
        </p:spPr>
      </p:sp>
      <p:sp>
        <p:nvSpPr>
          <p:cNvPr id="7" name="Shape 4"/>
          <p:cNvSpPr/>
          <p:nvPr/>
        </p:nvSpPr>
        <p:spPr>
          <a:xfrm>
            <a:off x="5943600" y="1051560"/>
            <a:ext cx="5852160" cy="50292"/>
          </a:xfrm>
          <a:prstGeom prst="rect">
            <a:avLst/>
          </a:prstGeom>
          <a:solidFill>
            <a:srgbClr val="F39C12"/>
          </a:solidFill>
          <a:ln w="12700">
            <a:solidFill>
              <a:srgbClr val="F39C12"/>
            </a:solidFill>
            <a:prstDash val="solid"/>
          </a:ln>
        </p:spPr>
      </p:sp>
      <p:sp>
        <p:nvSpPr>
          <p:cNvPr id="8" name="Text 5"/>
          <p:cNvSpPr/>
          <p:nvPr/>
        </p:nvSpPr>
        <p:spPr>
          <a:xfrm>
            <a:off x="6126480" y="1143000"/>
            <a:ext cx="1645920" cy="685800"/>
          </a:xfrm>
          <a:prstGeom prst="rect">
            <a:avLst/>
          </a:prstGeom>
          <a:noFill/>
          <a:ln/>
        </p:spPr>
        <p:txBody>
          <a:bodyPr wrap="square" lIns="0" tIns="0" rIns="0" bIns="0" rtlCol="0" anchor="ctr"/>
          <a:lstStyle/>
          <a:p>
            <a:pPr marL="0" indent="0">
              <a:buNone/>
            </a:pPr>
            <a:r>
              <a:rPr lang="en-US" sz="3200" b="1" dirty="0">
                <a:solidFill>
                  <a:srgbClr val="F39C12"/>
                </a:solidFill>
                <a:latin typeface="Georgia" pitchFamily="34" charset="0"/>
                <a:ea typeface="Georgia" pitchFamily="34" charset="-122"/>
                <a:cs typeface="Georgia" pitchFamily="34" charset="-120"/>
              </a:rPr>
              <a:t>8,050</a:t>
            </a:r>
            <a:endParaRPr lang="en-US" sz="3200" dirty="0"/>
          </a:p>
        </p:txBody>
      </p:sp>
      <p:sp>
        <p:nvSpPr>
          <p:cNvPr id="9" name="Shape 6"/>
          <p:cNvSpPr/>
          <p:nvPr/>
        </p:nvSpPr>
        <p:spPr>
          <a:xfrm>
            <a:off x="7818120" y="1252728"/>
            <a:ext cx="1097280" cy="274320"/>
          </a:xfrm>
          <a:prstGeom prst="rect">
            <a:avLst/>
          </a:prstGeom>
          <a:solidFill>
            <a:srgbClr val="F39C12">
              <a:alpha val="20000"/>
            </a:srgbClr>
          </a:solidFill>
          <a:ln w="12700">
            <a:solidFill>
              <a:srgbClr val="F39C12"/>
            </a:solidFill>
            <a:prstDash val="solid"/>
          </a:ln>
        </p:spPr>
      </p:sp>
      <p:sp>
        <p:nvSpPr>
          <p:cNvPr id="10" name="Text 7"/>
          <p:cNvSpPr/>
          <p:nvPr/>
        </p:nvSpPr>
        <p:spPr>
          <a:xfrm>
            <a:off x="7818120" y="1252728"/>
            <a:ext cx="1097280" cy="274320"/>
          </a:xfrm>
          <a:prstGeom prst="rect">
            <a:avLst/>
          </a:prstGeom>
          <a:noFill/>
          <a:ln/>
        </p:spPr>
        <p:txBody>
          <a:bodyPr wrap="square" lIns="0" tIns="0" rIns="0" bIns="0" rtlCol="0" anchor="ctr"/>
          <a:lstStyle/>
          <a:p>
            <a:pPr marL="0" indent="0" algn="ctr">
              <a:buNone/>
            </a:pPr>
            <a:r>
              <a:rPr lang="en-US" sz="1100" b="1" dirty="0">
                <a:solidFill>
                  <a:srgbClr val="F39C12"/>
                </a:solidFill>
                <a:latin typeface="Calibri" pitchFamily="34" charset="0"/>
                <a:ea typeface="Calibri" pitchFamily="34" charset="-122"/>
                <a:cs typeface="Calibri" pitchFamily="34" charset="-120"/>
              </a:rPr>
              <a:t>49.5%</a:t>
            </a:r>
            <a:endParaRPr lang="en-US" sz="1100" dirty="0"/>
          </a:p>
        </p:txBody>
      </p:sp>
      <p:sp>
        <p:nvSpPr>
          <p:cNvPr id="11" name="Text 8"/>
          <p:cNvSpPr/>
          <p:nvPr/>
        </p:nvSpPr>
        <p:spPr>
          <a:xfrm>
            <a:off x="6126480" y="1828800"/>
            <a:ext cx="5394960" cy="292608"/>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Mobile Orders</a:t>
            </a:r>
            <a:endParaRPr lang="en-US" sz="1600" dirty="0"/>
          </a:p>
        </p:txBody>
      </p:sp>
      <p:sp>
        <p:nvSpPr>
          <p:cNvPr id="12" name="Text 9"/>
          <p:cNvSpPr/>
          <p:nvPr/>
        </p:nvSpPr>
        <p:spPr>
          <a:xfrm>
            <a:off x="6126480" y="2148840"/>
            <a:ext cx="5394960" cy="457200"/>
          </a:xfrm>
          <a:prstGeom prst="rect">
            <a:avLst/>
          </a:prstGeom>
          <a:noFill/>
          <a:ln/>
        </p:spPr>
        <p:txBody>
          <a:bodyPr wrap="square" lIns="0" tIns="0" rIns="0" bIns="0" rtlCol="0" anchor="t"/>
          <a:lstStyle/>
          <a:p>
            <a:pPr marL="0" indent="0">
              <a:buNone/>
            </a:pPr>
            <a:r>
              <a:rPr lang="en-US" sz="1400" b="1" dirty="0">
                <a:solidFill>
                  <a:srgbClr val="95A5A6"/>
                </a:solidFill>
                <a:latin typeface="Calibri" pitchFamily="34" charset="0"/>
                <a:ea typeface="Calibri" pitchFamily="34" charset="-122"/>
                <a:cs typeface="Calibri" pitchFamily="34" charset="-120"/>
              </a:rPr>
              <a:t>Almost half of all orders come from mobile phones. The app and mobile site must work perfectly.</a:t>
            </a:r>
            <a:endParaRPr lang="en-US" sz="1400" b="1" dirty="0"/>
          </a:p>
        </p:txBody>
      </p:sp>
      <p:sp>
        <p:nvSpPr>
          <p:cNvPr id="13" name="Shape 10"/>
          <p:cNvSpPr/>
          <p:nvPr/>
        </p:nvSpPr>
        <p:spPr>
          <a:xfrm>
            <a:off x="5943600" y="2898648"/>
            <a:ext cx="5852160" cy="1664208"/>
          </a:xfrm>
          <a:prstGeom prst="rect">
            <a:avLst/>
          </a:prstGeom>
          <a:solidFill>
            <a:srgbClr val="112233"/>
          </a:solidFill>
          <a:ln w="9525">
            <a:solidFill>
              <a:srgbClr val="1E3A5F"/>
            </a:solidFill>
            <a:prstDash val="solid"/>
          </a:ln>
          <a:effectLst>
            <a:outerShdw blurRad="127000" dist="50800" dir="8100000" algn="bl" rotWithShape="0">
              <a:srgbClr val="000000">
                <a:alpha val="30000"/>
              </a:srgbClr>
            </a:outerShdw>
          </a:effectLst>
        </p:spPr>
      </p:sp>
      <p:sp>
        <p:nvSpPr>
          <p:cNvPr id="14" name="Shape 11"/>
          <p:cNvSpPr/>
          <p:nvPr/>
        </p:nvSpPr>
        <p:spPr>
          <a:xfrm>
            <a:off x="5943600" y="2898648"/>
            <a:ext cx="5852160" cy="50292"/>
          </a:xfrm>
          <a:prstGeom prst="rect">
            <a:avLst/>
          </a:prstGeom>
          <a:solidFill>
            <a:srgbClr val="1ABC9C"/>
          </a:solidFill>
          <a:ln w="12700">
            <a:solidFill>
              <a:srgbClr val="1ABC9C"/>
            </a:solidFill>
            <a:prstDash val="solid"/>
          </a:ln>
        </p:spPr>
      </p:sp>
      <p:sp>
        <p:nvSpPr>
          <p:cNvPr id="15" name="Text 12"/>
          <p:cNvSpPr/>
          <p:nvPr/>
        </p:nvSpPr>
        <p:spPr>
          <a:xfrm>
            <a:off x="6126480" y="2990088"/>
            <a:ext cx="1645920" cy="685800"/>
          </a:xfrm>
          <a:prstGeom prst="rect">
            <a:avLst/>
          </a:prstGeom>
          <a:noFill/>
          <a:ln/>
        </p:spPr>
        <p:txBody>
          <a:bodyPr wrap="square" lIns="0" tIns="0" rIns="0" bIns="0" rtlCol="0" anchor="ctr"/>
          <a:lstStyle/>
          <a:p>
            <a:pPr marL="0" indent="0">
              <a:buNone/>
            </a:pPr>
            <a:r>
              <a:rPr lang="en-US" sz="3200" b="1" dirty="0">
                <a:solidFill>
                  <a:srgbClr val="1ABC9C"/>
                </a:solidFill>
                <a:latin typeface="Georgia" pitchFamily="34" charset="0"/>
                <a:ea typeface="Georgia" pitchFamily="34" charset="-122"/>
                <a:cs typeface="Georgia" pitchFamily="34" charset="-120"/>
              </a:rPr>
              <a:t>7,720</a:t>
            </a:r>
            <a:endParaRPr lang="en-US" sz="3200" dirty="0"/>
          </a:p>
        </p:txBody>
      </p:sp>
      <p:sp>
        <p:nvSpPr>
          <p:cNvPr id="16" name="Shape 13"/>
          <p:cNvSpPr/>
          <p:nvPr/>
        </p:nvSpPr>
        <p:spPr>
          <a:xfrm>
            <a:off x="7818120" y="3099816"/>
            <a:ext cx="1097280" cy="274320"/>
          </a:xfrm>
          <a:prstGeom prst="rect">
            <a:avLst/>
          </a:prstGeom>
          <a:solidFill>
            <a:srgbClr val="1ABC9C">
              <a:alpha val="20000"/>
            </a:srgbClr>
          </a:solidFill>
          <a:ln w="12700">
            <a:solidFill>
              <a:srgbClr val="1ABC9C"/>
            </a:solidFill>
            <a:prstDash val="solid"/>
          </a:ln>
        </p:spPr>
      </p:sp>
      <p:sp>
        <p:nvSpPr>
          <p:cNvPr id="17" name="Text 14"/>
          <p:cNvSpPr/>
          <p:nvPr/>
        </p:nvSpPr>
        <p:spPr>
          <a:xfrm>
            <a:off x="7818120" y="3099816"/>
            <a:ext cx="1097280" cy="274320"/>
          </a:xfrm>
          <a:prstGeom prst="rect">
            <a:avLst/>
          </a:prstGeom>
          <a:noFill/>
          <a:ln/>
        </p:spPr>
        <p:txBody>
          <a:bodyPr wrap="square" lIns="0" tIns="0" rIns="0" bIns="0" rtlCol="0" anchor="ctr"/>
          <a:lstStyle/>
          <a:p>
            <a:pPr marL="0" indent="0" algn="ctr">
              <a:buNone/>
            </a:pPr>
            <a:r>
              <a:rPr lang="en-US" sz="1100" b="1" dirty="0">
                <a:solidFill>
                  <a:srgbClr val="1ABC9C"/>
                </a:solidFill>
                <a:latin typeface="Calibri" pitchFamily="34" charset="0"/>
                <a:ea typeface="Calibri" pitchFamily="34" charset="-122"/>
                <a:cs typeface="Calibri" pitchFamily="34" charset="-120"/>
              </a:rPr>
              <a:t>47.5%</a:t>
            </a:r>
            <a:endParaRPr lang="en-US" sz="1100" dirty="0"/>
          </a:p>
        </p:txBody>
      </p:sp>
      <p:sp>
        <p:nvSpPr>
          <p:cNvPr id="18" name="Text 15"/>
          <p:cNvSpPr/>
          <p:nvPr/>
        </p:nvSpPr>
        <p:spPr>
          <a:xfrm>
            <a:off x="6126480" y="3675888"/>
            <a:ext cx="5394960" cy="292608"/>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Desktop Orders</a:t>
            </a:r>
            <a:endParaRPr lang="en-US" sz="1600" dirty="0"/>
          </a:p>
        </p:txBody>
      </p:sp>
      <p:sp>
        <p:nvSpPr>
          <p:cNvPr id="19" name="Text 16"/>
          <p:cNvSpPr/>
          <p:nvPr/>
        </p:nvSpPr>
        <p:spPr>
          <a:xfrm>
            <a:off x="6126480" y="3995928"/>
            <a:ext cx="5394960" cy="457200"/>
          </a:xfrm>
          <a:prstGeom prst="rect">
            <a:avLst/>
          </a:prstGeom>
          <a:noFill/>
          <a:ln/>
        </p:spPr>
        <p:txBody>
          <a:bodyPr wrap="square" lIns="0" tIns="0" rIns="0" bIns="0" rtlCol="0" anchor="t"/>
          <a:lstStyle/>
          <a:p>
            <a:pPr marL="0" indent="0">
              <a:buNone/>
            </a:pPr>
            <a:r>
              <a:rPr lang="en-US" sz="1400" b="1" dirty="0">
                <a:solidFill>
                  <a:srgbClr val="95A5A6"/>
                </a:solidFill>
                <a:latin typeface="Calibri" pitchFamily="34" charset="0"/>
                <a:ea typeface="Calibri" pitchFamily="34" charset="-122"/>
                <a:cs typeface="Calibri" pitchFamily="34" charset="-120"/>
              </a:rPr>
              <a:t>Desktop is almost as popular as mobile. Many customers still prefer to shop on a computer.</a:t>
            </a:r>
            <a:endParaRPr lang="en-US" sz="1400" b="1" dirty="0"/>
          </a:p>
        </p:txBody>
      </p:sp>
      <p:sp>
        <p:nvSpPr>
          <p:cNvPr id="20" name="Shape 17"/>
          <p:cNvSpPr/>
          <p:nvPr/>
        </p:nvSpPr>
        <p:spPr>
          <a:xfrm>
            <a:off x="5943600" y="4745736"/>
            <a:ext cx="5852160" cy="1664208"/>
          </a:xfrm>
          <a:prstGeom prst="rect">
            <a:avLst/>
          </a:prstGeom>
          <a:solidFill>
            <a:srgbClr val="112233"/>
          </a:solidFill>
          <a:ln w="9525">
            <a:solidFill>
              <a:srgbClr val="1E3A5F"/>
            </a:solidFill>
            <a:prstDash val="solid"/>
          </a:ln>
          <a:effectLst>
            <a:outerShdw blurRad="127000" dist="50800" dir="8100000" algn="bl" rotWithShape="0">
              <a:srgbClr val="000000">
                <a:alpha val="30000"/>
              </a:srgbClr>
            </a:outerShdw>
          </a:effectLst>
        </p:spPr>
      </p:sp>
      <p:sp>
        <p:nvSpPr>
          <p:cNvPr id="21" name="Shape 18"/>
          <p:cNvSpPr/>
          <p:nvPr/>
        </p:nvSpPr>
        <p:spPr>
          <a:xfrm>
            <a:off x="5943600" y="4745736"/>
            <a:ext cx="5852160" cy="50292"/>
          </a:xfrm>
          <a:prstGeom prst="rect">
            <a:avLst/>
          </a:prstGeom>
          <a:solidFill>
            <a:srgbClr val="1B4F72"/>
          </a:solidFill>
          <a:ln w="12700">
            <a:solidFill>
              <a:srgbClr val="1B4F72"/>
            </a:solidFill>
            <a:prstDash val="solid"/>
          </a:ln>
        </p:spPr>
      </p:sp>
      <p:sp>
        <p:nvSpPr>
          <p:cNvPr id="22" name="Text 19"/>
          <p:cNvSpPr/>
          <p:nvPr/>
        </p:nvSpPr>
        <p:spPr>
          <a:xfrm>
            <a:off x="6126480" y="4837176"/>
            <a:ext cx="1645920" cy="685800"/>
          </a:xfrm>
          <a:prstGeom prst="rect">
            <a:avLst/>
          </a:prstGeom>
          <a:noFill/>
          <a:ln/>
        </p:spPr>
        <p:txBody>
          <a:bodyPr wrap="square" lIns="0" tIns="0" rIns="0" bIns="0" rtlCol="0" anchor="ctr"/>
          <a:lstStyle/>
          <a:p>
            <a:pPr marL="0" indent="0">
              <a:buNone/>
            </a:pPr>
            <a:r>
              <a:rPr lang="en-US" sz="3200" b="1" dirty="0">
                <a:solidFill>
                  <a:srgbClr val="1B4F72"/>
                </a:solidFill>
                <a:latin typeface="Georgia" pitchFamily="34" charset="0"/>
                <a:ea typeface="Georgia" pitchFamily="34" charset="-122"/>
                <a:cs typeface="Georgia" pitchFamily="34" charset="-120"/>
              </a:rPr>
              <a:t>498</a:t>
            </a:r>
            <a:endParaRPr lang="en-US" sz="3200" dirty="0"/>
          </a:p>
        </p:txBody>
      </p:sp>
      <p:sp>
        <p:nvSpPr>
          <p:cNvPr id="23" name="Shape 20"/>
          <p:cNvSpPr/>
          <p:nvPr/>
        </p:nvSpPr>
        <p:spPr>
          <a:xfrm>
            <a:off x="7818120" y="4946904"/>
            <a:ext cx="1097280" cy="274320"/>
          </a:xfrm>
          <a:prstGeom prst="rect">
            <a:avLst/>
          </a:prstGeom>
          <a:solidFill>
            <a:srgbClr val="1B4F72">
              <a:alpha val="20000"/>
            </a:srgbClr>
          </a:solidFill>
          <a:ln w="12700">
            <a:solidFill>
              <a:srgbClr val="1B4F72"/>
            </a:solidFill>
            <a:prstDash val="solid"/>
          </a:ln>
        </p:spPr>
      </p:sp>
      <p:sp>
        <p:nvSpPr>
          <p:cNvPr id="24" name="Text 21"/>
          <p:cNvSpPr/>
          <p:nvPr/>
        </p:nvSpPr>
        <p:spPr>
          <a:xfrm>
            <a:off x="7818120" y="4946904"/>
            <a:ext cx="1097280" cy="274320"/>
          </a:xfrm>
          <a:prstGeom prst="rect">
            <a:avLst/>
          </a:prstGeom>
          <a:noFill/>
          <a:ln/>
        </p:spPr>
        <p:txBody>
          <a:bodyPr wrap="square" lIns="0" tIns="0" rIns="0" bIns="0" rtlCol="0" anchor="ctr"/>
          <a:lstStyle/>
          <a:p>
            <a:pPr marL="0" indent="0" algn="ctr">
              <a:buNone/>
            </a:pPr>
            <a:r>
              <a:rPr lang="en-US" sz="1100" b="1" dirty="0">
                <a:solidFill>
                  <a:srgbClr val="1B4F72"/>
                </a:solidFill>
                <a:latin typeface="Calibri" pitchFamily="34" charset="0"/>
                <a:ea typeface="Calibri" pitchFamily="34" charset="-122"/>
                <a:cs typeface="Calibri" pitchFamily="34" charset="-120"/>
              </a:rPr>
              <a:t>3.1%</a:t>
            </a:r>
            <a:endParaRPr lang="en-US" sz="1100" dirty="0"/>
          </a:p>
        </p:txBody>
      </p:sp>
      <p:sp>
        <p:nvSpPr>
          <p:cNvPr id="25" name="Text 22"/>
          <p:cNvSpPr/>
          <p:nvPr/>
        </p:nvSpPr>
        <p:spPr>
          <a:xfrm>
            <a:off x="6126480" y="5522976"/>
            <a:ext cx="5394960" cy="292608"/>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Tablet Orders</a:t>
            </a:r>
            <a:endParaRPr lang="en-US" sz="1600" dirty="0"/>
          </a:p>
        </p:txBody>
      </p:sp>
      <p:sp>
        <p:nvSpPr>
          <p:cNvPr id="26" name="Text 23"/>
          <p:cNvSpPr/>
          <p:nvPr/>
        </p:nvSpPr>
        <p:spPr>
          <a:xfrm>
            <a:off x="6126480" y="5843016"/>
            <a:ext cx="5394960" cy="457200"/>
          </a:xfrm>
          <a:prstGeom prst="rect">
            <a:avLst/>
          </a:prstGeom>
          <a:noFill/>
          <a:ln/>
        </p:spPr>
        <p:txBody>
          <a:bodyPr wrap="square" lIns="0" tIns="0" rIns="0" bIns="0" rtlCol="0" anchor="t"/>
          <a:lstStyle/>
          <a:p>
            <a:pPr marL="0" indent="0">
              <a:buNone/>
            </a:pPr>
            <a:r>
              <a:rPr lang="en-US" sz="1400" b="1" dirty="0">
                <a:solidFill>
                  <a:srgbClr val="95A5A6"/>
                </a:solidFill>
                <a:latin typeface="Calibri" pitchFamily="34" charset="0"/>
                <a:ea typeface="Calibri" pitchFamily="34" charset="-122"/>
                <a:cs typeface="Calibri" pitchFamily="34" charset="-120"/>
              </a:rPr>
              <a:t>Very few orders come from tablets. Not worth spending much on tablet-specific features.</a:t>
            </a:r>
            <a:endParaRPr lang="en-US" sz="1400" b="1" dirty="0"/>
          </a:p>
        </p:txBody>
      </p:sp>
    </p:spTree>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B4F72"/>
          </a:solidFill>
          <a:ln w="12700">
            <a:solidFill>
              <a:srgbClr val="1B4F72"/>
            </a:solidFill>
            <a:prstDash val="solid"/>
          </a:ln>
        </p:spPr>
      </p:sp>
      <p:sp>
        <p:nvSpPr>
          <p:cNvPr id="3" name="Text 1"/>
          <p:cNvSpPr/>
          <p:nvPr/>
        </p:nvSpPr>
        <p:spPr>
          <a:xfrm>
            <a:off x="411480" y="0"/>
            <a:ext cx="9875520" cy="96012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Where Do Customers Come From?</a:t>
            </a:r>
            <a:endParaRPr lang="en-US" sz="2600" dirty="0"/>
          </a:p>
        </p:txBody>
      </p:sp>
      <p:sp>
        <p:nvSpPr>
          <p:cNvPr id="4" name="Text 2"/>
          <p:cNvSpPr/>
          <p:nvPr/>
        </p:nvSpPr>
        <p:spPr>
          <a:xfrm>
            <a:off x="9966960" y="0"/>
            <a:ext cx="2011680" cy="960120"/>
          </a:xfrm>
          <a:prstGeom prst="rect">
            <a:avLst/>
          </a:prstGeom>
          <a:noFill/>
          <a:ln/>
        </p:spPr>
        <p:txBody>
          <a:bodyPr wrap="square" lIns="0" tIns="0" rIns="0" bIns="0" rtlCol="0" anchor="ctr"/>
          <a:lstStyle/>
          <a:p>
            <a:pPr marL="0" indent="0" algn="r">
              <a:buNone/>
            </a:pPr>
            <a:r>
              <a:rPr lang="en-US" sz="900" b="1" kern="0" spc="250" dirty="0">
                <a:solidFill>
                  <a:srgbClr val="1ABC9C"/>
                </a:solidFill>
                <a:latin typeface="Calibri" pitchFamily="34" charset="0"/>
                <a:ea typeface="Calibri" pitchFamily="34" charset="-122"/>
                <a:cs typeface="Calibri" pitchFamily="34" charset="-120"/>
              </a:rPr>
              <a:t>SECTION 07 · HOW THEY SHOP</a:t>
            </a:r>
            <a:endParaRPr lang="en-US" sz="900" dirty="0"/>
          </a:p>
        </p:txBody>
      </p:sp>
      <p:graphicFrame>
        <p:nvGraphicFramePr>
          <p:cNvPr id="5" name="Chart 0"/>
          <p:cNvGraphicFramePr/>
          <p:nvPr>
            <p:extLst>
              <p:ext uri="{D42A27DB-BD31-4B8C-83A1-F6EECF244321}">
                <p14:modId xmlns:p14="http://schemas.microsoft.com/office/powerpoint/2010/main" val="1347754933"/>
              </p:ext>
            </p:extLst>
          </p:nvPr>
        </p:nvGraphicFramePr>
        <p:xfrm>
          <a:off x="365760" y="1051560"/>
          <a:ext cx="7863840" cy="55778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458200" y="1051560"/>
            <a:ext cx="3310128" cy="1261872"/>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7" name="Shape 4"/>
          <p:cNvSpPr/>
          <p:nvPr/>
        </p:nvSpPr>
        <p:spPr>
          <a:xfrm>
            <a:off x="8458200" y="1051560"/>
            <a:ext cx="3310128" cy="50292"/>
          </a:xfrm>
          <a:prstGeom prst="rect">
            <a:avLst/>
          </a:prstGeom>
          <a:solidFill>
            <a:srgbClr val="F39C12"/>
          </a:solidFill>
          <a:ln w="12700">
            <a:solidFill>
              <a:srgbClr val="F39C12"/>
            </a:solidFill>
            <a:prstDash val="solid"/>
          </a:ln>
        </p:spPr>
      </p:sp>
      <p:sp>
        <p:nvSpPr>
          <p:cNvPr id="8" name="Text 5"/>
          <p:cNvSpPr/>
          <p:nvPr/>
        </p:nvSpPr>
        <p:spPr>
          <a:xfrm>
            <a:off x="8641080" y="1143000"/>
            <a:ext cx="2944368" cy="384048"/>
          </a:xfrm>
          <a:prstGeom prst="rect">
            <a:avLst/>
          </a:prstGeom>
          <a:noFill/>
          <a:ln/>
        </p:spPr>
        <p:txBody>
          <a:bodyPr wrap="square" lIns="0" tIns="0" rIns="0" bIns="0" rtlCol="0" anchor="ctr"/>
          <a:lstStyle/>
          <a:p>
            <a:pPr marL="0" indent="0">
              <a:buNone/>
            </a:pPr>
            <a:r>
              <a:rPr lang="en-US" b="1" dirty="0">
                <a:solidFill>
                  <a:srgbClr val="2C3E50"/>
                </a:solidFill>
                <a:latin typeface="Georgia" pitchFamily="34" charset="0"/>
                <a:ea typeface="Georgia" pitchFamily="34" charset="-122"/>
                <a:cs typeface="Georgia" pitchFamily="34" charset="-120"/>
              </a:rPr>
              <a:t>Organic Search — 8,598</a:t>
            </a:r>
            <a:endParaRPr lang="en-US" dirty="0"/>
          </a:p>
        </p:txBody>
      </p:sp>
      <p:sp>
        <p:nvSpPr>
          <p:cNvPr id="9" name="Text 6"/>
          <p:cNvSpPr/>
          <p:nvPr/>
        </p:nvSpPr>
        <p:spPr>
          <a:xfrm>
            <a:off x="8641080" y="1563624"/>
            <a:ext cx="2944368" cy="658368"/>
          </a:xfrm>
          <a:prstGeom prst="rect">
            <a:avLst/>
          </a:prstGeom>
          <a:noFill/>
          <a:ln/>
        </p:spPr>
        <p:txBody>
          <a:bodyPr wrap="square" lIns="0" tIns="0" rIns="0" bIns="0" rtlCol="0" anchor="t"/>
          <a:lstStyle/>
          <a:p>
            <a:pPr marL="0" indent="0">
              <a:buNone/>
            </a:pPr>
            <a:r>
              <a:rPr lang="en-US" sz="1400" b="1" dirty="0">
                <a:solidFill>
                  <a:schemeClr val="tx1">
                    <a:lumMod val="65000"/>
                    <a:lumOff val="35000"/>
                  </a:schemeClr>
                </a:solidFill>
                <a:latin typeface="Calibri" pitchFamily="34" charset="0"/>
                <a:ea typeface="Calibri" pitchFamily="34" charset="-122"/>
                <a:cs typeface="Calibri" pitchFamily="34" charset="-120"/>
              </a:rPr>
              <a:t>Most customers find us through Google or other search engines. Good SEO is paying off.</a:t>
            </a:r>
            <a:endParaRPr lang="en-US" sz="1400" b="1" dirty="0">
              <a:solidFill>
                <a:schemeClr val="tx1">
                  <a:lumMod val="65000"/>
                  <a:lumOff val="35000"/>
                </a:schemeClr>
              </a:solidFill>
            </a:endParaRPr>
          </a:p>
        </p:txBody>
      </p:sp>
      <p:sp>
        <p:nvSpPr>
          <p:cNvPr id="10" name="Shape 7"/>
          <p:cNvSpPr/>
          <p:nvPr/>
        </p:nvSpPr>
        <p:spPr>
          <a:xfrm>
            <a:off x="8458200" y="2478024"/>
            <a:ext cx="3310128" cy="1261872"/>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11" name="Shape 8"/>
          <p:cNvSpPr/>
          <p:nvPr/>
        </p:nvSpPr>
        <p:spPr>
          <a:xfrm>
            <a:off x="8458200" y="2478024"/>
            <a:ext cx="3310128" cy="50292"/>
          </a:xfrm>
          <a:prstGeom prst="rect">
            <a:avLst/>
          </a:prstGeom>
          <a:solidFill>
            <a:srgbClr val="1B4F72"/>
          </a:solidFill>
          <a:ln w="12700">
            <a:solidFill>
              <a:srgbClr val="1B4F72"/>
            </a:solidFill>
            <a:prstDash val="solid"/>
          </a:ln>
        </p:spPr>
      </p:sp>
      <p:sp>
        <p:nvSpPr>
          <p:cNvPr id="12" name="Text 9"/>
          <p:cNvSpPr/>
          <p:nvPr/>
        </p:nvSpPr>
        <p:spPr>
          <a:xfrm>
            <a:off x="8641080" y="2569464"/>
            <a:ext cx="2944368" cy="384048"/>
          </a:xfrm>
          <a:prstGeom prst="rect">
            <a:avLst/>
          </a:prstGeom>
          <a:noFill/>
          <a:ln/>
        </p:spPr>
        <p:txBody>
          <a:bodyPr wrap="square" lIns="0" tIns="0" rIns="0" bIns="0" rtlCol="0" anchor="ctr"/>
          <a:lstStyle/>
          <a:p>
            <a:pPr marL="0" indent="0">
              <a:buNone/>
            </a:pPr>
            <a:r>
              <a:rPr lang="en-US" b="1" dirty="0">
                <a:solidFill>
                  <a:srgbClr val="2C3E50"/>
                </a:solidFill>
                <a:latin typeface="Georgia" pitchFamily="34" charset="0"/>
                <a:ea typeface="Georgia" pitchFamily="34" charset="-122"/>
                <a:cs typeface="Georgia" pitchFamily="34" charset="-120"/>
              </a:rPr>
              <a:t>Direct — 7,893</a:t>
            </a:r>
            <a:endParaRPr lang="en-US" dirty="0"/>
          </a:p>
        </p:txBody>
      </p:sp>
      <p:sp>
        <p:nvSpPr>
          <p:cNvPr id="13" name="Text 10"/>
          <p:cNvSpPr/>
          <p:nvPr/>
        </p:nvSpPr>
        <p:spPr>
          <a:xfrm>
            <a:off x="8641080" y="2990088"/>
            <a:ext cx="2944368" cy="658368"/>
          </a:xfrm>
          <a:prstGeom prst="rect">
            <a:avLst/>
          </a:prstGeom>
          <a:noFill/>
          <a:ln/>
        </p:spPr>
        <p:txBody>
          <a:bodyPr wrap="square" lIns="0" tIns="0" rIns="0" bIns="0" rtlCol="0" anchor="t"/>
          <a:lstStyle/>
          <a:p>
            <a:pPr marL="0" indent="0">
              <a:buNone/>
            </a:pPr>
            <a:r>
              <a:rPr lang="en-US" sz="1400" b="1" dirty="0">
                <a:solidFill>
                  <a:schemeClr val="tx1">
                    <a:lumMod val="65000"/>
                    <a:lumOff val="35000"/>
                  </a:schemeClr>
                </a:solidFill>
                <a:latin typeface="Calibri" pitchFamily="34" charset="0"/>
                <a:ea typeface="Calibri" pitchFamily="34" charset="-122"/>
                <a:cs typeface="Calibri" pitchFamily="34" charset="-120"/>
              </a:rPr>
              <a:t>Many customers type the website address directly — they already know about us.</a:t>
            </a:r>
            <a:endParaRPr lang="en-US" sz="1400" b="1" dirty="0">
              <a:solidFill>
                <a:schemeClr val="tx1">
                  <a:lumMod val="65000"/>
                  <a:lumOff val="35000"/>
                </a:schemeClr>
              </a:solidFill>
            </a:endParaRPr>
          </a:p>
        </p:txBody>
      </p:sp>
      <p:sp>
        <p:nvSpPr>
          <p:cNvPr id="14" name="Shape 11"/>
          <p:cNvSpPr/>
          <p:nvPr/>
        </p:nvSpPr>
        <p:spPr>
          <a:xfrm>
            <a:off x="8458200" y="3904488"/>
            <a:ext cx="3310128" cy="1261872"/>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15" name="Shape 12"/>
          <p:cNvSpPr/>
          <p:nvPr/>
        </p:nvSpPr>
        <p:spPr>
          <a:xfrm>
            <a:off x="8458200" y="3904488"/>
            <a:ext cx="3310128" cy="50292"/>
          </a:xfrm>
          <a:prstGeom prst="rect">
            <a:avLst/>
          </a:prstGeom>
          <a:solidFill>
            <a:srgbClr val="1ABC9C"/>
          </a:solidFill>
          <a:ln w="12700">
            <a:solidFill>
              <a:srgbClr val="1ABC9C"/>
            </a:solidFill>
            <a:prstDash val="solid"/>
          </a:ln>
        </p:spPr>
      </p:sp>
      <p:sp>
        <p:nvSpPr>
          <p:cNvPr id="16" name="Text 13"/>
          <p:cNvSpPr/>
          <p:nvPr/>
        </p:nvSpPr>
        <p:spPr>
          <a:xfrm>
            <a:off x="8641080" y="3995928"/>
            <a:ext cx="2944368" cy="384048"/>
          </a:xfrm>
          <a:prstGeom prst="rect">
            <a:avLst/>
          </a:prstGeom>
          <a:noFill/>
          <a:ln/>
        </p:spPr>
        <p:txBody>
          <a:bodyPr wrap="square" lIns="0" tIns="0" rIns="0" bIns="0" rtlCol="0" anchor="ctr"/>
          <a:lstStyle/>
          <a:p>
            <a:pPr marL="0" indent="0">
              <a:buNone/>
            </a:pPr>
            <a:r>
              <a:rPr lang="en-US" b="1" dirty="0">
                <a:solidFill>
                  <a:srgbClr val="2C3E50"/>
                </a:solidFill>
                <a:latin typeface="Georgia" pitchFamily="34" charset="0"/>
                <a:ea typeface="Georgia" pitchFamily="34" charset="-122"/>
                <a:cs typeface="Georgia" pitchFamily="34" charset="-120"/>
              </a:rPr>
              <a:t>Email — 1,232</a:t>
            </a:r>
            <a:endParaRPr lang="en-US" dirty="0"/>
          </a:p>
        </p:txBody>
      </p:sp>
      <p:sp>
        <p:nvSpPr>
          <p:cNvPr id="17" name="Text 14"/>
          <p:cNvSpPr/>
          <p:nvPr/>
        </p:nvSpPr>
        <p:spPr>
          <a:xfrm>
            <a:off x="8641080" y="4416552"/>
            <a:ext cx="2944368" cy="658368"/>
          </a:xfrm>
          <a:prstGeom prst="rect">
            <a:avLst/>
          </a:prstGeom>
          <a:noFill/>
          <a:ln/>
        </p:spPr>
        <p:txBody>
          <a:bodyPr wrap="square" lIns="0" tIns="0" rIns="0" bIns="0" rtlCol="0" anchor="t"/>
          <a:lstStyle/>
          <a:p>
            <a:pPr marL="0" indent="0">
              <a:buNone/>
            </a:pPr>
            <a:r>
              <a:rPr lang="en-US" sz="1400" b="1" dirty="0">
                <a:solidFill>
                  <a:schemeClr val="tx1">
                    <a:lumMod val="65000"/>
                    <a:lumOff val="35000"/>
                  </a:schemeClr>
                </a:solidFill>
                <a:latin typeface="Calibri" pitchFamily="34" charset="0"/>
                <a:ea typeface="Calibri" pitchFamily="34" charset="-122"/>
                <a:cs typeface="Calibri" pitchFamily="34" charset="-120"/>
              </a:rPr>
              <a:t>Email marketing brings in a decent number of visitors. Can be grown with better campaigns.</a:t>
            </a:r>
            <a:endParaRPr lang="en-US" sz="1400" b="1" dirty="0">
              <a:solidFill>
                <a:schemeClr val="tx1">
                  <a:lumMod val="65000"/>
                  <a:lumOff val="35000"/>
                </a:schemeClr>
              </a:solidFill>
            </a:endParaRPr>
          </a:p>
        </p:txBody>
      </p:sp>
      <p:sp>
        <p:nvSpPr>
          <p:cNvPr id="18" name="Shape 15"/>
          <p:cNvSpPr/>
          <p:nvPr/>
        </p:nvSpPr>
        <p:spPr>
          <a:xfrm>
            <a:off x="8458200" y="5330952"/>
            <a:ext cx="3310128" cy="1261872"/>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19" name="Shape 16"/>
          <p:cNvSpPr/>
          <p:nvPr/>
        </p:nvSpPr>
        <p:spPr>
          <a:xfrm>
            <a:off x="8458200" y="5330952"/>
            <a:ext cx="3310128" cy="50292"/>
          </a:xfrm>
          <a:prstGeom prst="rect">
            <a:avLst/>
          </a:prstGeom>
          <a:solidFill>
            <a:srgbClr val="95A5A6"/>
          </a:solidFill>
          <a:ln w="12700">
            <a:solidFill>
              <a:srgbClr val="95A5A6"/>
            </a:solidFill>
            <a:prstDash val="solid"/>
          </a:ln>
        </p:spPr>
      </p:sp>
      <p:sp>
        <p:nvSpPr>
          <p:cNvPr id="20" name="Text 17"/>
          <p:cNvSpPr/>
          <p:nvPr/>
        </p:nvSpPr>
        <p:spPr>
          <a:xfrm>
            <a:off x="8641080" y="5422392"/>
            <a:ext cx="2944368" cy="384048"/>
          </a:xfrm>
          <a:prstGeom prst="rect">
            <a:avLst/>
          </a:prstGeom>
          <a:noFill/>
          <a:ln/>
        </p:spPr>
        <p:txBody>
          <a:bodyPr wrap="square" lIns="0" tIns="0" rIns="0" bIns="0" rtlCol="0" anchor="ctr"/>
          <a:lstStyle/>
          <a:p>
            <a:pPr marL="0" indent="0">
              <a:buNone/>
            </a:pPr>
            <a:r>
              <a:rPr lang="en-US" b="1" dirty="0">
                <a:solidFill>
                  <a:srgbClr val="2C3E50"/>
                </a:solidFill>
                <a:latin typeface="Georgia" pitchFamily="34" charset="0"/>
                <a:ea typeface="Georgia" pitchFamily="34" charset="-122"/>
                <a:cs typeface="Georgia" pitchFamily="34" charset="-120"/>
              </a:rPr>
              <a:t>Social &amp; Paid Are Low</a:t>
            </a:r>
            <a:endParaRPr lang="en-US" dirty="0"/>
          </a:p>
        </p:txBody>
      </p:sp>
      <p:sp>
        <p:nvSpPr>
          <p:cNvPr id="21" name="Text 18"/>
          <p:cNvSpPr/>
          <p:nvPr/>
        </p:nvSpPr>
        <p:spPr>
          <a:xfrm>
            <a:off x="8641080" y="5843016"/>
            <a:ext cx="2944368" cy="658368"/>
          </a:xfrm>
          <a:prstGeom prst="rect">
            <a:avLst/>
          </a:prstGeom>
          <a:noFill/>
          <a:ln/>
        </p:spPr>
        <p:txBody>
          <a:bodyPr wrap="square" lIns="0" tIns="0" rIns="0" bIns="0" rtlCol="0" anchor="t"/>
          <a:lstStyle/>
          <a:p>
            <a:pPr marL="0" indent="0">
              <a:buNone/>
            </a:pPr>
            <a:r>
              <a:rPr lang="en-US" sz="1400" b="1" dirty="0">
                <a:solidFill>
                  <a:schemeClr val="tx1">
                    <a:lumMod val="65000"/>
                    <a:lumOff val="35000"/>
                  </a:schemeClr>
                </a:solidFill>
                <a:latin typeface="Calibri" pitchFamily="34" charset="0"/>
                <a:ea typeface="Calibri" pitchFamily="34" charset="-122"/>
                <a:cs typeface="Calibri" pitchFamily="34" charset="-120"/>
              </a:rPr>
              <a:t>Social media (831) and paid ads (992) bring relatively few customers. Big untapped opportunity here.</a:t>
            </a:r>
            <a:endParaRPr lang="en-US" sz="1400" b="1" dirty="0">
              <a:solidFill>
                <a:schemeClr val="tx1">
                  <a:lumMod val="65000"/>
                  <a:lumOff val="35000"/>
                </a:schemeClr>
              </a:solidFill>
            </a:endParaRPr>
          </a:p>
        </p:txBody>
      </p:sp>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B4F72"/>
          </a:solidFill>
          <a:ln w="12700">
            <a:solidFill>
              <a:srgbClr val="1B4F72"/>
            </a:solidFill>
            <a:prstDash val="solid"/>
          </a:ln>
        </p:spPr>
      </p:sp>
      <p:sp>
        <p:nvSpPr>
          <p:cNvPr id="3" name="Text 1"/>
          <p:cNvSpPr/>
          <p:nvPr/>
        </p:nvSpPr>
        <p:spPr>
          <a:xfrm>
            <a:off x="411480" y="0"/>
            <a:ext cx="9875520" cy="96012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Cart Abandonment — Lost Sales We Can Recover</a:t>
            </a:r>
            <a:endParaRPr lang="en-US" sz="2600" dirty="0"/>
          </a:p>
        </p:txBody>
      </p:sp>
      <p:sp>
        <p:nvSpPr>
          <p:cNvPr id="4" name="Text 2"/>
          <p:cNvSpPr/>
          <p:nvPr/>
        </p:nvSpPr>
        <p:spPr>
          <a:xfrm>
            <a:off x="9966960" y="0"/>
            <a:ext cx="2011680" cy="960120"/>
          </a:xfrm>
          <a:prstGeom prst="rect">
            <a:avLst/>
          </a:prstGeom>
          <a:noFill/>
          <a:ln/>
        </p:spPr>
        <p:txBody>
          <a:bodyPr wrap="square" lIns="0" tIns="0" rIns="0" bIns="0" rtlCol="0" anchor="ctr"/>
          <a:lstStyle/>
          <a:p>
            <a:pPr marL="0" indent="0" algn="r">
              <a:buNone/>
            </a:pPr>
            <a:r>
              <a:rPr lang="en-US" sz="900" b="1" kern="0" spc="250" dirty="0">
                <a:solidFill>
                  <a:srgbClr val="1ABC9C"/>
                </a:solidFill>
                <a:latin typeface="Calibri" pitchFamily="34" charset="0"/>
                <a:ea typeface="Calibri" pitchFamily="34" charset="-122"/>
                <a:cs typeface="Calibri" pitchFamily="34" charset="-120"/>
              </a:rPr>
              <a:t>SECTION 07 · HOW THEY SHOP</a:t>
            </a:r>
            <a:endParaRPr lang="en-US" sz="900" dirty="0"/>
          </a:p>
        </p:txBody>
      </p:sp>
      <p:graphicFrame>
        <p:nvGraphicFramePr>
          <p:cNvPr id="5" name="Chart 0"/>
          <p:cNvGraphicFramePr/>
          <p:nvPr>
            <p:extLst>
              <p:ext uri="{D42A27DB-BD31-4B8C-83A1-F6EECF244321}">
                <p14:modId xmlns:p14="http://schemas.microsoft.com/office/powerpoint/2010/main" val="2107379493"/>
              </p:ext>
            </p:extLst>
          </p:nvPr>
        </p:nvGraphicFramePr>
        <p:xfrm>
          <a:off x="365760" y="1051560"/>
          <a:ext cx="5303520" cy="5468112"/>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943600" y="1051560"/>
            <a:ext cx="5852160" cy="2606040"/>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7" name="Shape 4"/>
          <p:cNvSpPr/>
          <p:nvPr/>
        </p:nvSpPr>
        <p:spPr>
          <a:xfrm>
            <a:off x="5943600" y="1051560"/>
            <a:ext cx="5852160" cy="50292"/>
          </a:xfrm>
          <a:prstGeom prst="rect">
            <a:avLst/>
          </a:prstGeom>
          <a:solidFill>
            <a:srgbClr val="E74C3C"/>
          </a:solidFill>
          <a:ln w="12700">
            <a:solidFill>
              <a:srgbClr val="E74C3C"/>
            </a:solidFill>
            <a:prstDash val="solid"/>
          </a:ln>
        </p:spPr>
      </p:sp>
      <p:sp>
        <p:nvSpPr>
          <p:cNvPr id="8" name="Text 5"/>
          <p:cNvSpPr/>
          <p:nvPr/>
        </p:nvSpPr>
        <p:spPr>
          <a:xfrm>
            <a:off x="6126480" y="1143000"/>
            <a:ext cx="2286000" cy="822960"/>
          </a:xfrm>
          <a:prstGeom prst="rect">
            <a:avLst/>
          </a:prstGeom>
          <a:noFill/>
          <a:ln/>
        </p:spPr>
        <p:txBody>
          <a:bodyPr wrap="square" lIns="0" tIns="0" rIns="0" bIns="0" rtlCol="0" anchor="ctr"/>
          <a:lstStyle/>
          <a:p>
            <a:pPr marL="0" indent="0">
              <a:buNone/>
            </a:pPr>
            <a:r>
              <a:rPr lang="en-US" sz="4400" b="1" dirty="0">
                <a:solidFill>
                  <a:srgbClr val="E74C3C"/>
                </a:solidFill>
                <a:latin typeface="Georgia" pitchFamily="34" charset="0"/>
                <a:ea typeface="Georgia" pitchFamily="34" charset="-122"/>
                <a:cs typeface="Georgia" pitchFamily="34" charset="-120"/>
              </a:rPr>
              <a:t>3,677</a:t>
            </a:r>
            <a:endParaRPr lang="en-US" sz="4400" dirty="0"/>
          </a:p>
        </p:txBody>
      </p:sp>
      <p:sp>
        <p:nvSpPr>
          <p:cNvPr id="9" name="Text 6"/>
          <p:cNvSpPr/>
          <p:nvPr/>
        </p:nvSpPr>
        <p:spPr>
          <a:xfrm>
            <a:off x="6126480" y="1947672"/>
            <a:ext cx="5486400" cy="1572768"/>
          </a:xfrm>
          <a:prstGeom prst="rect">
            <a:avLst/>
          </a:prstGeom>
          <a:noFill/>
          <a:ln/>
        </p:spPr>
        <p:txBody>
          <a:bodyPr wrap="square" lIns="0" tIns="0" rIns="0" bIns="0" rtlCol="0" anchor="t"/>
          <a:lstStyle/>
          <a:p>
            <a:pPr marL="0" indent="0">
              <a:buNone/>
            </a:pPr>
            <a:r>
              <a:rPr lang="en-US" sz="1400" b="1" dirty="0">
                <a:solidFill>
                  <a:srgbClr val="2C3E50"/>
                </a:solidFill>
                <a:latin typeface="Calibri" pitchFamily="34" charset="0"/>
                <a:ea typeface="Calibri" pitchFamily="34" charset="-122"/>
                <a:cs typeface="Calibri" pitchFamily="34" charset="-120"/>
              </a:rPr>
              <a:t>customers added items to their cart but did NOT complete the purchase. At an average order value of $109, that's approximately $400,000 in lost potential revenue.</a:t>
            </a:r>
            <a:endParaRPr lang="en-US" sz="1400" b="1" dirty="0"/>
          </a:p>
        </p:txBody>
      </p:sp>
      <p:sp>
        <p:nvSpPr>
          <p:cNvPr id="10" name="Shape 7"/>
          <p:cNvSpPr/>
          <p:nvPr/>
        </p:nvSpPr>
        <p:spPr>
          <a:xfrm>
            <a:off x="5943600" y="3840480"/>
            <a:ext cx="5852160" cy="2743200"/>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11" name="Shape 8"/>
          <p:cNvSpPr/>
          <p:nvPr/>
        </p:nvSpPr>
        <p:spPr>
          <a:xfrm>
            <a:off x="5943600" y="3840480"/>
            <a:ext cx="5852160" cy="50292"/>
          </a:xfrm>
          <a:prstGeom prst="rect">
            <a:avLst/>
          </a:prstGeom>
          <a:solidFill>
            <a:srgbClr val="F39C12"/>
          </a:solidFill>
          <a:ln w="12700">
            <a:solidFill>
              <a:srgbClr val="F39C12"/>
            </a:solidFill>
            <a:prstDash val="solid"/>
          </a:ln>
        </p:spPr>
      </p:sp>
      <p:sp>
        <p:nvSpPr>
          <p:cNvPr id="12" name="Text 9"/>
          <p:cNvSpPr/>
          <p:nvPr/>
        </p:nvSpPr>
        <p:spPr>
          <a:xfrm>
            <a:off x="6126480" y="3931920"/>
            <a:ext cx="5486400" cy="365760"/>
          </a:xfrm>
          <a:prstGeom prst="rect">
            <a:avLst/>
          </a:prstGeom>
          <a:noFill/>
          <a:ln/>
        </p:spPr>
        <p:txBody>
          <a:bodyPr wrap="square" lIns="0" tIns="0" rIns="0" bIns="0" rtlCol="0" anchor="ctr"/>
          <a:lstStyle/>
          <a:p>
            <a:pPr marL="0" indent="0">
              <a:buNone/>
            </a:pPr>
            <a:r>
              <a:rPr lang="en-US" sz="1300" b="1" dirty="0">
                <a:solidFill>
                  <a:srgbClr val="2C3E50"/>
                </a:solidFill>
                <a:latin typeface="Georgia" pitchFamily="34" charset="0"/>
                <a:ea typeface="Georgia" pitchFamily="34" charset="-122"/>
                <a:cs typeface="Georgia" pitchFamily="34" charset="-120"/>
              </a:rPr>
              <a:t>How to recover these sales:</a:t>
            </a:r>
            <a:endParaRPr lang="en-US" sz="1300" dirty="0"/>
          </a:p>
        </p:txBody>
      </p:sp>
      <p:sp>
        <p:nvSpPr>
          <p:cNvPr id="13" name="Shape 10"/>
          <p:cNvSpPr/>
          <p:nvPr/>
        </p:nvSpPr>
        <p:spPr>
          <a:xfrm>
            <a:off x="6126480" y="4416552"/>
            <a:ext cx="164592" cy="164592"/>
          </a:xfrm>
          <a:prstGeom prst="ellipse">
            <a:avLst/>
          </a:prstGeom>
          <a:solidFill>
            <a:srgbClr val="F39C12"/>
          </a:solidFill>
          <a:ln w="12700">
            <a:solidFill>
              <a:srgbClr val="F39C12"/>
            </a:solidFill>
            <a:prstDash val="solid"/>
          </a:ln>
        </p:spPr>
      </p:sp>
      <p:sp>
        <p:nvSpPr>
          <p:cNvPr id="14" name="Text 11"/>
          <p:cNvSpPr/>
          <p:nvPr/>
        </p:nvSpPr>
        <p:spPr>
          <a:xfrm>
            <a:off x="6400800" y="4343400"/>
            <a:ext cx="5212080" cy="384048"/>
          </a:xfrm>
          <a:prstGeom prst="rect">
            <a:avLst/>
          </a:prstGeom>
          <a:noFill/>
          <a:ln/>
        </p:spPr>
        <p:txBody>
          <a:bodyPr wrap="square" lIns="0" tIns="0" rIns="0" bIns="0" rtlCol="0" anchor="ctr"/>
          <a:lstStyle/>
          <a:p>
            <a:pPr marL="0" indent="0">
              <a:buNone/>
            </a:pPr>
            <a:r>
              <a:rPr lang="en-US" sz="1400" dirty="0">
                <a:solidFill>
                  <a:srgbClr val="2C3E50"/>
                </a:solidFill>
                <a:latin typeface="Calibri" pitchFamily="34" charset="0"/>
                <a:ea typeface="Calibri" pitchFamily="34" charset="-122"/>
                <a:cs typeface="Calibri" pitchFamily="34" charset="-120"/>
              </a:rPr>
              <a:t>Send a reminder email 1 hour after they leave the cart</a:t>
            </a:r>
            <a:endParaRPr lang="en-US" sz="1400" dirty="0"/>
          </a:p>
        </p:txBody>
      </p:sp>
      <p:sp>
        <p:nvSpPr>
          <p:cNvPr id="15" name="Shape 12"/>
          <p:cNvSpPr/>
          <p:nvPr/>
        </p:nvSpPr>
        <p:spPr>
          <a:xfrm>
            <a:off x="6126480" y="4892040"/>
            <a:ext cx="164592" cy="164592"/>
          </a:xfrm>
          <a:prstGeom prst="ellipse">
            <a:avLst/>
          </a:prstGeom>
          <a:solidFill>
            <a:srgbClr val="F39C12"/>
          </a:solidFill>
          <a:ln w="12700">
            <a:solidFill>
              <a:srgbClr val="F39C12"/>
            </a:solidFill>
            <a:prstDash val="solid"/>
          </a:ln>
        </p:spPr>
      </p:sp>
      <p:sp>
        <p:nvSpPr>
          <p:cNvPr id="16" name="Text 13"/>
          <p:cNvSpPr/>
          <p:nvPr/>
        </p:nvSpPr>
        <p:spPr>
          <a:xfrm>
            <a:off x="6400800" y="4818888"/>
            <a:ext cx="5212080" cy="384048"/>
          </a:xfrm>
          <a:prstGeom prst="rect">
            <a:avLst/>
          </a:prstGeom>
          <a:noFill/>
          <a:ln/>
        </p:spPr>
        <p:txBody>
          <a:bodyPr wrap="square" lIns="0" tIns="0" rIns="0" bIns="0" rtlCol="0" anchor="ctr"/>
          <a:lstStyle/>
          <a:p>
            <a:pPr marL="0" indent="0">
              <a:buNone/>
            </a:pPr>
            <a:r>
              <a:rPr lang="en-US" sz="1400" dirty="0">
                <a:solidFill>
                  <a:srgbClr val="2C3E50"/>
                </a:solidFill>
                <a:latin typeface="Calibri" pitchFamily="34" charset="0"/>
                <a:ea typeface="Calibri" pitchFamily="34" charset="-122"/>
                <a:cs typeface="Calibri" pitchFamily="34" charset="-120"/>
              </a:rPr>
              <a:t>Send a push notification with a small discount offer</a:t>
            </a:r>
            <a:endParaRPr lang="en-US" sz="1400" dirty="0"/>
          </a:p>
        </p:txBody>
      </p:sp>
      <p:sp>
        <p:nvSpPr>
          <p:cNvPr id="17" name="Shape 14"/>
          <p:cNvSpPr/>
          <p:nvPr/>
        </p:nvSpPr>
        <p:spPr>
          <a:xfrm>
            <a:off x="6126480" y="5367528"/>
            <a:ext cx="164592" cy="164592"/>
          </a:xfrm>
          <a:prstGeom prst="ellipse">
            <a:avLst/>
          </a:prstGeom>
          <a:solidFill>
            <a:srgbClr val="F39C12"/>
          </a:solidFill>
          <a:ln w="12700">
            <a:solidFill>
              <a:srgbClr val="F39C12"/>
            </a:solidFill>
            <a:prstDash val="solid"/>
          </a:ln>
        </p:spPr>
      </p:sp>
      <p:sp>
        <p:nvSpPr>
          <p:cNvPr id="18" name="Text 15"/>
          <p:cNvSpPr/>
          <p:nvPr/>
        </p:nvSpPr>
        <p:spPr>
          <a:xfrm>
            <a:off x="6400800" y="5294376"/>
            <a:ext cx="5212080" cy="384048"/>
          </a:xfrm>
          <a:prstGeom prst="rect">
            <a:avLst/>
          </a:prstGeom>
          <a:noFill/>
          <a:ln/>
        </p:spPr>
        <p:txBody>
          <a:bodyPr wrap="square" lIns="0" tIns="0" rIns="0" bIns="0" rtlCol="0" anchor="ctr"/>
          <a:lstStyle/>
          <a:p>
            <a:pPr marL="0" indent="0">
              <a:buNone/>
            </a:pPr>
            <a:r>
              <a:rPr lang="en-US" sz="1400" dirty="0">
                <a:solidFill>
                  <a:srgbClr val="2C3E50"/>
                </a:solidFill>
                <a:latin typeface="Calibri" pitchFamily="34" charset="0"/>
                <a:ea typeface="Calibri" pitchFamily="34" charset="-122"/>
                <a:cs typeface="Calibri" pitchFamily="34" charset="-120"/>
              </a:rPr>
              <a:t>Show a retargeting ad on social media within 24 hours</a:t>
            </a:r>
            <a:endParaRPr lang="en-US" sz="1400" dirty="0"/>
          </a:p>
        </p:txBody>
      </p:sp>
      <p:sp>
        <p:nvSpPr>
          <p:cNvPr id="19" name="Shape 16"/>
          <p:cNvSpPr/>
          <p:nvPr/>
        </p:nvSpPr>
        <p:spPr>
          <a:xfrm>
            <a:off x="6126480" y="5843016"/>
            <a:ext cx="164592" cy="164592"/>
          </a:xfrm>
          <a:prstGeom prst="ellipse">
            <a:avLst/>
          </a:prstGeom>
          <a:solidFill>
            <a:srgbClr val="F39C12"/>
          </a:solidFill>
          <a:ln w="12700">
            <a:solidFill>
              <a:srgbClr val="F39C12"/>
            </a:solidFill>
            <a:prstDash val="solid"/>
          </a:ln>
        </p:spPr>
      </p:sp>
      <p:sp>
        <p:nvSpPr>
          <p:cNvPr id="20" name="Text 17"/>
          <p:cNvSpPr/>
          <p:nvPr/>
        </p:nvSpPr>
        <p:spPr>
          <a:xfrm>
            <a:off x="6400800" y="5769864"/>
            <a:ext cx="5212080" cy="384048"/>
          </a:xfrm>
          <a:prstGeom prst="rect">
            <a:avLst/>
          </a:prstGeom>
          <a:noFill/>
          <a:ln/>
        </p:spPr>
        <p:txBody>
          <a:bodyPr wrap="square" lIns="0" tIns="0" rIns="0" bIns="0" rtlCol="0" anchor="ctr"/>
          <a:lstStyle/>
          <a:p>
            <a:pPr marL="0" indent="0">
              <a:buNone/>
            </a:pPr>
            <a:r>
              <a:rPr lang="en-US" sz="1400" dirty="0">
                <a:solidFill>
                  <a:srgbClr val="2C3E50"/>
                </a:solidFill>
                <a:latin typeface="Calibri" pitchFamily="34" charset="0"/>
                <a:ea typeface="Calibri" pitchFamily="34" charset="-122"/>
                <a:cs typeface="Calibri" pitchFamily="34" charset="-120"/>
              </a:rPr>
              <a:t>Offer free shipping if they complete the purchase today</a:t>
            </a:r>
            <a:endParaRPr lang="en-US" sz="14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B4F72"/>
          </a:solidFill>
          <a:ln w="12700">
            <a:solidFill>
              <a:srgbClr val="1B4F72"/>
            </a:solidFill>
            <a:prstDash val="solid"/>
          </a:ln>
        </p:spPr>
      </p:sp>
      <p:sp>
        <p:nvSpPr>
          <p:cNvPr id="3" name="Text 1"/>
          <p:cNvSpPr/>
          <p:nvPr/>
        </p:nvSpPr>
        <p:spPr>
          <a:xfrm>
            <a:off x="411480" y="0"/>
            <a:ext cx="9875520" cy="96012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Customer Reviews &amp; Marketing Impact</a:t>
            </a:r>
            <a:endParaRPr lang="en-US" sz="2600" dirty="0"/>
          </a:p>
        </p:txBody>
      </p:sp>
      <p:sp>
        <p:nvSpPr>
          <p:cNvPr id="4" name="Text 2"/>
          <p:cNvSpPr/>
          <p:nvPr/>
        </p:nvSpPr>
        <p:spPr>
          <a:xfrm>
            <a:off x="9966960" y="0"/>
            <a:ext cx="2011680" cy="960120"/>
          </a:xfrm>
          <a:prstGeom prst="rect">
            <a:avLst/>
          </a:prstGeom>
          <a:noFill/>
          <a:ln/>
        </p:spPr>
        <p:txBody>
          <a:bodyPr wrap="square" lIns="0" tIns="0" rIns="0" bIns="0" rtlCol="0" anchor="ctr"/>
          <a:lstStyle/>
          <a:p>
            <a:pPr marL="0" indent="0" algn="r">
              <a:buNone/>
            </a:pPr>
            <a:r>
              <a:rPr lang="en-US" sz="900" b="1" kern="0" spc="250" dirty="0">
                <a:solidFill>
                  <a:srgbClr val="1ABC9C"/>
                </a:solidFill>
                <a:latin typeface="Calibri" pitchFamily="34" charset="0"/>
                <a:ea typeface="Calibri" pitchFamily="34" charset="-122"/>
                <a:cs typeface="Calibri" pitchFamily="34" charset="-120"/>
              </a:rPr>
              <a:t>SECTION 07 · ENGAGEMENT</a:t>
            </a:r>
            <a:endParaRPr lang="en-US" sz="900" dirty="0"/>
          </a:p>
        </p:txBody>
      </p:sp>
      <p:graphicFrame>
        <p:nvGraphicFramePr>
          <p:cNvPr id="5" name="Chart 0"/>
          <p:cNvGraphicFramePr/>
          <p:nvPr>
            <p:extLst>
              <p:ext uri="{D42A27DB-BD31-4B8C-83A1-F6EECF244321}">
                <p14:modId xmlns:p14="http://schemas.microsoft.com/office/powerpoint/2010/main" val="3942138204"/>
              </p:ext>
            </p:extLst>
          </p:nvPr>
        </p:nvGraphicFramePr>
        <p:xfrm>
          <a:off x="365760" y="1051560"/>
          <a:ext cx="5577840" cy="32918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extLst>
              <p:ext uri="{D42A27DB-BD31-4B8C-83A1-F6EECF244321}">
                <p14:modId xmlns:p14="http://schemas.microsoft.com/office/powerpoint/2010/main" val="1943827719"/>
              </p:ext>
            </p:extLst>
          </p:nvPr>
        </p:nvGraphicFramePr>
        <p:xfrm>
          <a:off x="6126480" y="1051560"/>
          <a:ext cx="5669280" cy="329184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365760" y="4507992"/>
            <a:ext cx="2788920" cy="2395728"/>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8" name="Shape 4"/>
          <p:cNvSpPr/>
          <p:nvPr/>
        </p:nvSpPr>
        <p:spPr>
          <a:xfrm>
            <a:off x="365760" y="4507992"/>
            <a:ext cx="2788920" cy="50292"/>
          </a:xfrm>
          <a:prstGeom prst="rect">
            <a:avLst/>
          </a:prstGeom>
          <a:solidFill>
            <a:srgbClr val="E74C3C"/>
          </a:solidFill>
          <a:ln w="12700">
            <a:solidFill>
              <a:srgbClr val="E74C3C"/>
            </a:solidFill>
            <a:prstDash val="solid"/>
          </a:ln>
        </p:spPr>
      </p:sp>
      <p:sp>
        <p:nvSpPr>
          <p:cNvPr id="9" name="Text 5"/>
          <p:cNvSpPr/>
          <p:nvPr/>
        </p:nvSpPr>
        <p:spPr>
          <a:xfrm>
            <a:off x="530352" y="4617720"/>
            <a:ext cx="2450592" cy="384048"/>
          </a:xfrm>
          <a:prstGeom prst="rect">
            <a:avLst/>
          </a:prstGeom>
          <a:noFill/>
          <a:ln/>
        </p:spPr>
        <p:txBody>
          <a:bodyPr wrap="square" lIns="0" tIns="0" rIns="0" bIns="0" rtlCol="0" anchor="ctr"/>
          <a:lstStyle/>
          <a:p>
            <a:pPr marL="0" indent="0">
              <a:buNone/>
            </a:pPr>
            <a:r>
              <a:rPr lang="en-US" sz="1600" b="1" dirty="0">
                <a:solidFill>
                  <a:srgbClr val="2C3E50"/>
                </a:solidFill>
                <a:latin typeface="Georgia" pitchFamily="34" charset="0"/>
                <a:ea typeface="Georgia" pitchFamily="34" charset="-122"/>
                <a:cs typeface="Georgia" pitchFamily="34" charset="-120"/>
              </a:rPr>
              <a:t>67% Never Rate</a:t>
            </a:r>
            <a:endParaRPr lang="en-US" sz="1600" dirty="0"/>
          </a:p>
        </p:txBody>
      </p:sp>
      <p:sp>
        <p:nvSpPr>
          <p:cNvPr id="10" name="Text 6"/>
          <p:cNvSpPr/>
          <p:nvPr/>
        </p:nvSpPr>
        <p:spPr>
          <a:xfrm>
            <a:off x="530352" y="5038344"/>
            <a:ext cx="2450592" cy="1700784"/>
          </a:xfrm>
          <a:prstGeom prst="rect">
            <a:avLst/>
          </a:prstGeom>
          <a:noFill/>
          <a:ln/>
        </p:spPr>
        <p:txBody>
          <a:bodyPr wrap="square" lIns="0" tIns="0" rIns="0" bIns="0" rtlCol="0" anchor="t"/>
          <a:lstStyle/>
          <a:p>
            <a:pPr marL="0" indent="0">
              <a:buNone/>
            </a:pPr>
            <a:r>
              <a:rPr lang="en-US" sz="1400" b="1" dirty="0">
                <a:solidFill>
                  <a:schemeClr val="tx1">
                    <a:lumMod val="65000"/>
                    <a:lumOff val="35000"/>
                  </a:schemeClr>
                </a:solidFill>
                <a:latin typeface="Calibri" pitchFamily="34" charset="0"/>
                <a:ea typeface="Calibri" pitchFamily="34" charset="-122"/>
                <a:cs typeface="Calibri" pitchFamily="34" charset="-120"/>
              </a:rPr>
              <a:t>11,009 buyers never give a rating. No reviews = less trust for new customers.</a:t>
            </a:r>
            <a:endParaRPr lang="en-US" sz="1400" b="1" dirty="0">
              <a:solidFill>
                <a:schemeClr val="tx1">
                  <a:lumMod val="65000"/>
                  <a:lumOff val="35000"/>
                </a:schemeClr>
              </a:solidFill>
            </a:endParaRPr>
          </a:p>
        </p:txBody>
      </p:sp>
      <p:sp>
        <p:nvSpPr>
          <p:cNvPr id="11" name="Shape 7"/>
          <p:cNvSpPr/>
          <p:nvPr/>
        </p:nvSpPr>
        <p:spPr>
          <a:xfrm>
            <a:off x="3319272" y="4507992"/>
            <a:ext cx="2788920" cy="2395728"/>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12" name="Shape 8"/>
          <p:cNvSpPr/>
          <p:nvPr/>
        </p:nvSpPr>
        <p:spPr>
          <a:xfrm>
            <a:off x="3319272" y="4507992"/>
            <a:ext cx="2788920" cy="50292"/>
          </a:xfrm>
          <a:prstGeom prst="rect">
            <a:avLst/>
          </a:prstGeom>
          <a:solidFill>
            <a:srgbClr val="1ABC9C"/>
          </a:solidFill>
          <a:ln w="12700">
            <a:solidFill>
              <a:srgbClr val="1ABC9C"/>
            </a:solidFill>
            <a:prstDash val="solid"/>
          </a:ln>
        </p:spPr>
      </p:sp>
      <p:sp>
        <p:nvSpPr>
          <p:cNvPr id="13" name="Text 9"/>
          <p:cNvSpPr/>
          <p:nvPr/>
        </p:nvSpPr>
        <p:spPr>
          <a:xfrm>
            <a:off x="3483864" y="4617720"/>
            <a:ext cx="2450592" cy="384048"/>
          </a:xfrm>
          <a:prstGeom prst="rect">
            <a:avLst/>
          </a:prstGeom>
          <a:noFill/>
          <a:ln/>
        </p:spPr>
        <p:txBody>
          <a:bodyPr wrap="square" lIns="0" tIns="0" rIns="0" bIns="0" rtlCol="0" anchor="ctr"/>
          <a:lstStyle/>
          <a:p>
            <a:pPr marL="0" indent="0">
              <a:buNone/>
            </a:pPr>
            <a:r>
              <a:rPr lang="en-US" sz="1600" b="1" dirty="0">
                <a:solidFill>
                  <a:srgbClr val="2C3E50"/>
                </a:solidFill>
                <a:latin typeface="Georgia" pitchFamily="34" charset="0"/>
                <a:ea typeface="Georgia" pitchFamily="34" charset="-122"/>
                <a:cs typeface="Georgia" pitchFamily="34" charset="-120"/>
              </a:rPr>
              <a:t>32% Leave Reviews</a:t>
            </a:r>
            <a:endParaRPr lang="en-US" sz="1600" dirty="0"/>
          </a:p>
        </p:txBody>
      </p:sp>
      <p:sp>
        <p:nvSpPr>
          <p:cNvPr id="14" name="Text 10"/>
          <p:cNvSpPr/>
          <p:nvPr/>
        </p:nvSpPr>
        <p:spPr>
          <a:xfrm>
            <a:off x="3483864" y="5038344"/>
            <a:ext cx="2450592" cy="1700784"/>
          </a:xfrm>
          <a:prstGeom prst="rect">
            <a:avLst/>
          </a:prstGeom>
          <a:noFill/>
          <a:ln/>
        </p:spPr>
        <p:txBody>
          <a:bodyPr wrap="square" lIns="0" tIns="0" rIns="0" bIns="0" rtlCol="0" anchor="t"/>
          <a:lstStyle/>
          <a:p>
            <a:r>
              <a:rPr lang="en-US" sz="1400" b="1" dirty="0">
                <a:solidFill>
                  <a:schemeClr val="tx1">
                    <a:lumMod val="65000"/>
                    <a:lumOff val="35000"/>
                  </a:schemeClr>
                </a:solidFill>
                <a:latin typeface="Calibri" pitchFamily="34" charset="0"/>
                <a:ea typeface="Calibri" pitchFamily="34" charset="-122"/>
                <a:cs typeface="Calibri" pitchFamily="34" charset="-120"/>
              </a:rPr>
              <a:t>5,259 buyers rated products. These are our most engaged customers.</a:t>
            </a:r>
          </a:p>
        </p:txBody>
      </p:sp>
      <p:sp>
        <p:nvSpPr>
          <p:cNvPr id="15" name="Shape 11"/>
          <p:cNvSpPr/>
          <p:nvPr/>
        </p:nvSpPr>
        <p:spPr>
          <a:xfrm>
            <a:off x="6272784" y="4507992"/>
            <a:ext cx="2788920" cy="2395728"/>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16" name="Shape 12"/>
          <p:cNvSpPr/>
          <p:nvPr/>
        </p:nvSpPr>
        <p:spPr>
          <a:xfrm>
            <a:off x="6272784" y="4507992"/>
            <a:ext cx="2788920" cy="50292"/>
          </a:xfrm>
          <a:prstGeom prst="rect">
            <a:avLst/>
          </a:prstGeom>
          <a:solidFill>
            <a:srgbClr val="1B4F72"/>
          </a:solidFill>
          <a:ln w="12700">
            <a:solidFill>
              <a:srgbClr val="1B4F72"/>
            </a:solidFill>
            <a:prstDash val="solid"/>
          </a:ln>
        </p:spPr>
      </p:sp>
      <p:sp>
        <p:nvSpPr>
          <p:cNvPr id="17" name="Text 13"/>
          <p:cNvSpPr/>
          <p:nvPr/>
        </p:nvSpPr>
        <p:spPr>
          <a:xfrm>
            <a:off x="6437376" y="4617720"/>
            <a:ext cx="2450592" cy="384048"/>
          </a:xfrm>
          <a:prstGeom prst="rect">
            <a:avLst/>
          </a:prstGeom>
          <a:noFill/>
          <a:ln/>
        </p:spPr>
        <p:txBody>
          <a:bodyPr wrap="square" lIns="0" tIns="0" rIns="0" bIns="0" rtlCol="0" anchor="ctr"/>
          <a:lstStyle/>
          <a:p>
            <a:pPr marL="0" indent="0">
              <a:buNone/>
            </a:pPr>
            <a:r>
              <a:rPr lang="en-US" sz="1600" b="1" dirty="0">
                <a:solidFill>
                  <a:srgbClr val="2C3E50"/>
                </a:solidFill>
                <a:latin typeface="Georgia" pitchFamily="34" charset="0"/>
                <a:ea typeface="Georgia" pitchFamily="34" charset="-122"/>
                <a:cs typeface="Georgia" pitchFamily="34" charset="-120"/>
              </a:rPr>
              <a:t>55% Opted In</a:t>
            </a:r>
            <a:endParaRPr lang="en-US" sz="1600" dirty="0"/>
          </a:p>
        </p:txBody>
      </p:sp>
      <p:sp>
        <p:nvSpPr>
          <p:cNvPr id="18" name="Text 14"/>
          <p:cNvSpPr/>
          <p:nvPr/>
        </p:nvSpPr>
        <p:spPr>
          <a:xfrm>
            <a:off x="6437376" y="5038344"/>
            <a:ext cx="2450592" cy="1700784"/>
          </a:xfrm>
          <a:prstGeom prst="rect">
            <a:avLst/>
          </a:prstGeom>
          <a:noFill/>
          <a:ln/>
        </p:spPr>
        <p:txBody>
          <a:bodyPr wrap="square" lIns="0" tIns="0" rIns="0" bIns="0" rtlCol="0" anchor="t"/>
          <a:lstStyle/>
          <a:p>
            <a:pPr indent="0">
              <a:buNone/>
            </a:pPr>
            <a:r>
              <a:rPr lang="en-US" sz="1400" b="1" dirty="0">
                <a:solidFill>
                  <a:schemeClr val="tx1">
                    <a:lumMod val="65000"/>
                    <a:lumOff val="35000"/>
                  </a:schemeClr>
                </a:solidFill>
                <a:latin typeface="Calibri" pitchFamily="34" charset="0"/>
                <a:ea typeface="Calibri" pitchFamily="34" charset="-122"/>
                <a:cs typeface="Calibri" pitchFamily="34" charset="-120"/>
              </a:rPr>
              <a:t>11,110 customers agreed to get marketing emails — a strong list to work with.</a:t>
            </a:r>
          </a:p>
        </p:txBody>
      </p:sp>
      <p:sp>
        <p:nvSpPr>
          <p:cNvPr id="19" name="Shape 15"/>
          <p:cNvSpPr/>
          <p:nvPr/>
        </p:nvSpPr>
        <p:spPr>
          <a:xfrm>
            <a:off x="9226296" y="4507992"/>
            <a:ext cx="2788920" cy="2395728"/>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20" name="Shape 16"/>
          <p:cNvSpPr/>
          <p:nvPr/>
        </p:nvSpPr>
        <p:spPr>
          <a:xfrm>
            <a:off x="9226296" y="4507992"/>
            <a:ext cx="2788920" cy="50292"/>
          </a:xfrm>
          <a:prstGeom prst="rect">
            <a:avLst/>
          </a:prstGeom>
          <a:solidFill>
            <a:srgbClr val="F39C12"/>
          </a:solidFill>
          <a:ln w="12700">
            <a:solidFill>
              <a:srgbClr val="F39C12"/>
            </a:solidFill>
            <a:prstDash val="solid"/>
          </a:ln>
        </p:spPr>
      </p:sp>
      <p:sp>
        <p:nvSpPr>
          <p:cNvPr id="21" name="Text 17"/>
          <p:cNvSpPr/>
          <p:nvPr/>
        </p:nvSpPr>
        <p:spPr>
          <a:xfrm>
            <a:off x="9390888" y="4617720"/>
            <a:ext cx="2450592" cy="384048"/>
          </a:xfrm>
          <a:prstGeom prst="rect">
            <a:avLst/>
          </a:prstGeom>
          <a:noFill/>
          <a:ln/>
        </p:spPr>
        <p:txBody>
          <a:bodyPr wrap="square" lIns="0" tIns="0" rIns="0" bIns="0" rtlCol="0" anchor="ctr"/>
          <a:lstStyle/>
          <a:p>
            <a:pPr marL="0" indent="0">
              <a:buNone/>
            </a:pPr>
            <a:r>
              <a:rPr lang="en-US" sz="1600" b="1" dirty="0">
                <a:solidFill>
                  <a:srgbClr val="2C3E50"/>
                </a:solidFill>
                <a:latin typeface="Georgia" pitchFamily="34" charset="0"/>
                <a:ea typeface="Georgia" pitchFamily="34" charset="-122"/>
                <a:cs typeface="Georgia" pitchFamily="34" charset="-120"/>
              </a:rPr>
              <a:t>Big Opportunity</a:t>
            </a:r>
            <a:endParaRPr lang="en-US" sz="1600" dirty="0"/>
          </a:p>
        </p:txBody>
      </p:sp>
      <p:sp>
        <p:nvSpPr>
          <p:cNvPr id="22" name="Text 18"/>
          <p:cNvSpPr/>
          <p:nvPr/>
        </p:nvSpPr>
        <p:spPr>
          <a:xfrm>
            <a:off x="9390888" y="5038344"/>
            <a:ext cx="2450592" cy="1700784"/>
          </a:xfrm>
          <a:prstGeom prst="rect">
            <a:avLst/>
          </a:prstGeom>
          <a:noFill/>
          <a:ln/>
        </p:spPr>
        <p:txBody>
          <a:bodyPr wrap="square" lIns="0" tIns="0" rIns="0" bIns="0" rtlCol="0" anchor="t"/>
          <a:lstStyle/>
          <a:p>
            <a:r>
              <a:rPr lang="en-US" sz="1400" b="1" dirty="0">
                <a:solidFill>
                  <a:schemeClr val="tx1">
                    <a:lumMod val="65000"/>
                    <a:lumOff val="35000"/>
                  </a:schemeClr>
                </a:solidFill>
                <a:latin typeface="Calibri" pitchFamily="34" charset="0"/>
                <a:ea typeface="Calibri" pitchFamily="34" charset="-122"/>
                <a:cs typeface="Calibri" pitchFamily="34" charset="-120"/>
              </a:rPr>
              <a:t>Getting more reviews and marketing sign-ups can significantly boost growth.</a:t>
            </a:r>
          </a:p>
        </p:txBody>
      </p:sp>
      <p:sp>
        <p:nvSpPr>
          <p:cNvPr id="23" name="Text 1">
            <a:extLst>
              <a:ext uri="{FF2B5EF4-FFF2-40B4-BE49-F238E27FC236}">
                <a16:creationId xmlns:a16="http://schemas.microsoft.com/office/drawing/2014/main" id="{CF5119F0-2C7E-E141-91C3-2F9622422294}"/>
              </a:ext>
            </a:extLst>
          </p:cNvPr>
          <p:cNvSpPr/>
          <p:nvPr/>
        </p:nvSpPr>
        <p:spPr>
          <a:xfrm>
            <a:off x="411480" y="9728"/>
            <a:ext cx="9875520" cy="96012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Customer Reviews &amp; Marketing Impact</a:t>
            </a:r>
            <a:endParaRPr lang="en-US" sz="2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F39C12"/>
          </a:solidFill>
          <a:ln w="12700">
            <a:solidFill>
              <a:srgbClr val="F39C12"/>
            </a:solidFill>
            <a:prstDash val="solid"/>
          </a:ln>
        </p:spPr>
      </p:sp>
      <p:sp>
        <p:nvSpPr>
          <p:cNvPr id="3" name="Text 1"/>
          <p:cNvSpPr/>
          <p:nvPr/>
        </p:nvSpPr>
        <p:spPr>
          <a:xfrm>
            <a:off x="411480" y="0"/>
            <a:ext cx="9875520" cy="960120"/>
          </a:xfrm>
          <a:prstGeom prst="rect">
            <a:avLst/>
          </a:prstGeom>
          <a:noFill/>
          <a:ln/>
        </p:spPr>
        <p:txBody>
          <a:bodyPr wrap="square" lIns="0" tIns="0" rIns="0" bIns="0" rtlCol="0" anchor="ctr"/>
          <a:lstStyle/>
          <a:p>
            <a:pPr marL="0" indent="0">
              <a:buNone/>
            </a:pPr>
            <a:r>
              <a:rPr lang="en-US" sz="2600" b="1" dirty="0">
                <a:solidFill>
                  <a:srgbClr val="0D1B2A"/>
                </a:solidFill>
                <a:latin typeface="Georgia" pitchFamily="34" charset="0"/>
                <a:ea typeface="Georgia" pitchFamily="34" charset="-122"/>
                <a:cs typeface="Georgia" pitchFamily="34" charset="-120"/>
              </a:rPr>
              <a:t>What We Found — Key Insights</a:t>
            </a:r>
            <a:endParaRPr lang="en-US" sz="2600" dirty="0"/>
          </a:p>
        </p:txBody>
      </p:sp>
      <p:sp>
        <p:nvSpPr>
          <p:cNvPr id="4" name="Text 2"/>
          <p:cNvSpPr/>
          <p:nvPr/>
        </p:nvSpPr>
        <p:spPr>
          <a:xfrm>
            <a:off x="9966960" y="0"/>
            <a:ext cx="2011680" cy="960120"/>
          </a:xfrm>
          <a:prstGeom prst="rect">
            <a:avLst/>
          </a:prstGeom>
          <a:noFill/>
          <a:ln/>
        </p:spPr>
        <p:txBody>
          <a:bodyPr wrap="square" lIns="0" tIns="0" rIns="0" bIns="0" rtlCol="0" anchor="ctr"/>
          <a:lstStyle/>
          <a:p>
            <a:pPr marL="0" indent="0" algn="r">
              <a:buNone/>
            </a:pPr>
            <a:r>
              <a:rPr lang="en-US" sz="900" b="1" kern="0" spc="250" dirty="0">
                <a:solidFill>
                  <a:srgbClr val="0D1B2A"/>
                </a:solidFill>
                <a:latin typeface="Calibri" pitchFamily="34" charset="0"/>
                <a:ea typeface="Calibri" pitchFamily="34" charset="-122"/>
                <a:cs typeface="Calibri" pitchFamily="34" charset="-120"/>
              </a:rPr>
              <a:t>SECTION 08 · KEY FINDINGS</a:t>
            </a:r>
            <a:endParaRPr lang="en-US" sz="900" dirty="0"/>
          </a:p>
        </p:txBody>
      </p:sp>
      <p:sp>
        <p:nvSpPr>
          <p:cNvPr id="5" name="Shape 3"/>
          <p:cNvSpPr/>
          <p:nvPr/>
        </p:nvSpPr>
        <p:spPr>
          <a:xfrm>
            <a:off x="365760" y="1051560"/>
            <a:ext cx="5650992" cy="1691640"/>
          </a:xfrm>
          <a:prstGeom prst="rect">
            <a:avLst/>
          </a:prstGeom>
          <a:solidFill>
            <a:srgbClr val="112233"/>
          </a:solidFill>
          <a:ln w="9525">
            <a:solidFill>
              <a:srgbClr val="1E3A5F"/>
            </a:solidFill>
            <a:prstDash val="solid"/>
          </a:ln>
          <a:effectLst>
            <a:outerShdw blurRad="127000" dist="50800" dir="8100000" algn="bl" rotWithShape="0">
              <a:srgbClr val="000000">
                <a:alpha val="30000"/>
              </a:srgbClr>
            </a:outerShdw>
          </a:effectLst>
        </p:spPr>
      </p:sp>
      <p:sp>
        <p:nvSpPr>
          <p:cNvPr id="6" name="Shape 4"/>
          <p:cNvSpPr/>
          <p:nvPr/>
        </p:nvSpPr>
        <p:spPr>
          <a:xfrm>
            <a:off x="365760" y="1051560"/>
            <a:ext cx="5650992" cy="50292"/>
          </a:xfrm>
          <a:prstGeom prst="rect">
            <a:avLst/>
          </a:prstGeom>
          <a:solidFill>
            <a:srgbClr val="1ABC9C"/>
          </a:solidFill>
          <a:ln w="12700">
            <a:solidFill>
              <a:srgbClr val="1ABC9C"/>
            </a:solidFill>
            <a:prstDash val="solid"/>
          </a:ln>
        </p:spPr>
      </p:sp>
      <p:sp>
        <p:nvSpPr>
          <p:cNvPr id="7" name="Shape 5"/>
          <p:cNvSpPr/>
          <p:nvPr/>
        </p:nvSpPr>
        <p:spPr>
          <a:xfrm>
            <a:off x="548640" y="1280160"/>
            <a:ext cx="530352" cy="530352"/>
          </a:xfrm>
          <a:prstGeom prst="ellipse">
            <a:avLst/>
          </a:prstGeom>
          <a:solidFill>
            <a:srgbClr val="1ABC9C"/>
          </a:solidFill>
          <a:ln w="12700">
            <a:solidFill>
              <a:srgbClr val="1ABC9C"/>
            </a:solidFill>
            <a:prstDash val="solid"/>
          </a:ln>
        </p:spPr>
      </p:sp>
      <p:sp>
        <p:nvSpPr>
          <p:cNvPr id="8" name="Text 6"/>
          <p:cNvSpPr/>
          <p:nvPr/>
        </p:nvSpPr>
        <p:spPr>
          <a:xfrm>
            <a:off x="548640" y="1280160"/>
            <a:ext cx="530352"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9" name="Text 7"/>
          <p:cNvSpPr/>
          <p:nvPr/>
        </p:nvSpPr>
        <p:spPr>
          <a:xfrm>
            <a:off x="1234440" y="1216152"/>
            <a:ext cx="4663440" cy="402336"/>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81% of Customers Have Bought Something</a:t>
            </a:r>
            <a:endParaRPr lang="en-US" sz="1500" dirty="0"/>
          </a:p>
        </p:txBody>
      </p:sp>
      <p:sp>
        <p:nvSpPr>
          <p:cNvPr id="10" name="Text 8"/>
          <p:cNvSpPr/>
          <p:nvPr/>
        </p:nvSpPr>
        <p:spPr>
          <a:xfrm>
            <a:off x="1234440" y="1673352"/>
            <a:ext cx="4663440" cy="896112"/>
          </a:xfrm>
          <a:prstGeom prst="rect">
            <a:avLst/>
          </a:prstGeom>
          <a:noFill/>
          <a:ln/>
        </p:spPr>
        <p:txBody>
          <a:bodyPr wrap="square" lIns="0" tIns="0" rIns="0" bIns="0" rtlCol="0" anchor="t"/>
          <a:lstStyle/>
          <a:p>
            <a:pPr marL="0" indent="0">
              <a:buNone/>
            </a:pPr>
            <a:r>
              <a:rPr lang="en-US" sz="1400" b="1" dirty="0">
                <a:solidFill>
                  <a:srgbClr val="95A5A6"/>
                </a:solidFill>
                <a:latin typeface="Calibri" pitchFamily="34" charset="0"/>
                <a:ea typeface="Calibri" pitchFamily="34" charset="-122"/>
                <a:cs typeface="Calibri" pitchFamily="34" charset="-120"/>
              </a:rPr>
              <a:t>That means 4 out of 5 customers who signed up have made at least one purchase. That's a strong conversion rate.</a:t>
            </a:r>
            <a:endParaRPr lang="en-US" sz="1400" b="1" dirty="0"/>
          </a:p>
        </p:txBody>
      </p:sp>
      <p:sp>
        <p:nvSpPr>
          <p:cNvPr id="11" name="Shape 9"/>
          <p:cNvSpPr/>
          <p:nvPr/>
        </p:nvSpPr>
        <p:spPr>
          <a:xfrm>
            <a:off x="6309360" y="1051560"/>
            <a:ext cx="5650992" cy="1691640"/>
          </a:xfrm>
          <a:prstGeom prst="rect">
            <a:avLst/>
          </a:prstGeom>
          <a:solidFill>
            <a:srgbClr val="112233"/>
          </a:solidFill>
          <a:ln w="9525">
            <a:solidFill>
              <a:srgbClr val="1E3A5F"/>
            </a:solidFill>
            <a:prstDash val="solid"/>
          </a:ln>
          <a:effectLst>
            <a:outerShdw blurRad="127000" dist="50800" dir="8100000" algn="bl" rotWithShape="0">
              <a:srgbClr val="000000">
                <a:alpha val="30000"/>
              </a:srgbClr>
            </a:outerShdw>
          </a:effectLst>
        </p:spPr>
      </p:sp>
      <p:sp>
        <p:nvSpPr>
          <p:cNvPr id="12" name="Shape 10"/>
          <p:cNvSpPr/>
          <p:nvPr/>
        </p:nvSpPr>
        <p:spPr>
          <a:xfrm>
            <a:off x="6309360" y="1051560"/>
            <a:ext cx="5650992" cy="50292"/>
          </a:xfrm>
          <a:prstGeom prst="rect">
            <a:avLst/>
          </a:prstGeom>
          <a:solidFill>
            <a:srgbClr val="F39C12"/>
          </a:solidFill>
          <a:ln w="12700">
            <a:solidFill>
              <a:srgbClr val="F39C12"/>
            </a:solidFill>
            <a:prstDash val="solid"/>
          </a:ln>
        </p:spPr>
      </p:sp>
      <p:sp>
        <p:nvSpPr>
          <p:cNvPr id="13" name="Shape 11"/>
          <p:cNvSpPr/>
          <p:nvPr/>
        </p:nvSpPr>
        <p:spPr>
          <a:xfrm>
            <a:off x="6492240" y="1280160"/>
            <a:ext cx="530352" cy="530352"/>
          </a:xfrm>
          <a:prstGeom prst="ellipse">
            <a:avLst/>
          </a:prstGeom>
          <a:solidFill>
            <a:srgbClr val="F39C12"/>
          </a:solidFill>
          <a:ln w="12700">
            <a:solidFill>
              <a:srgbClr val="F39C12"/>
            </a:solidFill>
            <a:prstDash val="solid"/>
          </a:ln>
        </p:spPr>
      </p:sp>
      <p:sp>
        <p:nvSpPr>
          <p:cNvPr id="14" name="Text 12"/>
          <p:cNvSpPr/>
          <p:nvPr/>
        </p:nvSpPr>
        <p:spPr>
          <a:xfrm>
            <a:off x="6492240" y="1280160"/>
            <a:ext cx="530352"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5" name="Text 13"/>
          <p:cNvSpPr/>
          <p:nvPr/>
        </p:nvSpPr>
        <p:spPr>
          <a:xfrm>
            <a:off x="7178040" y="1216152"/>
            <a:ext cx="4663440" cy="402336"/>
          </a:xfrm>
          <a:prstGeom prst="rect">
            <a:avLst/>
          </a:prstGeom>
          <a:noFill/>
          <a:ln/>
        </p:spPr>
        <p:txBody>
          <a:bodyPr wrap="square" lIns="0" tIns="0" rIns="0" bIns="0" rtlCol="0" anchor="ctr"/>
          <a:lstStyle/>
          <a:p>
            <a:r>
              <a:rPr lang="en-US" sz="1500" b="1" dirty="0">
                <a:solidFill>
                  <a:srgbClr val="FFFFFF"/>
                </a:solidFill>
                <a:latin typeface="Georgia" pitchFamily="34" charset="0"/>
              </a:rPr>
              <a:t>Beauty Makes 28% of All Revenue</a:t>
            </a:r>
          </a:p>
        </p:txBody>
      </p:sp>
      <p:sp>
        <p:nvSpPr>
          <p:cNvPr id="16" name="Text 14"/>
          <p:cNvSpPr/>
          <p:nvPr/>
        </p:nvSpPr>
        <p:spPr>
          <a:xfrm>
            <a:off x="7178040" y="1673352"/>
            <a:ext cx="4663440" cy="896112"/>
          </a:xfrm>
          <a:prstGeom prst="rect">
            <a:avLst/>
          </a:prstGeom>
          <a:noFill/>
          <a:ln/>
        </p:spPr>
        <p:txBody>
          <a:bodyPr wrap="square" lIns="0" tIns="0" rIns="0" bIns="0" rtlCol="0" anchor="t"/>
          <a:lstStyle/>
          <a:p>
            <a:r>
              <a:rPr lang="en-US" sz="1400" b="1" dirty="0">
                <a:solidFill>
                  <a:srgbClr val="95A5A6"/>
                </a:solidFill>
                <a:latin typeface="Calibri" pitchFamily="34" charset="0"/>
                <a:ea typeface="Calibri" pitchFamily="34" charset="-122"/>
                <a:cs typeface="Calibri" pitchFamily="34" charset="-120"/>
              </a:rPr>
              <a:t>One category brings in over $1.26M. This is great but also risky — if beauty sales slow down, the whole business is affected.</a:t>
            </a:r>
          </a:p>
        </p:txBody>
      </p:sp>
      <p:sp>
        <p:nvSpPr>
          <p:cNvPr id="17" name="Shape 15"/>
          <p:cNvSpPr/>
          <p:nvPr/>
        </p:nvSpPr>
        <p:spPr>
          <a:xfrm>
            <a:off x="365760" y="2926080"/>
            <a:ext cx="5650992" cy="1691640"/>
          </a:xfrm>
          <a:prstGeom prst="rect">
            <a:avLst/>
          </a:prstGeom>
          <a:solidFill>
            <a:srgbClr val="112233"/>
          </a:solidFill>
          <a:ln w="9525">
            <a:solidFill>
              <a:srgbClr val="1E3A5F"/>
            </a:solidFill>
            <a:prstDash val="solid"/>
          </a:ln>
          <a:effectLst>
            <a:outerShdw blurRad="127000" dist="50800" dir="8100000" algn="bl" rotWithShape="0">
              <a:srgbClr val="000000">
                <a:alpha val="30000"/>
              </a:srgbClr>
            </a:outerShdw>
          </a:effectLst>
        </p:spPr>
      </p:sp>
      <p:sp>
        <p:nvSpPr>
          <p:cNvPr id="18" name="Shape 16"/>
          <p:cNvSpPr/>
          <p:nvPr/>
        </p:nvSpPr>
        <p:spPr>
          <a:xfrm>
            <a:off x="365760" y="2926080"/>
            <a:ext cx="5650992" cy="50292"/>
          </a:xfrm>
          <a:prstGeom prst="rect">
            <a:avLst/>
          </a:prstGeom>
          <a:solidFill>
            <a:srgbClr val="1B4F72"/>
          </a:solidFill>
          <a:ln w="12700">
            <a:solidFill>
              <a:srgbClr val="1B4F72"/>
            </a:solidFill>
            <a:prstDash val="solid"/>
          </a:ln>
        </p:spPr>
      </p:sp>
      <p:sp>
        <p:nvSpPr>
          <p:cNvPr id="19" name="Shape 17"/>
          <p:cNvSpPr/>
          <p:nvPr/>
        </p:nvSpPr>
        <p:spPr>
          <a:xfrm>
            <a:off x="548640" y="3154680"/>
            <a:ext cx="530352" cy="530352"/>
          </a:xfrm>
          <a:prstGeom prst="ellipse">
            <a:avLst/>
          </a:prstGeom>
          <a:solidFill>
            <a:srgbClr val="1B4F72"/>
          </a:solidFill>
          <a:ln w="12700">
            <a:solidFill>
              <a:srgbClr val="1B4F72"/>
            </a:solidFill>
            <a:prstDash val="solid"/>
          </a:ln>
        </p:spPr>
      </p:sp>
      <p:sp>
        <p:nvSpPr>
          <p:cNvPr id="20" name="Text 18"/>
          <p:cNvSpPr/>
          <p:nvPr/>
        </p:nvSpPr>
        <p:spPr>
          <a:xfrm>
            <a:off x="548640" y="3154680"/>
            <a:ext cx="530352"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21" name="Text 19"/>
          <p:cNvSpPr/>
          <p:nvPr/>
        </p:nvSpPr>
        <p:spPr>
          <a:xfrm>
            <a:off x="1234440" y="3090672"/>
            <a:ext cx="4663440" cy="402336"/>
          </a:xfrm>
          <a:prstGeom prst="rect">
            <a:avLst/>
          </a:prstGeom>
          <a:noFill/>
          <a:ln/>
        </p:spPr>
        <p:txBody>
          <a:bodyPr wrap="square" lIns="0" tIns="0" rIns="0" bIns="0" rtlCol="0" anchor="ctr"/>
          <a:lstStyle/>
          <a:p>
            <a:r>
              <a:rPr lang="en-US" sz="1500" b="1" dirty="0">
                <a:solidFill>
                  <a:srgbClr val="FFFFFF"/>
                </a:solidFill>
                <a:latin typeface="Georgia" pitchFamily="34" charset="0"/>
              </a:rPr>
              <a:t>Older Customers Spend the Most</a:t>
            </a:r>
          </a:p>
        </p:txBody>
      </p:sp>
      <p:sp>
        <p:nvSpPr>
          <p:cNvPr id="22" name="Text 20"/>
          <p:cNvSpPr/>
          <p:nvPr/>
        </p:nvSpPr>
        <p:spPr>
          <a:xfrm>
            <a:off x="1234440" y="3547872"/>
            <a:ext cx="4663440" cy="896112"/>
          </a:xfrm>
          <a:prstGeom prst="rect">
            <a:avLst/>
          </a:prstGeom>
          <a:noFill/>
          <a:ln/>
        </p:spPr>
        <p:txBody>
          <a:bodyPr wrap="square" lIns="0" tIns="0" rIns="0" bIns="0" rtlCol="0" anchor="t"/>
          <a:lstStyle/>
          <a:p>
            <a:r>
              <a:rPr lang="en-US" sz="1400" b="1" dirty="0">
                <a:solidFill>
                  <a:srgbClr val="95A5A6"/>
                </a:solidFill>
                <a:latin typeface="Calibri" pitchFamily="34" charset="0"/>
                <a:ea typeface="Calibri" pitchFamily="34" charset="-122"/>
                <a:cs typeface="Calibri" pitchFamily="34" charset="-120"/>
              </a:rPr>
              <a:t>The 55+ age group generates $1.63M in revenue — the highest of any age group. We must keep them happy.</a:t>
            </a:r>
          </a:p>
        </p:txBody>
      </p:sp>
      <p:sp>
        <p:nvSpPr>
          <p:cNvPr id="23" name="Shape 21"/>
          <p:cNvSpPr/>
          <p:nvPr/>
        </p:nvSpPr>
        <p:spPr>
          <a:xfrm>
            <a:off x="6309360" y="2926080"/>
            <a:ext cx="5650992" cy="1691640"/>
          </a:xfrm>
          <a:prstGeom prst="rect">
            <a:avLst/>
          </a:prstGeom>
          <a:solidFill>
            <a:srgbClr val="112233"/>
          </a:solidFill>
          <a:ln w="9525">
            <a:solidFill>
              <a:srgbClr val="1E3A5F"/>
            </a:solidFill>
            <a:prstDash val="solid"/>
          </a:ln>
          <a:effectLst>
            <a:outerShdw blurRad="127000" dist="50800" dir="8100000" algn="bl" rotWithShape="0">
              <a:srgbClr val="000000">
                <a:alpha val="30000"/>
              </a:srgbClr>
            </a:outerShdw>
          </a:effectLst>
        </p:spPr>
      </p:sp>
      <p:sp>
        <p:nvSpPr>
          <p:cNvPr id="24" name="Shape 22"/>
          <p:cNvSpPr/>
          <p:nvPr/>
        </p:nvSpPr>
        <p:spPr>
          <a:xfrm>
            <a:off x="6309360" y="2926080"/>
            <a:ext cx="5650992" cy="50292"/>
          </a:xfrm>
          <a:prstGeom prst="rect">
            <a:avLst/>
          </a:prstGeom>
          <a:solidFill>
            <a:srgbClr val="E74C3C"/>
          </a:solidFill>
          <a:ln w="12700">
            <a:solidFill>
              <a:srgbClr val="E74C3C"/>
            </a:solidFill>
            <a:prstDash val="solid"/>
          </a:ln>
        </p:spPr>
      </p:sp>
      <p:sp>
        <p:nvSpPr>
          <p:cNvPr id="25" name="Shape 23"/>
          <p:cNvSpPr/>
          <p:nvPr/>
        </p:nvSpPr>
        <p:spPr>
          <a:xfrm>
            <a:off x="6492240" y="3154680"/>
            <a:ext cx="530352" cy="530352"/>
          </a:xfrm>
          <a:prstGeom prst="ellipse">
            <a:avLst/>
          </a:prstGeom>
          <a:solidFill>
            <a:srgbClr val="E74C3C"/>
          </a:solidFill>
          <a:ln w="12700">
            <a:solidFill>
              <a:srgbClr val="E74C3C"/>
            </a:solidFill>
            <a:prstDash val="solid"/>
          </a:ln>
        </p:spPr>
      </p:sp>
      <p:sp>
        <p:nvSpPr>
          <p:cNvPr id="26" name="Text 24"/>
          <p:cNvSpPr/>
          <p:nvPr/>
        </p:nvSpPr>
        <p:spPr>
          <a:xfrm>
            <a:off x="6492240" y="3154680"/>
            <a:ext cx="530352"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7" name="Text 25"/>
          <p:cNvSpPr/>
          <p:nvPr/>
        </p:nvSpPr>
        <p:spPr>
          <a:xfrm>
            <a:off x="7159378" y="3090672"/>
            <a:ext cx="4965192" cy="402336"/>
          </a:xfrm>
          <a:prstGeom prst="rect">
            <a:avLst/>
          </a:prstGeom>
          <a:noFill/>
          <a:ln/>
        </p:spPr>
        <p:txBody>
          <a:bodyPr wrap="square" lIns="0" tIns="0" rIns="0" bIns="0" rtlCol="0" anchor="ctr"/>
          <a:lstStyle/>
          <a:p>
            <a:r>
              <a:rPr lang="en-US" sz="1500" b="1" dirty="0">
                <a:solidFill>
                  <a:srgbClr val="FFFFFF"/>
                </a:solidFill>
                <a:latin typeface="Georgia" pitchFamily="34" charset="0"/>
              </a:rPr>
              <a:t>$400K in Revenue Is Sitting in Abandoned Carts</a:t>
            </a:r>
          </a:p>
        </p:txBody>
      </p:sp>
      <p:sp>
        <p:nvSpPr>
          <p:cNvPr id="28" name="Text 26"/>
          <p:cNvSpPr/>
          <p:nvPr/>
        </p:nvSpPr>
        <p:spPr>
          <a:xfrm>
            <a:off x="7178040" y="3547872"/>
            <a:ext cx="4663440" cy="896112"/>
          </a:xfrm>
          <a:prstGeom prst="rect">
            <a:avLst/>
          </a:prstGeom>
          <a:noFill/>
          <a:ln/>
        </p:spPr>
        <p:txBody>
          <a:bodyPr wrap="square" lIns="0" tIns="0" rIns="0" bIns="0" rtlCol="0" anchor="t"/>
          <a:lstStyle/>
          <a:p>
            <a:r>
              <a:rPr lang="en-US" sz="1400" b="1" dirty="0">
                <a:solidFill>
                  <a:srgbClr val="95A5A6"/>
                </a:solidFill>
                <a:latin typeface="Calibri" pitchFamily="34" charset="0"/>
                <a:ea typeface="Calibri" pitchFamily="34" charset="-122"/>
                <a:cs typeface="Calibri" pitchFamily="34" charset="-120"/>
              </a:rPr>
              <a:t>3,677 customers nearly bought something but didn't finish. With the right follow-up, many of these sales can be recovered.</a:t>
            </a:r>
          </a:p>
        </p:txBody>
      </p:sp>
      <p:sp>
        <p:nvSpPr>
          <p:cNvPr id="29" name="Shape 27"/>
          <p:cNvSpPr/>
          <p:nvPr/>
        </p:nvSpPr>
        <p:spPr>
          <a:xfrm>
            <a:off x="365760" y="4800600"/>
            <a:ext cx="5650992" cy="1691640"/>
          </a:xfrm>
          <a:prstGeom prst="rect">
            <a:avLst/>
          </a:prstGeom>
          <a:solidFill>
            <a:srgbClr val="112233"/>
          </a:solidFill>
          <a:ln w="9525">
            <a:solidFill>
              <a:srgbClr val="1E3A5F"/>
            </a:solidFill>
            <a:prstDash val="solid"/>
          </a:ln>
          <a:effectLst>
            <a:outerShdw blurRad="127000" dist="50800" dir="8100000" algn="bl" rotWithShape="0">
              <a:srgbClr val="000000">
                <a:alpha val="30000"/>
              </a:srgbClr>
            </a:outerShdw>
          </a:effectLst>
        </p:spPr>
      </p:sp>
      <p:sp>
        <p:nvSpPr>
          <p:cNvPr id="30" name="Shape 28"/>
          <p:cNvSpPr/>
          <p:nvPr/>
        </p:nvSpPr>
        <p:spPr>
          <a:xfrm>
            <a:off x="365760" y="4800600"/>
            <a:ext cx="5650992" cy="50292"/>
          </a:xfrm>
          <a:prstGeom prst="rect">
            <a:avLst/>
          </a:prstGeom>
          <a:solidFill>
            <a:srgbClr val="F39C12"/>
          </a:solidFill>
          <a:ln w="12700">
            <a:solidFill>
              <a:srgbClr val="F39C12"/>
            </a:solidFill>
            <a:prstDash val="solid"/>
          </a:ln>
        </p:spPr>
      </p:sp>
      <p:sp>
        <p:nvSpPr>
          <p:cNvPr id="31" name="Shape 29"/>
          <p:cNvSpPr/>
          <p:nvPr/>
        </p:nvSpPr>
        <p:spPr>
          <a:xfrm>
            <a:off x="548640" y="5029200"/>
            <a:ext cx="530352" cy="530352"/>
          </a:xfrm>
          <a:prstGeom prst="ellipse">
            <a:avLst/>
          </a:prstGeom>
          <a:solidFill>
            <a:srgbClr val="F39C12"/>
          </a:solidFill>
          <a:ln w="12700">
            <a:solidFill>
              <a:srgbClr val="F39C12"/>
            </a:solidFill>
            <a:prstDash val="solid"/>
          </a:ln>
        </p:spPr>
      </p:sp>
      <p:sp>
        <p:nvSpPr>
          <p:cNvPr id="32" name="Text 30"/>
          <p:cNvSpPr/>
          <p:nvPr/>
        </p:nvSpPr>
        <p:spPr>
          <a:xfrm>
            <a:off x="548640" y="5029200"/>
            <a:ext cx="530352"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33" name="Text 31"/>
          <p:cNvSpPr/>
          <p:nvPr/>
        </p:nvSpPr>
        <p:spPr>
          <a:xfrm>
            <a:off x="1234440" y="4965192"/>
            <a:ext cx="4663440" cy="402336"/>
          </a:xfrm>
          <a:prstGeom prst="rect">
            <a:avLst/>
          </a:prstGeom>
          <a:noFill/>
          <a:ln/>
        </p:spPr>
        <p:txBody>
          <a:bodyPr wrap="square" lIns="0" tIns="0" rIns="0" bIns="0" rtlCol="0" anchor="ctr"/>
          <a:lstStyle/>
          <a:p>
            <a:r>
              <a:rPr lang="en-US" sz="1500" b="1" dirty="0">
                <a:solidFill>
                  <a:srgbClr val="FFFFFF"/>
                </a:solidFill>
                <a:latin typeface="Georgia" pitchFamily="34" charset="0"/>
              </a:rPr>
              <a:t>Mobile and Desktop Are Almost Equal</a:t>
            </a:r>
          </a:p>
        </p:txBody>
      </p:sp>
      <p:sp>
        <p:nvSpPr>
          <p:cNvPr id="34" name="Text 32"/>
          <p:cNvSpPr/>
          <p:nvPr/>
        </p:nvSpPr>
        <p:spPr>
          <a:xfrm>
            <a:off x="1234440" y="5422392"/>
            <a:ext cx="4663440" cy="896112"/>
          </a:xfrm>
          <a:prstGeom prst="rect">
            <a:avLst/>
          </a:prstGeom>
          <a:noFill/>
          <a:ln/>
        </p:spPr>
        <p:txBody>
          <a:bodyPr wrap="square" lIns="0" tIns="0" rIns="0" bIns="0" rtlCol="0" anchor="t"/>
          <a:lstStyle/>
          <a:p>
            <a:r>
              <a:rPr lang="en-US" sz="1400" b="1" dirty="0">
                <a:solidFill>
                  <a:srgbClr val="95A5A6"/>
                </a:solidFill>
                <a:latin typeface="Calibri" pitchFamily="34" charset="0"/>
                <a:ea typeface="Calibri" pitchFamily="34" charset="-122"/>
                <a:cs typeface="Calibri" pitchFamily="34" charset="-120"/>
              </a:rPr>
              <a:t>49.5% mobile vs 47.5% desktop. Both need to work great. A broken checkout on either device means lost sales.</a:t>
            </a:r>
          </a:p>
        </p:txBody>
      </p:sp>
      <p:sp>
        <p:nvSpPr>
          <p:cNvPr id="35" name="Shape 33"/>
          <p:cNvSpPr/>
          <p:nvPr/>
        </p:nvSpPr>
        <p:spPr>
          <a:xfrm>
            <a:off x="6309360" y="4800600"/>
            <a:ext cx="5650992" cy="1691640"/>
          </a:xfrm>
          <a:prstGeom prst="rect">
            <a:avLst/>
          </a:prstGeom>
          <a:solidFill>
            <a:srgbClr val="112233"/>
          </a:solidFill>
          <a:ln w="9525">
            <a:solidFill>
              <a:srgbClr val="1E3A5F"/>
            </a:solidFill>
            <a:prstDash val="solid"/>
          </a:ln>
          <a:effectLst>
            <a:outerShdw blurRad="127000" dist="50800" dir="8100000" algn="bl" rotWithShape="0">
              <a:srgbClr val="000000">
                <a:alpha val="30000"/>
              </a:srgbClr>
            </a:outerShdw>
          </a:effectLst>
        </p:spPr>
      </p:sp>
      <p:sp>
        <p:nvSpPr>
          <p:cNvPr id="36" name="Shape 34"/>
          <p:cNvSpPr/>
          <p:nvPr/>
        </p:nvSpPr>
        <p:spPr>
          <a:xfrm>
            <a:off x="6309360" y="4800600"/>
            <a:ext cx="5650992" cy="50292"/>
          </a:xfrm>
          <a:prstGeom prst="rect">
            <a:avLst/>
          </a:prstGeom>
          <a:solidFill>
            <a:srgbClr val="1ABC9C"/>
          </a:solidFill>
          <a:ln w="12700">
            <a:solidFill>
              <a:srgbClr val="1ABC9C"/>
            </a:solidFill>
            <a:prstDash val="solid"/>
          </a:ln>
        </p:spPr>
      </p:sp>
      <p:sp>
        <p:nvSpPr>
          <p:cNvPr id="37" name="Shape 35"/>
          <p:cNvSpPr/>
          <p:nvPr/>
        </p:nvSpPr>
        <p:spPr>
          <a:xfrm>
            <a:off x="6492240" y="5029200"/>
            <a:ext cx="530352" cy="530352"/>
          </a:xfrm>
          <a:prstGeom prst="ellipse">
            <a:avLst/>
          </a:prstGeom>
          <a:solidFill>
            <a:srgbClr val="1ABC9C"/>
          </a:solidFill>
          <a:ln w="12700">
            <a:solidFill>
              <a:srgbClr val="1ABC9C"/>
            </a:solidFill>
            <a:prstDash val="solid"/>
          </a:ln>
        </p:spPr>
      </p:sp>
      <p:sp>
        <p:nvSpPr>
          <p:cNvPr id="38" name="Text 36"/>
          <p:cNvSpPr/>
          <p:nvPr/>
        </p:nvSpPr>
        <p:spPr>
          <a:xfrm>
            <a:off x="6492240" y="5029200"/>
            <a:ext cx="530352"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39" name="Text 37"/>
          <p:cNvSpPr/>
          <p:nvPr/>
        </p:nvSpPr>
        <p:spPr>
          <a:xfrm>
            <a:off x="7178040" y="4965192"/>
            <a:ext cx="4663440" cy="402336"/>
          </a:xfrm>
          <a:prstGeom prst="rect">
            <a:avLst/>
          </a:prstGeom>
          <a:noFill/>
          <a:ln/>
        </p:spPr>
        <p:txBody>
          <a:bodyPr wrap="square" lIns="0" tIns="0" rIns="0" bIns="0" rtlCol="0" anchor="ctr"/>
          <a:lstStyle/>
          <a:p>
            <a:r>
              <a:rPr lang="en-US" sz="1500" b="1" dirty="0">
                <a:solidFill>
                  <a:srgbClr val="FFFFFF"/>
                </a:solidFill>
                <a:latin typeface="Georgia" pitchFamily="34" charset="0"/>
              </a:rPr>
              <a:t>Most Customers Don't Leave Reviews</a:t>
            </a:r>
          </a:p>
        </p:txBody>
      </p:sp>
      <p:sp>
        <p:nvSpPr>
          <p:cNvPr id="40" name="Text 38"/>
          <p:cNvSpPr/>
          <p:nvPr/>
        </p:nvSpPr>
        <p:spPr>
          <a:xfrm>
            <a:off x="7178040" y="5422392"/>
            <a:ext cx="4663440" cy="896112"/>
          </a:xfrm>
          <a:prstGeom prst="rect">
            <a:avLst/>
          </a:prstGeom>
          <a:noFill/>
          <a:ln/>
        </p:spPr>
        <p:txBody>
          <a:bodyPr wrap="square" lIns="0" tIns="0" rIns="0" bIns="0" rtlCol="0" anchor="t"/>
          <a:lstStyle/>
          <a:p>
            <a:r>
              <a:rPr lang="en-US" sz="1400" b="1" dirty="0">
                <a:solidFill>
                  <a:srgbClr val="95A5A6"/>
                </a:solidFill>
                <a:latin typeface="Calibri" pitchFamily="34" charset="0"/>
                <a:ea typeface="Calibri" pitchFamily="34" charset="-122"/>
                <a:cs typeface="Calibri" pitchFamily="34" charset="-120"/>
              </a:rPr>
              <a:t>73.6% of buyers never rate a product. More reviews would build trust and help more customers decide to buy.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B4F72"/>
          </a:solidFill>
          <a:ln w="12700">
            <a:solidFill>
              <a:srgbClr val="1B4F72"/>
            </a:solidFill>
            <a:prstDash val="solid"/>
          </a:ln>
        </p:spPr>
      </p:sp>
      <p:sp>
        <p:nvSpPr>
          <p:cNvPr id="3" name="Text 1"/>
          <p:cNvSpPr/>
          <p:nvPr/>
        </p:nvSpPr>
        <p:spPr>
          <a:xfrm>
            <a:off x="411480" y="0"/>
            <a:ext cx="9875520" cy="96012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What Should We Do Next?</a:t>
            </a:r>
            <a:endParaRPr lang="en-US" sz="2600" dirty="0"/>
          </a:p>
        </p:txBody>
      </p:sp>
      <p:sp>
        <p:nvSpPr>
          <p:cNvPr id="4" name="Text 2"/>
          <p:cNvSpPr/>
          <p:nvPr/>
        </p:nvSpPr>
        <p:spPr>
          <a:xfrm>
            <a:off x="9966960" y="0"/>
            <a:ext cx="2011680" cy="960120"/>
          </a:xfrm>
          <a:prstGeom prst="rect">
            <a:avLst/>
          </a:prstGeom>
          <a:noFill/>
          <a:ln/>
        </p:spPr>
        <p:txBody>
          <a:bodyPr wrap="square" lIns="0" tIns="0" rIns="0" bIns="0" rtlCol="0" anchor="ctr"/>
          <a:lstStyle/>
          <a:p>
            <a:pPr marL="0" indent="0" algn="r">
              <a:buNone/>
            </a:pPr>
            <a:r>
              <a:rPr lang="en-US" sz="900" b="1" kern="0" spc="250" dirty="0">
                <a:solidFill>
                  <a:srgbClr val="1ABC9C"/>
                </a:solidFill>
                <a:latin typeface="Calibri" pitchFamily="34" charset="0"/>
                <a:ea typeface="Calibri" pitchFamily="34" charset="-122"/>
                <a:cs typeface="Calibri" pitchFamily="34" charset="-120"/>
              </a:rPr>
              <a:t>SECTION 09 · RECOMMENDATIONS</a:t>
            </a:r>
            <a:endParaRPr lang="en-US" sz="900" dirty="0"/>
          </a:p>
        </p:txBody>
      </p:sp>
      <p:sp>
        <p:nvSpPr>
          <p:cNvPr id="5" name="Shape 3"/>
          <p:cNvSpPr/>
          <p:nvPr/>
        </p:nvSpPr>
        <p:spPr>
          <a:xfrm>
            <a:off x="365760" y="1051560"/>
            <a:ext cx="5650992" cy="1755648"/>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6" name="Shape 4"/>
          <p:cNvSpPr/>
          <p:nvPr/>
        </p:nvSpPr>
        <p:spPr>
          <a:xfrm>
            <a:off x="365760" y="1051560"/>
            <a:ext cx="5650992" cy="50292"/>
          </a:xfrm>
          <a:prstGeom prst="rect">
            <a:avLst/>
          </a:prstGeom>
          <a:solidFill>
            <a:srgbClr val="1ABC9C"/>
          </a:solidFill>
          <a:ln w="12700">
            <a:solidFill>
              <a:srgbClr val="1ABC9C"/>
            </a:solidFill>
            <a:prstDash val="solid"/>
          </a:ln>
        </p:spPr>
      </p:sp>
      <p:sp>
        <p:nvSpPr>
          <p:cNvPr id="7" name="Shape 5"/>
          <p:cNvSpPr/>
          <p:nvPr/>
        </p:nvSpPr>
        <p:spPr>
          <a:xfrm>
            <a:off x="548640" y="1271016"/>
            <a:ext cx="530352" cy="530352"/>
          </a:xfrm>
          <a:prstGeom prst="ellipse">
            <a:avLst/>
          </a:prstGeom>
          <a:solidFill>
            <a:srgbClr val="1ABC9C"/>
          </a:solidFill>
          <a:ln w="12700">
            <a:solidFill>
              <a:srgbClr val="1ABC9C"/>
            </a:solidFill>
            <a:prstDash val="solid"/>
          </a:ln>
        </p:spPr>
      </p:sp>
      <p:sp>
        <p:nvSpPr>
          <p:cNvPr id="8" name="Text 6"/>
          <p:cNvSpPr/>
          <p:nvPr/>
        </p:nvSpPr>
        <p:spPr>
          <a:xfrm>
            <a:off x="548640" y="1271016"/>
            <a:ext cx="530352"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R1</a:t>
            </a:r>
            <a:endParaRPr lang="en-US" sz="1300" dirty="0"/>
          </a:p>
        </p:txBody>
      </p:sp>
      <p:sp>
        <p:nvSpPr>
          <p:cNvPr id="9" name="Text 7"/>
          <p:cNvSpPr/>
          <p:nvPr/>
        </p:nvSpPr>
        <p:spPr>
          <a:xfrm>
            <a:off x="1234440" y="1197864"/>
            <a:ext cx="3840480" cy="420624"/>
          </a:xfrm>
          <a:prstGeom prst="rect">
            <a:avLst/>
          </a:prstGeom>
          <a:noFill/>
          <a:ln/>
        </p:spPr>
        <p:txBody>
          <a:bodyPr wrap="square" lIns="0" tIns="0" rIns="0" bIns="0" rtlCol="0" anchor="ctr"/>
          <a:lstStyle/>
          <a:p>
            <a:pPr marL="0" indent="0">
              <a:buNone/>
            </a:pPr>
            <a:r>
              <a:rPr lang="en-US" sz="1400" b="1" dirty="0">
                <a:solidFill>
                  <a:srgbClr val="2C3E50"/>
                </a:solidFill>
                <a:latin typeface="Georgia" pitchFamily="34" charset="0"/>
                <a:ea typeface="Georgia" pitchFamily="34" charset="-122"/>
                <a:cs typeface="Georgia" pitchFamily="34" charset="-120"/>
              </a:rPr>
              <a:t>Send Follow-Up Emails to Non-Buyers</a:t>
            </a:r>
            <a:endParaRPr lang="en-US" sz="1400" dirty="0"/>
          </a:p>
        </p:txBody>
      </p:sp>
      <p:sp>
        <p:nvSpPr>
          <p:cNvPr id="10" name="Shape 8"/>
          <p:cNvSpPr/>
          <p:nvPr/>
        </p:nvSpPr>
        <p:spPr>
          <a:xfrm>
            <a:off x="5212080" y="1271016"/>
            <a:ext cx="658368" cy="256032"/>
          </a:xfrm>
          <a:prstGeom prst="rect">
            <a:avLst/>
          </a:prstGeom>
          <a:solidFill>
            <a:srgbClr val="F39C12"/>
          </a:solidFill>
          <a:ln w="12700">
            <a:solidFill>
              <a:srgbClr val="F39C12"/>
            </a:solidFill>
            <a:prstDash val="solid"/>
          </a:ln>
        </p:spPr>
      </p:sp>
      <p:sp>
        <p:nvSpPr>
          <p:cNvPr id="11" name="Text 9"/>
          <p:cNvSpPr/>
          <p:nvPr/>
        </p:nvSpPr>
        <p:spPr>
          <a:xfrm>
            <a:off x="5212080" y="1271016"/>
            <a:ext cx="658368" cy="256032"/>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IMPORTANT</a:t>
            </a:r>
            <a:endParaRPr lang="en-US" sz="750" dirty="0"/>
          </a:p>
        </p:txBody>
      </p:sp>
      <p:sp>
        <p:nvSpPr>
          <p:cNvPr id="12" name="Text 10"/>
          <p:cNvSpPr/>
          <p:nvPr/>
        </p:nvSpPr>
        <p:spPr>
          <a:xfrm>
            <a:off x="1234440" y="1673352"/>
            <a:ext cx="4645152" cy="1005840"/>
          </a:xfrm>
          <a:prstGeom prst="rect">
            <a:avLst/>
          </a:prstGeom>
          <a:noFill/>
          <a:ln/>
        </p:spPr>
        <p:txBody>
          <a:bodyPr wrap="square" lIns="0" tIns="0" rIns="0" bIns="0" rtlCol="0" anchor="t"/>
          <a:lstStyle/>
          <a:p>
            <a:pPr marL="0" indent="0">
              <a:buNone/>
            </a:pPr>
            <a:r>
              <a:rPr lang="en-US" sz="1400" b="1" dirty="0">
                <a:solidFill>
                  <a:schemeClr val="tx1">
                    <a:lumMod val="65000"/>
                    <a:lumOff val="35000"/>
                  </a:schemeClr>
                </a:solidFill>
                <a:latin typeface="Calibri" pitchFamily="34" charset="0"/>
                <a:ea typeface="Calibri" pitchFamily="34" charset="-122"/>
                <a:cs typeface="Calibri" pitchFamily="34" charset="-120"/>
              </a:rPr>
              <a:t>Email the 3,677 customers who never bought, with a welcome discount or free delivery offer. Many of them just need a small push.</a:t>
            </a:r>
            <a:endParaRPr lang="en-US" sz="1400" b="1" dirty="0">
              <a:solidFill>
                <a:schemeClr val="tx1">
                  <a:lumMod val="65000"/>
                  <a:lumOff val="35000"/>
                </a:schemeClr>
              </a:solidFill>
            </a:endParaRPr>
          </a:p>
        </p:txBody>
      </p:sp>
      <p:sp>
        <p:nvSpPr>
          <p:cNvPr id="13" name="Shape 11"/>
          <p:cNvSpPr/>
          <p:nvPr/>
        </p:nvSpPr>
        <p:spPr>
          <a:xfrm>
            <a:off x="6309360" y="1051560"/>
            <a:ext cx="5650992" cy="1755648"/>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14" name="Shape 12"/>
          <p:cNvSpPr/>
          <p:nvPr/>
        </p:nvSpPr>
        <p:spPr>
          <a:xfrm>
            <a:off x="6309360" y="1051560"/>
            <a:ext cx="5650992" cy="50292"/>
          </a:xfrm>
          <a:prstGeom prst="rect">
            <a:avLst/>
          </a:prstGeom>
          <a:solidFill>
            <a:srgbClr val="E74C3C"/>
          </a:solidFill>
          <a:ln w="12700">
            <a:solidFill>
              <a:srgbClr val="E74C3C"/>
            </a:solidFill>
            <a:prstDash val="solid"/>
          </a:ln>
        </p:spPr>
      </p:sp>
      <p:sp>
        <p:nvSpPr>
          <p:cNvPr id="15" name="Shape 13"/>
          <p:cNvSpPr/>
          <p:nvPr/>
        </p:nvSpPr>
        <p:spPr>
          <a:xfrm>
            <a:off x="6492240" y="1271016"/>
            <a:ext cx="530352" cy="530352"/>
          </a:xfrm>
          <a:prstGeom prst="ellipse">
            <a:avLst/>
          </a:prstGeom>
          <a:solidFill>
            <a:srgbClr val="E74C3C"/>
          </a:solidFill>
          <a:ln w="12700">
            <a:solidFill>
              <a:srgbClr val="E74C3C"/>
            </a:solidFill>
            <a:prstDash val="solid"/>
          </a:ln>
        </p:spPr>
      </p:sp>
      <p:sp>
        <p:nvSpPr>
          <p:cNvPr id="16" name="Text 14"/>
          <p:cNvSpPr/>
          <p:nvPr/>
        </p:nvSpPr>
        <p:spPr>
          <a:xfrm>
            <a:off x="6492240" y="1271016"/>
            <a:ext cx="530352"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R2</a:t>
            </a:r>
            <a:endParaRPr lang="en-US" sz="1300" dirty="0"/>
          </a:p>
        </p:txBody>
      </p:sp>
      <p:sp>
        <p:nvSpPr>
          <p:cNvPr id="17" name="Text 15"/>
          <p:cNvSpPr/>
          <p:nvPr/>
        </p:nvSpPr>
        <p:spPr>
          <a:xfrm>
            <a:off x="7178040" y="1197864"/>
            <a:ext cx="3840480" cy="420624"/>
          </a:xfrm>
          <a:prstGeom prst="rect">
            <a:avLst/>
          </a:prstGeom>
          <a:noFill/>
          <a:ln/>
        </p:spPr>
        <p:txBody>
          <a:bodyPr wrap="square" lIns="0" tIns="0" rIns="0" bIns="0" rtlCol="0" anchor="ctr"/>
          <a:lstStyle/>
          <a:p>
            <a:r>
              <a:rPr lang="en-US" sz="1400" b="1" dirty="0">
                <a:solidFill>
                  <a:srgbClr val="2C3E50"/>
                </a:solidFill>
                <a:latin typeface="Georgia" pitchFamily="34" charset="0"/>
              </a:rPr>
              <a:t>Recover Abandoned Carts</a:t>
            </a:r>
          </a:p>
        </p:txBody>
      </p:sp>
      <p:sp>
        <p:nvSpPr>
          <p:cNvPr id="18" name="Shape 16"/>
          <p:cNvSpPr/>
          <p:nvPr/>
        </p:nvSpPr>
        <p:spPr>
          <a:xfrm>
            <a:off x="11155680" y="1271016"/>
            <a:ext cx="658368" cy="256032"/>
          </a:xfrm>
          <a:prstGeom prst="rect">
            <a:avLst/>
          </a:prstGeom>
          <a:solidFill>
            <a:srgbClr val="E74C3C"/>
          </a:solidFill>
          <a:ln w="12700">
            <a:solidFill>
              <a:srgbClr val="E74C3C"/>
            </a:solidFill>
            <a:prstDash val="solid"/>
          </a:ln>
        </p:spPr>
      </p:sp>
      <p:sp>
        <p:nvSpPr>
          <p:cNvPr id="19" name="Text 17"/>
          <p:cNvSpPr/>
          <p:nvPr/>
        </p:nvSpPr>
        <p:spPr>
          <a:xfrm>
            <a:off x="11155680" y="1271016"/>
            <a:ext cx="658368" cy="256032"/>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URGENT</a:t>
            </a:r>
            <a:endParaRPr lang="en-US" sz="750" dirty="0"/>
          </a:p>
        </p:txBody>
      </p:sp>
      <p:sp>
        <p:nvSpPr>
          <p:cNvPr id="20" name="Text 18"/>
          <p:cNvSpPr/>
          <p:nvPr/>
        </p:nvSpPr>
        <p:spPr>
          <a:xfrm>
            <a:off x="7178040" y="1673352"/>
            <a:ext cx="4645152" cy="1005840"/>
          </a:xfrm>
          <a:prstGeom prst="rect">
            <a:avLst/>
          </a:prstGeom>
          <a:noFill/>
          <a:ln/>
        </p:spPr>
        <p:txBody>
          <a:bodyPr wrap="square" lIns="0" tIns="0" rIns="0" bIns="0" rtlCol="0" anchor="t"/>
          <a:lstStyle/>
          <a:p>
            <a:r>
              <a:rPr lang="en-US" sz="1400" b="1" dirty="0">
                <a:solidFill>
                  <a:schemeClr val="tx1">
                    <a:lumMod val="65000"/>
                    <a:lumOff val="35000"/>
                  </a:schemeClr>
                </a:solidFill>
                <a:latin typeface="Calibri" pitchFamily="34" charset="0"/>
                <a:ea typeface="Calibri" pitchFamily="34" charset="-122"/>
                <a:cs typeface="Calibri" pitchFamily="34" charset="-120"/>
              </a:rPr>
              <a:t>Set up automatic emails and push notifications for customers who leave without buying. Even recovering 20% = $80,000+ in extra sales.</a:t>
            </a:r>
          </a:p>
        </p:txBody>
      </p:sp>
      <p:sp>
        <p:nvSpPr>
          <p:cNvPr id="21" name="Shape 19"/>
          <p:cNvSpPr/>
          <p:nvPr/>
        </p:nvSpPr>
        <p:spPr>
          <a:xfrm>
            <a:off x="365760" y="2990088"/>
            <a:ext cx="5650992" cy="1755648"/>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22" name="Shape 20"/>
          <p:cNvSpPr/>
          <p:nvPr/>
        </p:nvSpPr>
        <p:spPr>
          <a:xfrm>
            <a:off x="365760" y="2990088"/>
            <a:ext cx="5650992" cy="50292"/>
          </a:xfrm>
          <a:prstGeom prst="rect">
            <a:avLst/>
          </a:prstGeom>
          <a:solidFill>
            <a:srgbClr val="F39C12"/>
          </a:solidFill>
          <a:ln w="12700">
            <a:solidFill>
              <a:srgbClr val="F39C12"/>
            </a:solidFill>
            <a:prstDash val="solid"/>
          </a:ln>
        </p:spPr>
      </p:sp>
      <p:sp>
        <p:nvSpPr>
          <p:cNvPr id="23" name="Shape 21"/>
          <p:cNvSpPr/>
          <p:nvPr/>
        </p:nvSpPr>
        <p:spPr>
          <a:xfrm>
            <a:off x="548640" y="3209544"/>
            <a:ext cx="530352" cy="530352"/>
          </a:xfrm>
          <a:prstGeom prst="ellipse">
            <a:avLst/>
          </a:prstGeom>
          <a:solidFill>
            <a:srgbClr val="F39C12"/>
          </a:solidFill>
          <a:ln w="12700">
            <a:solidFill>
              <a:srgbClr val="F39C12"/>
            </a:solidFill>
            <a:prstDash val="solid"/>
          </a:ln>
        </p:spPr>
      </p:sp>
      <p:sp>
        <p:nvSpPr>
          <p:cNvPr id="24" name="Text 22"/>
          <p:cNvSpPr/>
          <p:nvPr/>
        </p:nvSpPr>
        <p:spPr>
          <a:xfrm>
            <a:off x="548640" y="3209544"/>
            <a:ext cx="530352"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R3</a:t>
            </a:r>
            <a:endParaRPr lang="en-US" sz="1300" dirty="0"/>
          </a:p>
        </p:txBody>
      </p:sp>
      <p:sp>
        <p:nvSpPr>
          <p:cNvPr id="25" name="Text 23"/>
          <p:cNvSpPr/>
          <p:nvPr/>
        </p:nvSpPr>
        <p:spPr>
          <a:xfrm>
            <a:off x="1234440" y="3136392"/>
            <a:ext cx="3840480" cy="420624"/>
          </a:xfrm>
          <a:prstGeom prst="rect">
            <a:avLst/>
          </a:prstGeom>
          <a:noFill/>
          <a:ln/>
        </p:spPr>
        <p:txBody>
          <a:bodyPr wrap="square" lIns="0" tIns="0" rIns="0" bIns="0" rtlCol="0" anchor="ctr"/>
          <a:lstStyle/>
          <a:p>
            <a:r>
              <a:rPr lang="en-US" sz="1400" b="1" dirty="0">
                <a:solidFill>
                  <a:srgbClr val="2C3E50"/>
                </a:solidFill>
                <a:latin typeface="Georgia" pitchFamily="34" charset="0"/>
              </a:rPr>
              <a:t>Ask Customers to Leave Reviews</a:t>
            </a:r>
          </a:p>
        </p:txBody>
      </p:sp>
      <p:sp>
        <p:nvSpPr>
          <p:cNvPr id="26" name="Shape 24"/>
          <p:cNvSpPr/>
          <p:nvPr/>
        </p:nvSpPr>
        <p:spPr>
          <a:xfrm>
            <a:off x="5212080" y="3209544"/>
            <a:ext cx="658368" cy="256032"/>
          </a:xfrm>
          <a:prstGeom prst="rect">
            <a:avLst/>
          </a:prstGeom>
          <a:solidFill>
            <a:srgbClr val="F39C12"/>
          </a:solidFill>
          <a:ln w="12700">
            <a:solidFill>
              <a:srgbClr val="F39C12"/>
            </a:solidFill>
            <a:prstDash val="solid"/>
          </a:ln>
        </p:spPr>
      </p:sp>
      <p:sp>
        <p:nvSpPr>
          <p:cNvPr id="27" name="Text 25"/>
          <p:cNvSpPr/>
          <p:nvPr/>
        </p:nvSpPr>
        <p:spPr>
          <a:xfrm>
            <a:off x="5212080" y="3209544"/>
            <a:ext cx="658368" cy="256032"/>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IMPORTANT</a:t>
            </a:r>
            <a:endParaRPr lang="en-US" sz="750" dirty="0"/>
          </a:p>
        </p:txBody>
      </p:sp>
      <p:sp>
        <p:nvSpPr>
          <p:cNvPr id="28" name="Text 26"/>
          <p:cNvSpPr/>
          <p:nvPr/>
        </p:nvSpPr>
        <p:spPr>
          <a:xfrm>
            <a:off x="1234440" y="3611880"/>
            <a:ext cx="4645152" cy="1005840"/>
          </a:xfrm>
          <a:prstGeom prst="rect">
            <a:avLst/>
          </a:prstGeom>
          <a:noFill/>
          <a:ln/>
        </p:spPr>
        <p:txBody>
          <a:bodyPr wrap="square" lIns="0" tIns="0" rIns="0" bIns="0" rtlCol="0" anchor="t"/>
          <a:lstStyle/>
          <a:p>
            <a:r>
              <a:rPr lang="en-US" sz="1400" b="1" dirty="0">
                <a:solidFill>
                  <a:schemeClr val="tx1">
                    <a:lumMod val="65000"/>
                    <a:lumOff val="35000"/>
                  </a:schemeClr>
                </a:solidFill>
                <a:latin typeface="Calibri" pitchFamily="34" charset="0"/>
                <a:ea typeface="Calibri" pitchFamily="34" charset="-122"/>
                <a:cs typeface="Calibri" pitchFamily="34" charset="-120"/>
              </a:rPr>
              <a:t>Send a short email after every delivery asking for a rating. Offer loyalty points as a reward. More reviews = more trust = more sales.</a:t>
            </a:r>
          </a:p>
        </p:txBody>
      </p:sp>
      <p:sp>
        <p:nvSpPr>
          <p:cNvPr id="29" name="Shape 27"/>
          <p:cNvSpPr/>
          <p:nvPr/>
        </p:nvSpPr>
        <p:spPr>
          <a:xfrm>
            <a:off x="6309360" y="2990088"/>
            <a:ext cx="5650992" cy="1755648"/>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30" name="Shape 28"/>
          <p:cNvSpPr/>
          <p:nvPr/>
        </p:nvSpPr>
        <p:spPr>
          <a:xfrm>
            <a:off x="6309360" y="2990088"/>
            <a:ext cx="5650992" cy="50292"/>
          </a:xfrm>
          <a:prstGeom prst="rect">
            <a:avLst/>
          </a:prstGeom>
          <a:solidFill>
            <a:srgbClr val="1B4F72"/>
          </a:solidFill>
          <a:ln w="12700">
            <a:solidFill>
              <a:srgbClr val="1B4F72"/>
            </a:solidFill>
            <a:prstDash val="solid"/>
          </a:ln>
        </p:spPr>
      </p:sp>
      <p:sp>
        <p:nvSpPr>
          <p:cNvPr id="31" name="Shape 29"/>
          <p:cNvSpPr/>
          <p:nvPr/>
        </p:nvSpPr>
        <p:spPr>
          <a:xfrm>
            <a:off x="6492240" y="3209544"/>
            <a:ext cx="530352" cy="530352"/>
          </a:xfrm>
          <a:prstGeom prst="ellipse">
            <a:avLst/>
          </a:prstGeom>
          <a:solidFill>
            <a:srgbClr val="1B4F72"/>
          </a:solidFill>
          <a:ln w="12700">
            <a:solidFill>
              <a:srgbClr val="1B4F72"/>
            </a:solidFill>
            <a:prstDash val="solid"/>
          </a:ln>
        </p:spPr>
      </p:sp>
      <p:sp>
        <p:nvSpPr>
          <p:cNvPr id="32" name="Text 30"/>
          <p:cNvSpPr/>
          <p:nvPr/>
        </p:nvSpPr>
        <p:spPr>
          <a:xfrm>
            <a:off x="6492240" y="3209544"/>
            <a:ext cx="530352"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R4</a:t>
            </a:r>
            <a:endParaRPr lang="en-US" sz="1300" dirty="0"/>
          </a:p>
        </p:txBody>
      </p:sp>
      <p:sp>
        <p:nvSpPr>
          <p:cNvPr id="33" name="Text 31"/>
          <p:cNvSpPr/>
          <p:nvPr/>
        </p:nvSpPr>
        <p:spPr>
          <a:xfrm>
            <a:off x="7178040" y="3136392"/>
            <a:ext cx="3840480" cy="420624"/>
          </a:xfrm>
          <a:prstGeom prst="rect">
            <a:avLst/>
          </a:prstGeom>
          <a:noFill/>
          <a:ln/>
        </p:spPr>
        <p:txBody>
          <a:bodyPr wrap="square" lIns="0" tIns="0" rIns="0" bIns="0" rtlCol="0" anchor="ctr"/>
          <a:lstStyle/>
          <a:p>
            <a:r>
              <a:rPr lang="en-US" sz="1400" b="1" dirty="0">
                <a:solidFill>
                  <a:srgbClr val="2C3E50"/>
                </a:solidFill>
                <a:latin typeface="Georgia" pitchFamily="34" charset="0"/>
              </a:rPr>
              <a:t>Grow Other Product Categories</a:t>
            </a:r>
          </a:p>
        </p:txBody>
      </p:sp>
      <p:sp>
        <p:nvSpPr>
          <p:cNvPr id="34" name="Shape 32"/>
          <p:cNvSpPr/>
          <p:nvPr/>
        </p:nvSpPr>
        <p:spPr>
          <a:xfrm>
            <a:off x="11155680" y="3209544"/>
            <a:ext cx="658368" cy="256032"/>
          </a:xfrm>
          <a:prstGeom prst="rect">
            <a:avLst/>
          </a:prstGeom>
          <a:solidFill>
            <a:srgbClr val="1B4F72"/>
          </a:solidFill>
          <a:ln w="12700">
            <a:solidFill>
              <a:srgbClr val="1B4F72"/>
            </a:solidFill>
            <a:prstDash val="solid"/>
          </a:ln>
        </p:spPr>
      </p:sp>
      <p:sp>
        <p:nvSpPr>
          <p:cNvPr id="35" name="Text 33"/>
          <p:cNvSpPr/>
          <p:nvPr/>
        </p:nvSpPr>
        <p:spPr>
          <a:xfrm>
            <a:off x="11155680" y="3209544"/>
            <a:ext cx="658368" cy="256032"/>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NEEDED</a:t>
            </a:r>
            <a:endParaRPr lang="en-US" sz="750" dirty="0"/>
          </a:p>
        </p:txBody>
      </p:sp>
      <p:sp>
        <p:nvSpPr>
          <p:cNvPr id="36" name="Text 34"/>
          <p:cNvSpPr/>
          <p:nvPr/>
        </p:nvSpPr>
        <p:spPr>
          <a:xfrm>
            <a:off x="7178040" y="3611880"/>
            <a:ext cx="4645152" cy="1005840"/>
          </a:xfrm>
          <a:prstGeom prst="rect">
            <a:avLst/>
          </a:prstGeom>
          <a:noFill/>
          <a:ln/>
        </p:spPr>
        <p:txBody>
          <a:bodyPr wrap="square" lIns="0" tIns="0" rIns="0" bIns="0" rtlCol="0" anchor="t"/>
          <a:lstStyle/>
          <a:p>
            <a:r>
              <a:rPr lang="en-US" sz="1400" b="1" dirty="0">
                <a:solidFill>
                  <a:schemeClr val="tx1">
                    <a:lumMod val="65000"/>
                    <a:lumOff val="35000"/>
                  </a:schemeClr>
                </a:solidFill>
                <a:latin typeface="Calibri" pitchFamily="34" charset="0"/>
                <a:ea typeface="Calibri" pitchFamily="34" charset="-122"/>
                <a:cs typeface="Calibri" pitchFamily="34" charset="-120"/>
              </a:rPr>
              <a:t>Don't rely only on Beauty. Run promotions for Electronics, Sports, and Toys. A diverse sales base is safer for the business.</a:t>
            </a:r>
          </a:p>
        </p:txBody>
      </p:sp>
      <p:sp>
        <p:nvSpPr>
          <p:cNvPr id="37" name="Shape 35"/>
          <p:cNvSpPr/>
          <p:nvPr/>
        </p:nvSpPr>
        <p:spPr>
          <a:xfrm>
            <a:off x="365760" y="4928616"/>
            <a:ext cx="5650992" cy="1755648"/>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38" name="Shape 36"/>
          <p:cNvSpPr/>
          <p:nvPr/>
        </p:nvSpPr>
        <p:spPr>
          <a:xfrm>
            <a:off x="365760" y="4928616"/>
            <a:ext cx="5650992" cy="50292"/>
          </a:xfrm>
          <a:prstGeom prst="rect">
            <a:avLst/>
          </a:prstGeom>
          <a:solidFill>
            <a:srgbClr val="E74C3C"/>
          </a:solidFill>
          <a:ln w="12700">
            <a:solidFill>
              <a:srgbClr val="E74C3C"/>
            </a:solidFill>
            <a:prstDash val="solid"/>
          </a:ln>
        </p:spPr>
      </p:sp>
      <p:sp>
        <p:nvSpPr>
          <p:cNvPr id="39" name="Shape 37"/>
          <p:cNvSpPr/>
          <p:nvPr/>
        </p:nvSpPr>
        <p:spPr>
          <a:xfrm>
            <a:off x="548640" y="5148072"/>
            <a:ext cx="530352" cy="530352"/>
          </a:xfrm>
          <a:prstGeom prst="ellipse">
            <a:avLst/>
          </a:prstGeom>
          <a:solidFill>
            <a:srgbClr val="E74C3C"/>
          </a:solidFill>
          <a:ln w="12700">
            <a:solidFill>
              <a:srgbClr val="E74C3C"/>
            </a:solidFill>
            <a:prstDash val="solid"/>
          </a:ln>
        </p:spPr>
      </p:sp>
      <p:sp>
        <p:nvSpPr>
          <p:cNvPr id="40" name="Text 38"/>
          <p:cNvSpPr/>
          <p:nvPr/>
        </p:nvSpPr>
        <p:spPr>
          <a:xfrm>
            <a:off x="548640" y="5148072"/>
            <a:ext cx="530352"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R5</a:t>
            </a:r>
            <a:endParaRPr lang="en-US" sz="1300" dirty="0"/>
          </a:p>
        </p:txBody>
      </p:sp>
      <p:sp>
        <p:nvSpPr>
          <p:cNvPr id="41" name="Text 39"/>
          <p:cNvSpPr/>
          <p:nvPr/>
        </p:nvSpPr>
        <p:spPr>
          <a:xfrm>
            <a:off x="1234440" y="5074920"/>
            <a:ext cx="3840480" cy="420624"/>
          </a:xfrm>
          <a:prstGeom prst="rect">
            <a:avLst/>
          </a:prstGeom>
          <a:noFill/>
          <a:ln/>
        </p:spPr>
        <p:txBody>
          <a:bodyPr wrap="square" lIns="0" tIns="0" rIns="0" bIns="0" rtlCol="0" anchor="ctr"/>
          <a:lstStyle/>
          <a:p>
            <a:r>
              <a:rPr lang="en-US" sz="1400" b="1" dirty="0">
                <a:solidFill>
                  <a:srgbClr val="2C3E50"/>
                </a:solidFill>
                <a:latin typeface="Georgia" pitchFamily="34" charset="0"/>
              </a:rPr>
              <a:t>Make Mobile Checkout Smoother</a:t>
            </a:r>
          </a:p>
        </p:txBody>
      </p:sp>
      <p:sp>
        <p:nvSpPr>
          <p:cNvPr id="42" name="Shape 40"/>
          <p:cNvSpPr/>
          <p:nvPr/>
        </p:nvSpPr>
        <p:spPr>
          <a:xfrm>
            <a:off x="5212080" y="5148072"/>
            <a:ext cx="658368" cy="256032"/>
          </a:xfrm>
          <a:prstGeom prst="rect">
            <a:avLst/>
          </a:prstGeom>
          <a:solidFill>
            <a:srgbClr val="E74C3C"/>
          </a:solidFill>
          <a:ln w="12700">
            <a:solidFill>
              <a:srgbClr val="E74C3C"/>
            </a:solidFill>
            <a:prstDash val="solid"/>
          </a:ln>
        </p:spPr>
      </p:sp>
      <p:sp>
        <p:nvSpPr>
          <p:cNvPr id="43" name="Text 41"/>
          <p:cNvSpPr/>
          <p:nvPr/>
        </p:nvSpPr>
        <p:spPr>
          <a:xfrm>
            <a:off x="5212080" y="5148072"/>
            <a:ext cx="658368" cy="256032"/>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URGENT</a:t>
            </a:r>
            <a:endParaRPr lang="en-US" sz="750" dirty="0"/>
          </a:p>
        </p:txBody>
      </p:sp>
      <p:sp>
        <p:nvSpPr>
          <p:cNvPr id="44" name="Text 42"/>
          <p:cNvSpPr/>
          <p:nvPr/>
        </p:nvSpPr>
        <p:spPr>
          <a:xfrm>
            <a:off x="1234440" y="5550408"/>
            <a:ext cx="4645152" cy="1005840"/>
          </a:xfrm>
          <a:prstGeom prst="rect">
            <a:avLst/>
          </a:prstGeom>
          <a:noFill/>
          <a:ln/>
        </p:spPr>
        <p:txBody>
          <a:bodyPr wrap="square" lIns="0" tIns="0" rIns="0" bIns="0" rtlCol="0" anchor="t"/>
          <a:lstStyle/>
          <a:p>
            <a:r>
              <a:rPr lang="en-US" sz="1400" b="1" dirty="0">
                <a:solidFill>
                  <a:schemeClr val="tx1">
                    <a:lumMod val="65000"/>
                    <a:lumOff val="35000"/>
                  </a:schemeClr>
                </a:solidFill>
                <a:latin typeface="Calibri" pitchFamily="34" charset="0"/>
                <a:ea typeface="Calibri" pitchFamily="34" charset="-122"/>
                <a:cs typeface="Calibri" pitchFamily="34" charset="-120"/>
              </a:rPr>
              <a:t>Almost 50% of orders come from phones. Test and fix every step of the mobile checkout. One confusing screen can cost thousands in sales.</a:t>
            </a:r>
          </a:p>
        </p:txBody>
      </p:sp>
      <p:sp>
        <p:nvSpPr>
          <p:cNvPr id="45" name="Shape 43"/>
          <p:cNvSpPr/>
          <p:nvPr/>
        </p:nvSpPr>
        <p:spPr>
          <a:xfrm>
            <a:off x="6309360" y="4928616"/>
            <a:ext cx="5650992" cy="1755648"/>
          </a:xfrm>
          <a:prstGeom prst="rect">
            <a:avLst/>
          </a:prstGeom>
          <a:solidFill>
            <a:srgbClr val="FFFFFF"/>
          </a:solidFill>
          <a:ln w="9525">
            <a:solidFill>
              <a:srgbClr val="E5E8EA"/>
            </a:solidFill>
            <a:prstDash val="solid"/>
          </a:ln>
          <a:effectLst>
            <a:outerShdw blurRad="101600" dist="38100" dir="8100000" algn="bl" rotWithShape="0">
              <a:srgbClr val="000000">
                <a:alpha val="12000"/>
              </a:srgbClr>
            </a:outerShdw>
          </a:effectLst>
        </p:spPr>
      </p:sp>
      <p:sp>
        <p:nvSpPr>
          <p:cNvPr id="46" name="Shape 44"/>
          <p:cNvSpPr/>
          <p:nvPr/>
        </p:nvSpPr>
        <p:spPr>
          <a:xfrm>
            <a:off x="6309360" y="4928616"/>
            <a:ext cx="5650992" cy="50292"/>
          </a:xfrm>
          <a:prstGeom prst="rect">
            <a:avLst/>
          </a:prstGeom>
          <a:solidFill>
            <a:srgbClr val="F39C12"/>
          </a:solidFill>
          <a:ln w="12700">
            <a:solidFill>
              <a:srgbClr val="F39C12"/>
            </a:solidFill>
            <a:prstDash val="solid"/>
          </a:ln>
        </p:spPr>
      </p:sp>
      <p:sp>
        <p:nvSpPr>
          <p:cNvPr id="47" name="Shape 45"/>
          <p:cNvSpPr/>
          <p:nvPr/>
        </p:nvSpPr>
        <p:spPr>
          <a:xfrm>
            <a:off x="6492240" y="5148072"/>
            <a:ext cx="530352" cy="530352"/>
          </a:xfrm>
          <a:prstGeom prst="ellipse">
            <a:avLst/>
          </a:prstGeom>
          <a:solidFill>
            <a:srgbClr val="F39C12"/>
          </a:solidFill>
          <a:ln w="12700">
            <a:solidFill>
              <a:srgbClr val="F39C12"/>
            </a:solidFill>
            <a:prstDash val="solid"/>
          </a:ln>
        </p:spPr>
      </p:sp>
      <p:sp>
        <p:nvSpPr>
          <p:cNvPr id="48" name="Text 46"/>
          <p:cNvSpPr/>
          <p:nvPr/>
        </p:nvSpPr>
        <p:spPr>
          <a:xfrm>
            <a:off x="6492240" y="5148072"/>
            <a:ext cx="530352"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R6</a:t>
            </a:r>
            <a:endParaRPr lang="en-US" sz="1300" dirty="0"/>
          </a:p>
        </p:txBody>
      </p:sp>
      <p:sp>
        <p:nvSpPr>
          <p:cNvPr id="49" name="Text 47"/>
          <p:cNvSpPr/>
          <p:nvPr/>
        </p:nvSpPr>
        <p:spPr>
          <a:xfrm>
            <a:off x="7178040" y="5074920"/>
            <a:ext cx="3840480" cy="420624"/>
          </a:xfrm>
          <a:prstGeom prst="rect">
            <a:avLst/>
          </a:prstGeom>
          <a:noFill/>
          <a:ln/>
        </p:spPr>
        <p:txBody>
          <a:bodyPr wrap="square" lIns="0" tIns="0" rIns="0" bIns="0" rtlCol="0" anchor="ctr"/>
          <a:lstStyle/>
          <a:p>
            <a:r>
              <a:rPr lang="en-US" sz="1400" b="1" dirty="0">
                <a:solidFill>
                  <a:srgbClr val="2C3E50"/>
                </a:solidFill>
                <a:latin typeface="Georgia" pitchFamily="34" charset="0"/>
              </a:rPr>
              <a:t>Invest More in Email &amp; Social Marketing</a:t>
            </a:r>
          </a:p>
        </p:txBody>
      </p:sp>
      <p:sp>
        <p:nvSpPr>
          <p:cNvPr id="50" name="Shape 48"/>
          <p:cNvSpPr/>
          <p:nvPr/>
        </p:nvSpPr>
        <p:spPr>
          <a:xfrm>
            <a:off x="11155680" y="5148072"/>
            <a:ext cx="658368" cy="256032"/>
          </a:xfrm>
          <a:prstGeom prst="rect">
            <a:avLst/>
          </a:prstGeom>
          <a:solidFill>
            <a:srgbClr val="1B4F72"/>
          </a:solidFill>
          <a:ln w="12700">
            <a:solidFill>
              <a:srgbClr val="1B4F72"/>
            </a:solidFill>
            <a:prstDash val="solid"/>
          </a:ln>
        </p:spPr>
      </p:sp>
      <p:sp>
        <p:nvSpPr>
          <p:cNvPr id="51" name="Text 49"/>
          <p:cNvSpPr/>
          <p:nvPr/>
        </p:nvSpPr>
        <p:spPr>
          <a:xfrm>
            <a:off x="11155680" y="5148072"/>
            <a:ext cx="658368" cy="256032"/>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NEEDED</a:t>
            </a:r>
            <a:endParaRPr lang="en-US" sz="750" dirty="0"/>
          </a:p>
        </p:txBody>
      </p:sp>
      <p:sp>
        <p:nvSpPr>
          <p:cNvPr id="52" name="Text 50"/>
          <p:cNvSpPr/>
          <p:nvPr/>
        </p:nvSpPr>
        <p:spPr>
          <a:xfrm>
            <a:off x="7178040" y="5550408"/>
            <a:ext cx="4645152" cy="1005840"/>
          </a:xfrm>
          <a:prstGeom prst="rect">
            <a:avLst/>
          </a:prstGeom>
          <a:noFill/>
          <a:ln/>
        </p:spPr>
        <p:txBody>
          <a:bodyPr wrap="square" lIns="0" tIns="0" rIns="0" bIns="0" rtlCol="0" anchor="t"/>
          <a:lstStyle/>
          <a:p>
            <a:r>
              <a:rPr lang="en-US" sz="1400" b="1" dirty="0">
                <a:solidFill>
                  <a:schemeClr val="tx1">
                    <a:lumMod val="65000"/>
                    <a:lumOff val="35000"/>
                  </a:schemeClr>
                </a:solidFill>
                <a:latin typeface="Calibri" pitchFamily="34" charset="0"/>
                <a:ea typeface="Calibri" pitchFamily="34" charset="-122"/>
                <a:cs typeface="Calibri" pitchFamily="34" charset="-120"/>
              </a:rPr>
              <a:t>Right now, organic and direct traffic do all the heavy lifting. Email and social media campaigns can bring in many more customers.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F39C12"/>
          </a:solidFill>
          <a:ln w="12700">
            <a:solidFill>
              <a:srgbClr val="F39C12"/>
            </a:solidFill>
            <a:prstDash val="solid"/>
          </a:ln>
        </p:spPr>
      </p:sp>
      <p:sp>
        <p:nvSpPr>
          <p:cNvPr id="3" name="Shape 1"/>
          <p:cNvSpPr/>
          <p:nvPr/>
        </p:nvSpPr>
        <p:spPr>
          <a:xfrm>
            <a:off x="0" y="6400800"/>
            <a:ext cx="12161520" cy="457200"/>
          </a:xfrm>
          <a:prstGeom prst="rect">
            <a:avLst/>
          </a:prstGeom>
          <a:solidFill>
            <a:srgbClr val="1ABC9C"/>
          </a:solidFill>
          <a:ln w="12700">
            <a:solidFill>
              <a:srgbClr val="1ABC9C"/>
            </a:solidFill>
            <a:prstDash val="solid"/>
          </a:ln>
        </p:spPr>
      </p:sp>
      <p:sp>
        <p:nvSpPr>
          <p:cNvPr id="4" name="Shape 2"/>
          <p:cNvSpPr/>
          <p:nvPr/>
        </p:nvSpPr>
        <p:spPr>
          <a:xfrm>
            <a:off x="-914400" y="1097280"/>
            <a:ext cx="4114800" cy="4114800"/>
          </a:xfrm>
          <a:prstGeom prst="ellipse">
            <a:avLst/>
          </a:prstGeom>
          <a:solidFill>
            <a:srgbClr val="1B4F72">
              <a:alpha val="12000"/>
            </a:srgbClr>
          </a:solidFill>
          <a:ln w="12700">
            <a:solidFill>
              <a:srgbClr val="1B4F72"/>
            </a:solidFill>
            <a:prstDash val="solid"/>
          </a:ln>
        </p:spPr>
      </p:sp>
      <p:sp>
        <p:nvSpPr>
          <p:cNvPr id="5" name="Shape 3"/>
          <p:cNvSpPr/>
          <p:nvPr/>
        </p:nvSpPr>
        <p:spPr>
          <a:xfrm>
            <a:off x="9875520" y="2286000"/>
            <a:ext cx="2926080" cy="2926080"/>
          </a:xfrm>
          <a:prstGeom prst="ellipse">
            <a:avLst/>
          </a:prstGeom>
          <a:solidFill>
            <a:srgbClr val="F39C12">
              <a:alpha val="15000"/>
            </a:srgbClr>
          </a:solidFill>
          <a:ln w="12700">
            <a:solidFill>
              <a:srgbClr val="F39C12"/>
            </a:solidFill>
            <a:prstDash val="solid"/>
          </a:ln>
        </p:spPr>
      </p:sp>
      <p:sp>
        <p:nvSpPr>
          <p:cNvPr id="6" name="Text 4"/>
          <p:cNvSpPr/>
          <p:nvPr/>
        </p:nvSpPr>
        <p:spPr>
          <a:xfrm>
            <a:off x="914400" y="2235611"/>
            <a:ext cx="10332720" cy="1737360"/>
          </a:xfrm>
          <a:prstGeom prst="rect">
            <a:avLst/>
          </a:prstGeom>
          <a:noFill/>
          <a:ln/>
        </p:spPr>
        <p:txBody>
          <a:bodyPr wrap="square" lIns="0" tIns="0" rIns="0" bIns="0" rtlCol="0" anchor="ctr"/>
          <a:lstStyle/>
          <a:p>
            <a:pPr marL="0" indent="0" algn="ctr">
              <a:buNone/>
            </a:pPr>
            <a:r>
              <a:rPr lang="en-US" sz="6000" b="1" dirty="0">
                <a:solidFill>
                  <a:srgbClr val="FFFFFF"/>
                </a:solidFill>
                <a:latin typeface="Georgia" pitchFamily="34" charset="0"/>
                <a:ea typeface="Georgia" pitchFamily="34" charset="-122"/>
                <a:cs typeface="Georgia" pitchFamily="34" charset="-120"/>
              </a:rPr>
              <a:t>Thank You</a:t>
            </a:r>
            <a:endParaRPr lang="en-US" sz="6000" dirty="0"/>
          </a:p>
        </p:txBody>
      </p:sp>
      <p:sp>
        <p:nvSpPr>
          <p:cNvPr id="24" name="Text 22"/>
          <p:cNvSpPr/>
          <p:nvPr/>
        </p:nvSpPr>
        <p:spPr>
          <a:xfrm>
            <a:off x="914400" y="5897880"/>
            <a:ext cx="10332720" cy="347472"/>
          </a:xfrm>
          <a:prstGeom prst="rect">
            <a:avLst/>
          </a:prstGeom>
          <a:noFill/>
          <a:ln/>
        </p:spPr>
        <p:txBody>
          <a:bodyPr wrap="square" lIns="0" tIns="0" rIns="0" bIns="0" rtlCol="0" anchor="ctr"/>
          <a:lstStyle/>
          <a:p>
            <a:pPr marL="0" indent="0" algn="ctr">
              <a:buNone/>
            </a:pP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228</TotalTime>
  <Words>1987</Words>
  <Application>Microsoft Office PowerPoint</Application>
  <PresentationFormat>Widescreen</PresentationFormat>
  <Paragraphs>273</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Georgia</vt:lpstr>
      <vt:lpstr>Goudy Old Style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Customer Behavior Analysis</dc:title>
  <dc:subject>PptxGenJS Presentation</dc:subject>
  <dc:creator>HIREN VAGHELA</dc:creator>
  <cp:lastModifiedBy>vaghelahiren30@outlook.com</cp:lastModifiedBy>
  <cp:revision>18</cp:revision>
  <dcterms:created xsi:type="dcterms:W3CDTF">2026-05-28T05:46:22Z</dcterms:created>
  <dcterms:modified xsi:type="dcterms:W3CDTF">2026-06-02T08:59:08Z</dcterms:modified>
</cp:coreProperties>
</file>